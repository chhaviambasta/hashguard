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2" r:id="rId2"/>
  </p:sldMasterIdLst>
  <p:notesMasterIdLst>
    <p:notesMasterId r:id="rId96"/>
  </p:notesMasterIdLst>
  <p:sldIdLst>
    <p:sldId id="501" r:id="rId3"/>
    <p:sldId id="405" r:id="rId4"/>
    <p:sldId id="406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510" r:id="rId19"/>
    <p:sldId id="420" r:id="rId20"/>
    <p:sldId id="421" r:id="rId21"/>
    <p:sldId id="422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502" r:id="rId32"/>
    <p:sldId id="429" r:id="rId33"/>
    <p:sldId id="435" r:id="rId34"/>
    <p:sldId id="436" r:id="rId35"/>
    <p:sldId id="437" r:id="rId36"/>
    <p:sldId id="438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443" r:id="rId45"/>
    <p:sldId id="451" r:id="rId46"/>
    <p:sldId id="452" r:id="rId47"/>
    <p:sldId id="453" r:id="rId48"/>
    <p:sldId id="454" r:id="rId49"/>
    <p:sldId id="455" r:id="rId50"/>
    <p:sldId id="456" r:id="rId51"/>
    <p:sldId id="457" r:id="rId52"/>
    <p:sldId id="458" r:id="rId53"/>
    <p:sldId id="459" r:id="rId54"/>
    <p:sldId id="460" r:id="rId55"/>
    <p:sldId id="461" r:id="rId56"/>
    <p:sldId id="462" r:id="rId57"/>
    <p:sldId id="463" r:id="rId58"/>
    <p:sldId id="464" r:id="rId59"/>
    <p:sldId id="465" r:id="rId60"/>
    <p:sldId id="466" r:id="rId61"/>
    <p:sldId id="467" r:id="rId62"/>
    <p:sldId id="468" r:id="rId63"/>
    <p:sldId id="469" r:id="rId64"/>
    <p:sldId id="470" r:id="rId65"/>
    <p:sldId id="471" r:id="rId66"/>
    <p:sldId id="472" r:id="rId67"/>
    <p:sldId id="473" r:id="rId68"/>
    <p:sldId id="484" r:id="rId69"/>
    <p:sldId id="485" r:id="rId70"/>
    <p:sldId id="486" r:id="rId71"/>
    <p:sldId id="487" r:id="rId72"/>
    <p:sldId id="488" r:id="rId73"/>
    <p:sldId id="489" r:id="rId74"/>
    <p:sldId id="490" r:id="rId75"/>
    <p:sldId id="491" r:id="rId76"/>
    <p:sldId id="492" r:id="rId77"/>
    <p:sldId id="493" r:id="rId78"/>
    <p:sldId id="494" r:id="rId79"/>
    <p:sldId id="495" r:id="rId80"/>
    <p:sldId id="496" r:id="rId81"/>
    <p:sldId id="497" r:id="rId82"/>
    <p:sldId id="498" r:id="rId83"/>
    <p:sldId id="499" r:id="rId84"/>
    <p:sldId id="500" r:id="rId85"/>
    <p:sldId id="394" r:id="rId86"/>
    <p:sldId id="395" r:id="rId87"/>
    <p:sldId id="396" r:id="rId88"/>
    <p:sldId id="397" r:id="rId89"/>
    <p:sldId id="398" r:id="rId90"/>
    <p:sldId id="399" r:id="rId91"/>
    <p:sldId id="400" r:id="rId92"/>
    <p:sldId id="401" r:id="rId93"/>
    <p:sldId id="402" r:id="rId94"/>
    <p:sldId id="403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E1816-BE43-444D-BCF6-F14D60070881}" type="datetimeFigureOut">
              <a:rPr lang="en-IN" smtClean="0"/>
              <a:t>15-06-2023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A3BF0-4182-4DE3-8D22-592037BCF8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4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EA3BF0-4182-4DE3-8D22-592037BCF8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304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595908-3326-48ED-BB72-996D7F37BB8E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020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EA3BF0-4182-4DE3-8D22-592037BCF850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696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EA3BF0-4182-4DE3-8D22-592037BCF850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7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8A682-E8D8-45E9-913B-3C6B904A1115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130921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5558-7982-46B9-81C3-D3B0912F8FAE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421181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DF96D-ED0F-436A-B818-513A0A84739B}" type="datetime1">
              <a:rPr lang="en-US" smtClean="0"/>
              <a:t>6/15/2023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21210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C0DBA-EF8D-4B5C-A235-FB4A00702ECE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3552215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AB9B5-0FA3-4038-8C2D-21317345C632}" type="datetime1">
              <a:rPr lang="en-US" smtClean="0"/>
              <a:t>6/15/2023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114361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0CEA2-96E3-4A5A-BBD3-0E1EB0C371B6}" type="datetime1">
              <a:rPr lang="en-US" smtClean="0"/>
              <a:t>6/15/2023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46514" y="6200775"/>
            <a:ext cx="8447314" cy="45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Department of Applied Science, BVCOE New Delhi Subject: Electrical Science, Instructor: Ashima Airan</a:t>
            </a:r>
            <a:endParaRPr lang="en-IN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5" name="Picture 14" descr="logo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01039" y="311853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63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AF63-39F2-441B-9A12-B0CEFC95995B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83027" y="6210300"/>
            <a:ext cx="8786190" cy="457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Department of Applied Science, BVCOE New Delhi Subject: Electrical Science, Instructor: Ashima Airan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2" y="146664"/>
            <a:ext cx="252765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8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BD75B-4350-44A9-933C-05EE418286C6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2" y="193107"/>
            <a:ext cx="252765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60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DFF90-E741-4347-B973-854C9BAAE312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59" y="285728"/>
            <a:ext cx="252765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4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0BC7E-C73D-42CF-BFB8-91085A2BB558}" type="datetime1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8845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B214F-72A0-4D8B-853F-05AC7C830CA1}" type="datetime1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951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4F59-5B75-48D1-BF7C-6A2D5A9FD065}" type="datetime1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390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26212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37617-18A5-4BBF-B550-8B19FCAA2049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199" y="6280150"/>
            <a:ext cx="9457509" cy="349250"/>
          </a:xfrm>
        </p:spPr>
        <p:txBody>
          <a:bodyPr/>
          <a:lstStyle/>
          <a:p>
            <a:pPr algn="ctr"/>
            <a:r>
              <a:rPr lang="en-US" b="1"/>
              <a:t>Department of Applied Science, BVCOE New Delhi Subject: Electrical Science, Instructor: Ashima Airan</a:t>
            </a:r>
            <a:endParaRPr lang="en-IN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9200" y="270748"/>
            <a:ext cx="1714649" cy="5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79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FB3D-8E4E-436C-8506-106D195DCA9B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25641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5CF3-BD1A-4E16-BF73-D632874CA22B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128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2EC06-C675-410D-9B14-E612C3BC5D1E}" type="datetime1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790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26" y="357166"/>
            <a:ext cx="9010675" cy="1000132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7213" y="6257948"/>
            <a:ext cx="10306088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Department of Applied Science, BVCOE New Delhi Subject: Electrical Science, Instructor: Ashima Airan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66712" y="1447800"/>
            <a:ext cx="10915688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3" y="214290"/>
            <a:ext cx="252765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51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14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79405" y="6564401"/>
            <a:ext cx="2363047" cy="162560"/>
          </a:xfrm>
          <a:custGeom>
            <a:avLst/>
            <a:gdLst/>
            <a:ahLst/>
            <a:cxnLst/>
            <a:rect l="l" t="t" r="r" b="b"/>
            <a:pathLst>
              <a:path w="1772284" h="162559">
                <a:moveTo>
                  <a:pt x="1772246" y="0"/>
                </a:moveTo>
                <a:lnTo>
                  <a:pt x="0" y="0"/>
                </a:lnTo>
                <a:lnTo>
                  <a:pt x="0" y="162534"/>
                </a:lnTo>
                <a:lnTo>
                  <a:pt x="1772246" y="162534"/>
                </a:lnTo>
                <a:lnTo>
                  <a:pt x="1772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85344" y="70104"/>
            <a:ext cx="12017587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178284" y="233918"/>
            <a:ext cx="2449621" cy="8089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9420" y="1048258"/>
            <a:ext cx="927946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190" y="1785873"/>
            <a:ext cx="7575973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52360" y="6303579"/>
            <a:ext cx="7211907" cy="436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C992-E5C3-46C6-955D-27FD4F4A8343}" type="datetime1">
              <a:rPr lang="en-US" smtClean="0"/>
              <a:t>6/15/2023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09677" y="6329532"/>
            <a:ext cx="378460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226906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C6E497D-3075-43BF-B806-41A74083B920}" type="datetime1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>
              <a:lnSpc>
                <a:spcPts val="1630"/>
              </a:lnSpc>
            </a:pPr>
            <a:r>
              <a:rPr lang="en-US"/>
              <a:t>Department of Applied Science, BVCOE New Delhi Subject: Electrical Science, Instructor: Ashima Airan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‹#›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137035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10" Type="http://schemas.openxmlformats.org/officeDocument/2006/relationships/image" Target="../media/image115.jpg"/><Relationship Id="rId4" Type="http://schemas.openxmlformats.org/officeDocument/2006/relationships/image" Target="../media/image109.png"/><Relationship Id="rId9" Type="http://schemas.openxmlformats.org/officeDocument/2006/relationships/image" Target="../media/image114.jp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34968" y="1532825"/>
            <a:ext cx="10972800" cy="1470025"/>
          </a:xfrm>
        </p:spPr>
        <p:txBody>
          <a:bodyPr>
            <a:normAutofit fontScale="90000"/>
          </a:bodyPr>
          <a:lstStyle/>
          <a:p>
            <a:r>
              <a:rPr lang="en-US" b="1" cap="all" dirty="0"/>
              <a:t/>
            </a:r>
            <a:br>
              <a:rPr lang="en-US" b="1" cap="all" dirty="0"/>
            </a:br>
            <a:r>
              <a:rPr lang="en-US" b="1" cap="all" dirty="0"/>
              <a:t/>
            </a:r>
            <a:br>
              <a:rPr lang="en-US" b="1" cap="all" dirty="0"/>
            </a:br>
            <a:r>
              <a:rPr lang="en-US" b="1" cap="all" dirty="0"/>
              <a:t/>
            </a:r>
            <a:br>
              <a:rPr lang="en-US" b="1" cap="all" dirty="0"/>
            </a:br>
            <a:r>
              <a:rPr lang="en-US" b="1" dirty="0"/>
              <a:t>UNIT- 4</a:t>
            </a:r>
            <a:br>
              <a:rPr lang="en-US" b="1" dirty="0"/>
            </a:br>
            <a:r>
              <a:rPr lang="en-US" spc="-5" dirty="0"/>
              <a:t>TRANSFORMER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cap="all" dirty="0"/>
              <a:t/>
            </a:r>
            <a:br>
              <a:rPr lang="en-US" b="1" cap="all" dirty="0"/>
            </a:br>
            <a:r>
              <a:rPr lang="en-US" b="1" cap="all" dirty="0"/>
              <a:t/>
            </a:r>
            <a:br>
              <a:rPr lang="en-US" b="1" cap="all" dirty="0"/>
            </a:b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3FF37-6896-4150-90F0-46A38F91915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3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3714" y="1205012"/>
            <a:ext cx="10348686" cy="1804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3029" y="641362"/>
            <a:ext cx="41416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/>
              <a:t>TRANSFORMER</a:t>
            </a:r>
            <a:endParaRPr sz="3200" b="1" dirty="0"/>
          </a:p>
        </p:txBody>
      </p:sp>
      <p:sp>
        <p:nvSpPr>
          <p:cNvPr id="4" name="object 4"/>
          <p:cNvSpPr/>
          <p:nvPr/>
        </p:nvSpPr>
        <p:spPr>
          <a:xfrm>
            <a:off x="2124455" y="3067811"/>
            <a:ext cx="8013192" cy="2474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3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3110" y="910982"/>
            <a:ext cx="4012691" cy="3009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45023" y="1560191"/>
            <a:ext cx="6641975" cy="4619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94103" y="3982192"/>
            <a:ext cx="2424684" cy="2189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123931" y="6120384"/>
            <a:ext cx="1812289" cy="370840"/>
          </a:xfrm>
          <a:custGeom>
            <a:avLst/>
            <a:gdLst/>
            <a:ahLst/>
            <a:cxnLst/>
            <a:rect l="l" t="t" r="r" b="b"/>
            <a:pathLst>
              <a:path w="1812290" h="370839">
                <a:moveTo>
                  <a:pt x="1812035" y="0"/>
                </a:moveTo>
                <a:lnTo>
                  <a:pt x="0" y="0"/>
                </a:lnTo>
                <a:lnTo>
                  <a:pt x="0" y="370331"/>
                </a:lnTo>
                <a:lnTo>
                  <a:pt x="1812035" y="370331"/>
                </a:lnTo>
                <a:lnTo>
                  <a:pt x="18120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53963" y="4576317"/>
            <a:ext cx="71386" cy="1035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45911" y="5150739"/>
            <a:ext cx="65690" cy="899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072" y="149516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6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54869" y="1063760"/>
            <a:ext cx="9304106" cy="55644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4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1414" y="190500"/>
            <a:ext cx="9214235" cy="22635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5444" y="2662656"/>
            <a:ext cx="9346174" cy="3653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1924285" cy="65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9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7635" y="1549908"/>
            <a:ext cx="9601968" cy="3220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1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8915" y="1153667"/>
            <a:ext cx="9686116" cy="4719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2229" y="416051"/>
            <a:ext cx="9006664" cy="6025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4814" y="870824"/>
            <a:ext cx="6649224" cy="4005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69489" y="3926497"/>
            <a:ext cx="2468325" cy="22317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4657" y="2532507"/>
            <a:ext cx="58351" cy="68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5753" y="2661920"/>
            <a:ext cx="379602" cy="527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96361" y="1286255"/>
            <a:ext cx="8712200" cy="3590925"/>
            <a:chOff x="1396361" y="1286255"/>
            <a:chExt cx="8712200" cy="3590925"/>
          </a:xfrm>
        </p:grpSpPr>
        <p:sp>
          <p:nvSpPr>
            <p:cNvPr id="3" name="object 3"/>
            <p:cNvSpPr/>
            <p:nvPr/>
          </p:nvSpPr>
          <p:spPr>
            <a:xfrm>
              <a:off x="1396361" y="1286255"/>
              <a:ext cx="8711674" cy="353168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7" y="4482083"/>
              <a:ext cx="887094" cy="394970"/>
            </a:xfrm>
            <a:custGeom>
              <a:avLst/>
              <a:gdLst/>
              <a:ahLst/>
              <a:cxnLst/>
              <a:rect l="l" t="t" r="r" b="b"/>
              <a:pathLst>
                <a:path w="887095" h="394970">
                  <a:moveTo>
                    <a:pt x="886967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886967" y="394715"/>
                  </a:lnTo>
                  <a:lnTo>
                    <a:pt x="886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5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9540" y="1153685"/>
            <a:ext cx="8418611" cy="4478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3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609600"/>
            <a:ext cx="5810219" cy="411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21068" y="3521964"/>
            <a:ext cx="4486656" cy="2676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3" y="276204"/>
            <a:ext cx="1953042" cy="66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7696" y="1093505"/>
            <a:ext cx="8976360" cy="4144010"/>
            <a:chOff x="1377696" y="1093505"/>
            <a:chExt cx="8976360" cy="4144010"/>
          </a:xfrm>
        </p:grpSpPr>
        <p:sp>
          <p:nvSpPr>
            <p:cNvPr id="3" name="object 3"/>
            <p:cNvSpPr/>
            <p:nvPr/>
          </p:nvSpPr>
          <p:spPr>
            <a:xfrm>
              <a:off x="1377696" y="1093505"/>
              <a:ext cx="8976285" cy="41435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507991" y="4733544"/>
              <a:ext cx="885825" cy="394970"/>
            </a:xfrm>
            <a:custGeom>
              <a:avLst/>
              <a:gdLst/>
              <a:ahLst/>
              <a:cxnLst/>
              <a:rect l="l" t="t" r="r" b="b"/>
              <a:pathLst>
                <a:path w="885825" h="394970">
                  <a:moveTo>
                    <a:pt x="885443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885443" y="394715"/>
                  </a:lnTo>
                  <a:lnTo>
                    <a:pt x="8854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2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2560" y="1222247"/>
            <a:ext cx="9127490" cy="4053204"/>
            <a:chOff x="1432560" y="1222247"/>
            <a:chExt cx="9127490" cy="4053204"/>
          </a:xfrm>
        </p:grpSpPr>
        <p:sp>
          <p:nvSpPr>
            <p:cNvPr id="3" name="object 3"/>
            <p:cNvSpPr/>
            <p:nvPr/>
          </p:nvSpPr>
          <p:spPr>
            <a:xfrm>
              <a:off x="1525695" y="1247898"/>
              <a:ext cx="9034167" cy="40270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432560" y="1222247"/>
              <a:ext cx="754380" cy="394970"/>
            </a:xfrm>
            <a:custGeom>
              <a:avLst/>
              <a:gdLst/>
              <a:ahLst/>
              <a:cxnLst/>
              <a:rect l="l" t="t" r="r" b="b"/>
              <a:pathLst>
                <a:path w="754380" h="394969">
                  <a:moveTo>
                    <a:pt x="754379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754379" y="394715"/>
                  </a:lnTo>
                  <a:lnTo>
                    <a:pt x="754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6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5219" y="242709"/>
            <a:ext cx="9050020" cy="6120765"/>
            <a:chOff x="1571244" y="417576"/>
            <a:chExt cx="9050020" cy="6120765"/>
          </a:xfrm>
        </p:grpSpPr>
        <p:sp>
          <p:nvSpPr>
            <p:cNvPr id="3" name="object 3"/>
            <p:cNvSpPr/>
            <p:nvPr/>
          </p:nvSpPr>
          <p:spPr>
            <a:xfrm>
              <a:off x="1571244" y="417576"/>
              <a:ext cx="9049512" cy="61203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535362" y="3129660"/>
              <a:ext cx="1031240" cy="57785"/>
            </a:xfrm>
            <a:custGeom>
              <a:avLst/>
              <a:gdLst/>
              <a:ahLst/>
              <a:cxnLst/>
              <a:rect l="l" t="t" r="r" b="b"/>
              <a:pathLst>
                <a:path w="1031239" h="57785">
                  <a:moveTo>
                    <a:pt x="128206" y="14478"/>
                  </a:moveTo>
                  <a:lnTo>
                    <a:pt x="127406" y="13335"/>
                  </a:lnTo>
                  <a:lnTo>
                    <a:pt x="127317" y="13208"/>
                  </a:lnTo>
                  <a:lnTo>
                    <a:pt x="125920" y="12954"/>
                  </a:lnTo>
                  <a:lnTo>
                    <a:pt x="99504" y="7366"/>
                  </a:lnTo>
                  <a:lnTo>
                    <a:pt x="98996" y="7239"/>
                  </a:lnTo>
                  <a:lnTo>
                    <a:pt x="73469" y="4699"/>
                  </a:lnTo>
                  <a:lnTo>
                    <a:pt x="73596" y="4699"/>
                  </a:lnTo>
                  <a:lnTo>
                    <a:pt x="51625" y="1778"/>
                  </a:lnTo>
                  <a:lnTo>
                    <a:pt x="51117" y="1778"/>
                  </a:lnTo>
                  <a:lnTo>
                    <a:pt x="6540" y="127"/>
                  </a:lnTo>
                  <a:lnTo>
                    <a:pt x="0" y="7239"/>
                  </a:lnTo>
                  <a:lnTo>
                    <a:pt x="1968" y="10922"/>
                  </a:lnTo>
                  <a:lnTo>
                    <a:pt x="3873" y="12065"/>
                  </a:lnTo>
                  <a:lnTo>
                    <a:pt x="6032" y="12192"/>
                  </a:lnTo>
                  <a:lnTo>
                    <a:pt x="50736" y="13462"/>
                  </a:lnTo>
                  <a:lnTo>
                    <a:pt x="50101" y="13335"/>
                  </a:lnTo>
                  <a:lnTo>
                    <a:pt x="72072" y="16256"/>
                  </a:lnTo>
                  <a:lnTo>
                    <a:pt x="72580" y="16256"/>
                  </a:lnTo>
                  <a:lnTo>
                    <a:pt x="125285" y="18161"/>
                  </a:lnTo>
                  <a:lnTo>
                    <a:pt x="126682" y="18161"/>
                  </a:lnTo>
                  <a:lnTo>
                    <a:pt x="127825" y="17145"/>
                  </a:lnTo>
                  <a:lnTo>
                    <a:pt x="128079" y="15748"/>
                  </a:lnTo>
                  <a:lnTo>
                    <a:pt x="128206" y="14478"/>
                  </a:lnTo>
                  <a:close/>
                </a:path>
                <a:path w="1031239" h="57785">
                  <a:moveTo>
                    <a:pt x="1030795" y="19812"/>
                  </a:moveTo>
                  <a:lnTo>
                    <a:pt x="1030033" y="15494"/>
                  </a:lnTo>
                  <a:lnTo>
                    <a:pt x="1028001" y="13970"/>
                  </a:lnTo>
                  <a:lnTo>
                    <a:pt x="1025842" y="14097"/>
                  </a:lnTo>
                  <a:lnTo>
                    <a:pt x="1001839" y="16002"/>
                  </a:lnTo>
                  <a:lnTo>
                    <a:pt x="1001585" y="16002"/>
                  </a:lnTo>
                  <a:lnTo>
                    <a:pt x="977201" y="19304"/>
                  </a:lnTo>
                  <a:lnTo>
                    <a:pt x="977074" y="19304"/>
                  </a:lnTo>
                  <a:lnTo>
                    <a:pt x="952817" y="23114"/>
                  </a:lnTo>
                  <a:lnTo>
                    <a:pt x="952690" y="23114"/>
                  </a:lnTo>
                  <a:lnTo>
                    <a:pt x="929195" y="27305"/>
                  </a:lnTo>
                  <a:lnTo>
                    <a:pt x="929068" y="27305"/>
                  </a:lnTo>
                  <a:lnTo>
                    <a:pt x="906716" y="32004"/>
                  </a:lnTo>
                  <a:lnTo>
                    <a:pt x="906843" y="32004"/>
                  </a:lnTo>
                  <a:lnTo>
                    <a:pt x="886269" y="36068"/>
                  </a:lnTo>
                  <a:lnTo>
                    <a:pt x="886650" y="35941"/>
                  </a:lnTo>
                  <a:lnTo>
                    <a:pt x="867981" y="38735"/>
                  </a:lnTo>
                  <a:lnTo>
                    <a:pt x="868489" y="38735"/>
                  </a:lnTo>
                  <a:lnTo>
                    <a:pt x="828992" y="42164"/>
                  </a:lnTo>
                  <a:lnTo>
                    <a:pt x="824801" y="42418"/>
                  </a:lnTo>
                  <a:lnTo>
                    <a:pt x="821753" y="46101"/>
                  </a:lnTo>
                  <a:lnTo>
                    <a:pt x="822261" y="54356"/>
                  </a:lnTo>
                  <a:lnTo>
                    <a:pt x="825944" y="57531"/>
                  </a:lnTo>
                  <a:lnTo>
                    <a:pt x="869632" y="54991"/>
                  </a:lnTo>
                  <a:lnTo>
                    <a:pt x="870140" y="54864"/>
                  </a:lnTo>
                  <a:lnTo>
                    <a:pt x="888936" y="52578"/>
                  </a:lnTo>
                  <a:lnTo>
                    <a:pt x="889444" y="52578"/>
                  </a:lnTo>
                  <a:lnTo>
                    <a:pt x="910018" y="48641"/>
                  </a:lnTo>
                  <a:lnTo>
                    <a:pt x="910145" y="48641"/>
                  </a:lnTo>
                  <a:lnTo>
                    <a:pt x="932497" y="43942"/>
                  </a:lnTo>
                  <a:lnTo>
                    <a:pt x="932370" y="43942"/>
                  </a:lnTo>
                  <a:lnTo>
                    <a:pt x="955738" y="39497"/>
                  </a:lnTo>
                  <a:lnTo>
                    <a:pt x="955865" y="39497"/>
                  </a:lnTo>
                  <a:lnTo>
                    <a:pt x="972477" y="36068"/>
                  </a:lnTo>
                  <a:lnTo>
                    <a:pt x="979868" y="34544"/>
                  </a:lnTo>
                  <a:lnTo>
                    <a:pt x="980122" y="34544"/>
                  </a:lnTo>
                  <a:lnTo>
                    <a:pt x="1027239" y="22479"/>
                  </a:lnTo>
                  <a:lnTo>
                    <a:pt x="1029398" y="21971"/>
                  </a:lnTo>
                  <a:lnTo>
                    <a:pt x="1030795" y="198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1838707" cy="62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4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0376" y="395370"/>
            <a:ext cx="8359597" cy="5370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9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6" y="834656"/>
            <a:ext cx="9535856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88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097" y="1235264"/>
            <a:ext cx="9324426" cy="4575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01" y="125753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6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64331" y="1410327"/>
            <a:ext cx="9432345" cy="49904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8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75963" y="201168"/>
            <a:ext cx="8669643" cy="6009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421347"/>
            <a:ext cx="2394981" cy="8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2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2C9EF-9C0F-DCAA-3113-3C65205EC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85" y="312304"/>
            <a:ext cx="10700353" cy="6233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52" y="222563"/>
            <a:ext cx="8856095" cy="6225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84" y="407201"/>
            <a:ext cx="9681327" cy="627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64310"/>
            <a:ext cx="9265882" cy="6415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15" y="134401"/>
            <a:ext cx="9822730" cy="6384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591" y="104562"/>
            <a:ext cx="8612818" cy="6516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85" y="205512"/>
            <a:ext cx="8474030" cy="62612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31" y="89716"/>
            <a:ext cx="9020784" cy="65207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3" y="0"/>
            <a:ext cx="11010507" cy="6589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626D8-BFEE-00FA-68CE-2BC2B42B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83" y="428625"/>
            <a:ext cx="5890378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26370" y="725550"/>
            <a:ext cx="7648324" cy="4158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5588" y="4981576"/>
            <a:ext cx="5892375" cy="122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34283" y="356615"/>
            <a:ext cx="384175" cy="368935"/>
          </a:xfrm>
          <a:custGeom>
            <a:avLst/>
            <a:gdLst/>
            <a:ahLst/>
            <a:cxnLst/>
            <a:rect l="l" t="t" r="r" b="b"/>
            <a:pathLst>
              <a:path w="384175" h="368934">
                <a:moveTo>
                  <a:pt x="384047" y="0"/>
                </a:moveTo>
                <a:lnTo>
                  <a:pt x="0" y="0"/>
                </a:lnTo>
                <a:lnTo>
                  <a:pt x="0" y="368808"/>
                </a:lnTo>
                <a:lnTo>
                  <a:pt x="384047" y="368808"/>
                </a:lnTo>
                <a:lnTo>
                  <a:pt x="3840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8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0542" y="1205012"/>
            <a:ext cx="9164955" cy="3937000"/>
            <a:chOff x="1767971" y="650748"/>
            <a:chExt cx="9164955" cy="3937000"/>
          </a:xfrm>
        </p:grpSpPr>
        <p:sp>
          <p:nvSpPr>
            <p:cNvPr id="3" name="object 3"/>
            <p:cNvSpPr/>
            <p:nvPr/>
          </p:nvSpPr>
          <p:spPr>
            <a:xfrm>
              <a:off x="1767971" y="762788"/>
              <a:ext cx="9164554" cy="382492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339083" y="650748"/>
              <a:ext cx="318770" cy="368935"/>
            </a:xfrm>
            <a:custGeom>
              <a:avLst/>
              <a:gdLst/>
              <a:ahLst/>
              <a:cxnLst/>
              <a:rect l="l" t="t" r="r" b="b"/>
              <a:pathLst>
                <a:path w="318770" h="368934">
                  <a:moveTo>
                    <a:pt x="318515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18515" y="368808"/>
                  </a:lnTo>
                  <a:lnTo>
                    <a:pt x="318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6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0905" y="1443664"/>
            <a:ext cx="8444181" cy="4766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5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2867" y="916193"/>
            <a:ext cx="8382661" cy="4660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3" y="276204"/>
            <a:ext cx="2330414" cy="79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6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824" y="1042208"/>
            <a:ext cx="7562499" cy="48122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7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476672"/>
            <a:ext cx="777686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4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58" y="-27384"/>
            <a:ext cx="531408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1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58" y="0"/>
            <a:ext cx="531408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6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58" y="0"/>
            <a:ext cx="531408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67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58" y="0"/>
            <a:ext cx="531408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8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958" y="0"/>
            <a:ext cx="531408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4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58" y="0"/>
            <a:ext cx="5314084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5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38464" y="440437"/>
            <a:ext cx="9074630" cy="5769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6216" y="740987"/>
            <a:ext cx="8573135" cy="5132705"/>
            <a:chOff x="1892807" y="830723"/>
            <a:chExt cx="8573135" cy="5132705"/>
          </a:xfrm>
        </p:grpSpPr>
        <p:sp>
          <p:nvSpPr>
            <p:cNvPr id="3" name="object 3"/>
            <p:cNvSpPr/>
            <p:nvPr/>
          </p:nvSpPr>
          <p:spPr>
            <a:xfrm>
              <a:off x="1892807" y="830723"/>
              <a:ext cx="8572598" cy="51326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7251192" y="1641348"/>
              <a:ext cx="3115310" cy="368935"/>
            </a:xfrm>
            <a:custGeom>
              <a:avLst/>
              <a:gdLst/>
              <a:ahLst/>
              <a:cxnLst/>
              <a:rect l="l" t="t" r="r" b="b"/>
              <a:pathLst>
                <a:path w="3115309" h="368935">
                  <a:moveTo>
                    <a:pt x="3115055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115055" y="368808"/>
                  </a:lnTo>
                  <a:lnTo>
                    <a:pt x="3115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1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3256" y="1205012"/>
            <a:ext cx="9071430" cy="5129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0822" y="740608"/>
            <a:ext cx="8821321" cy="5005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2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1487" y="1205011"/>
            <a:ext cx="10682514" cy="47458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9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5679" y="1337596"/>
            <a:ext cx="9496964" cy="4872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1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8898" y="1205012"/>
            <a:ext cx="8834203" cy="1810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04373" y="3025177"/>
            <a:ext cx="8728522" cy="2952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76291" y="386733"/>
            <a:ext cx="8456008" cy="5823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0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2250" y="3601014"/>
            <a:ext cx="6400297" cy="2132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609" y="959611"/>
            <a:ext cx="6755581" cy="22030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3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09055" y="464820"/>
            <a:ext cx="9289692" cy="5963194"/>
            <a:chOff x="1305737" y="620268"/>
            <a:chExt cx="9486265" cy="6164580"/>
          </a:xfrm>
        </p:grpSpPr>
        <p:sp>
          <p:nvSpPr>
            <p:cNvPr id="3" name="object 3"/>
            <p:cNvSpPr/>
            <p:nvPr/>
          </p:nvSpPr>
          <p:spPr>
            <a:xfrm>
              <a:off x="1305737" y="656958"/>
              <a:ext cx="9485667" cy="612765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154680" y="620268"/>
              <a:ext cx="370840" cy="370840"/>
            </a:xfrm>
            <a:custGeom>
              <a:avLst/>
              <a:gdLst/>
              <a:ahLst/>
              <a:cxnLst/>
              <a:rect l="l" t="t" r="r" b="b"/>
              <a:pathLst>
                <a:path w="370839" h="370840">
                  <a:moveTo>
                    <a:pt x="370331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370331" y="370332"/>
                  </a:lnTo>
                  <a:lnTo>
                    <a:pt x="370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124118"/>
            <a:ext cx="2223817" cy="7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0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3835" y="1544166"/>
            <a:ext cx="7977129" cy="21634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40801" y="740608"/>
            <a:ext cx="8819515" cy="5369560"/>
            <a:chOff x="1537716" y="647700"/>
            <a:chExt cx="8819515" cy="5369560"/>
          </a:xfrm>
        </p:grpSpPr>
        <p:sp>
          <p:nvSpPr>
            <p:cNvPr id="3" name="object 3"/>
            <p:cNvSpPr/>
            <p:nvPr/>
          </p:nvSpPr>
          <p:spPr>
            <a:xfrm>
              <a:off x="1601099" y="686326"/>
              <a:ext cx="8755632" cy="5330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537716" y="647700"/>
              <a:ext cx="609600" cy="368935"/>
            </a:xfrm>
            <a:custGeom>
              <a:avLst/>
              <a:gdLst/>
              <a:ahLst/>
              <a:cxnLst/>
              <a:rect l="l" t="t" r="r" b="b"/>
              <a:pathLst>
                <a:path w="609600" h="368934">
                  <a:moveTo>
                    <a:pt x="609599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609599" y="368808"/>
                  </a:lnTo>
                  <a:lnTo>
                    <a:pt x="609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5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1698" y="286592"/>
            <a:ext cx="8327356" cy="5589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9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3335" y="544629"/>
            <a:ext cx="8510447" cy="5307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7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99540" y="462030"/>
            <a:ext cx="9314815" cy="5568315"/>
            <a:chOff x="1291458" y="548640"/>
            <a:chExt cx="9314815" cy="5568315"/>
          </a:xfrm>
        </p:grpSpPr>
        <p:sp>
          <p:nvSpPr>
            <p:cNvPr id="3" name="object 3"/>
            <p:cNvSpPr/>
            <p:nvPr/>
          </p:nvSpPr>
          <p:spPr>
            <a:xfrm>
              <a:off x="1291458" y="686456"/>
              <a:ext cx="9314635" cy="54299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62072" y="548640"/>
              <a:ext cx="372110" cy="368935"/>
            </a:xfrm>
            <a:custGeom>
              <a:avLst/>
              <a:gdLst/>
              <a:ahLst/>
              <a:cxnLst/>
              <a:rect l="l" t="t" r="r" b="b"/>
              <a:pathLst>
                <a:path w="372110" h="368934">
                  <a:moveTo>
                    <a:pt x="37185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71856" y="368808"/>
                  </a:lnTo>
                  <a:lnTo>
                    <a:pt x="371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366561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3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3394" y="429428"/>
            <a:ext cx="8095409" cy="5641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58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1559" y="293370"/>
            <a:ext cx="8779510" cy="5916930"/>
            <a:chOff x="1763267" y="431291"/>
            <a:chExt cx="8779510" cy="5916930"/>
          </a:xfrm>
        </p:grpSpPr>
        <p:sp>
          <p:nvSpPr>
            <p:cNvPr id="3" name="object 3"/>
            <p:cNvSpPr/>
            <p:nvPr/>
          </p:nvSpPr>
          <p:spPr>
            <a:xfrm>
              <a:off x="1809852" y="453831"/>
              <a:ext cx="8732645" cy="58939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763267" y="431291"/>
              <a:ext cx="568960" cy="370840"/>
            </a:xfrm>
            <a:custGeom>
              <a:avLst/>
              <a:gdLst/>
              <a:ahLst/>
              <a:cxnLst/>
              <a:rect l="l" t="t" r="r" b="b"/>
              <a:pathLst>
                <a:path w="568960" h="370840">
                  <a:moveTo>
                    <a:pt x="568451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568451" y="370332"/>
                  </a:lnTo>
                  <a:lnTo>
                    <a:pt x="5684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59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7450" y="476781"/>
            <a:ext cx="8635094" cy="5069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60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5548" y="321498"/>
            <a:ext cx="7969884" cy="5610860"/>
            <a:chOff x="1926335" y="576072"/>
            <a:chExt cx="7969884" cy="5610860"/>
          </a:xfrm>
        </p:grpSpPr>
        <p:sp>
          <p:nvSpPr>
            <p:cNvPr id="3" name="object 3"/>
            <p:cNvSpPr/>
            <p:nvPr/>
          </p:nvSpPr>
          <p:spPr>
            <a:xfrm>
              <a:off x="2041357" y="693192"/>
              <a:ext cx="7854307" cy="54932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926335" y="576072"/>
              <a:ext cx="989330" cy="370840"/>
            </a:xfrm>
            <a:custGeom>
              <a:avLst/>
              <a:gdLst/>
              <a:ahLst/>
              <a:cxnLst/>
              <a:rect l="l" t="t" r="r" b="b"/>
              <a:pathLst>
                <a:path w="989330" h="370840">
                  <a:moveTo>
                    <a:pt x="989076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989076" y="370332"/>
                  </a:lnTo>
                  <a:lnTo>
                    <a:pt x="989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61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4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5451" y="973611"/>
            <a:ext cx="9702165" cy="4716145"/>
            <a:chOff x="1395983" y="868680"/>
            <a:chExt cx="9702165" cy="4716145"/>
          </a:xfrm>
        </p:grpSpPr>
        <p:sp>
          <p:nvSpPr>
            <p:cNvPr id="3" name="object 3"/>
            <p:cNvSpPr/>
            <p:nvPr/>
          </p:nvSpPr>
          <p:spPr>
            <a:xfrm>
              <a:off x="1495418" y="868680"/>
              <a:ext cx="9602521" cy="471591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395983" y="868680"/>
              <a:ext cx="844550" cy="368935"/>
            </a:xfrm>
            <a:custGeom>
              <a:avLst/>
              <a:gdLst/>
              <a:ahLst/>
              <a:cxnLst/>
              <a:rect l="l" t="t" r="r" b="b"/>
              <a:pathLst>
                <a:path w="844550" h="368934">
                  <a:moveTo>
                    <a:pt x="84429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844296" y="368808"/>
                  </a:lnTo>
                  <a:lnTo>
                    <a:pt x="844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62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6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7215" y="1117818"/>
            <a:ext cx="9310370" cy="4737100"/>
            <a:chOff x="1371996" y="827532"/>
            <a:chExt cx="9310370" cy="4737100"/>
          </a:xfrm>
        </p:grpSpPr>
        <p:sp>
          <p:nvSpPr>
            <p:cNvPr id="3" name="object 3"/>
            <p:cNvSpPr/>
            <p:nvPr/>
          </p:nvSpPr>
          <p:spPr>
            <a:xfrm>
              <a:off x="1371996" y="991809"/>
              <a:ext cx="9310281" cy="45723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94659" y="827532"/>
              <a:ext cx="372110" cy="368935"/>
            </a:xfrm>
            <a:custGeom>
              <a:avLst/>
              <a:gdLst/>
              <a:ahLst/>
              <a:cxnLst/>
              <a:rect l="l" t="t" r="r" b="b"/>
              <a:pathLst>
                <a:path w="372110" h="368934">
                  <a:moveTo>
                    <a:pt x="371856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71856" y="368808"/>
                  </a:lnTo>
                  <a:lnTo>
                    <a:pt x="371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63</a:t>
            </a:fld>
            <a:endParaRPr lang="en-IN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352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6747" y="835171"/>
            <a:ext cx="8700999" cy="2557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32175" y="3553522"/>
            <a:ext cx="8241997" cy="22975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1320" y="536448"/>
            <a:ext cx="490855" cy="368935"/>
          </a:xfrm>
          <a:custGeom>
            <a:avLst/>
            <a:gdLst/>
            <a:ahLst/>
            <a:cxnLst/>
            <a:rect l="l" t="t" r="r" b="b"/>
            <a:pathLst>
              <a:path w="490854" h="368934">
                <a:moveTo>
                  <a:pt x="490728" y="0"/>
                </a:moveTo>
                <a:lnTo>
                  <a:pt x="0" y="0"/>
                </a:lnTo>
                <a:lnTo>
                  <a:pt x="0" y="368808"/>
                </a:lnTo>
                <a:lnTo>
                  <a:pt x="490728" y="368808"/>
                </a:lnTo>
                <a:lnTo>
                  <a:pt x="4907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47104" y="1138427"/>
            <a:ext cx="3497579" cy="368935"/>
          </a:xfrm>
          <a:custGeom>
            <a:avLst/>
            <a:gdLst/>
            <a:ahLst/>
            <a:cxnLst/>
            <a:rect l="l" t="t" r="r" b="b"/>
            <a:pathLst>
              <a:path w="3497579" h="368934">
                <a:moveTo>
                  <a:pt x="3497579" y="0"/>
                </a:moveTo>
                <a:lnTo>
                  <a:pt x="0" y="0"/>
                </a:lnTo>
                <a:lnTo>
                  <a:pt x="0" y="368808"/>
                </a:lnTo>
                <a:lnTo>
                  <a:pt x="3497579" y="368808"/>
                </a:lnTo>
                <a:lnTo>
                  <a:pt x="3497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64</a:t>
            </a:fld>
            <a:endParaRPr lang="en-IN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0540" y="316992"/>
            <a:ext cx="9175965" cy="6121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65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9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30019" y="538119"/>
            <a:ext cx="8475980" cy="5852160"/>
            <a:chOff x="1831848" y="567147"/>
            <a:chExt cx="8475980" cy="5852160"/>
          </a:xfrm>
        </p:grpSpPr>
        <p:sp>
          <p:nvSpPr>
            <p:cNvPr id="3" name="object 3"/>
            <p:cNvSpPr/>
            <p:nvPr/>
          </p:nvSpPr>
          <p:spPr>
            <a:xfrm>
              <a:off x="1902329" y="567147"/>
              <a:ext cx="8404960" cy="43233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831848" y="4875276"/>
              <a:ext cx="692353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66</a:t>
            </a:fld>
            <a:endParaRPr lang="en-IN"/>
          </a:p>
        </p:txBody>
      </p:sp>
      <p:grpSp>
        <p:nvGrpSpPr>
          <p:cNvPr id="7" name="object 2"/>
          <p:cNvGrpSpPr/>
          <p:nvPr/>
        </p:nvGrpSpPr>
        <p:grpSpPr>
          <a:xfrm>
            <a:off x="3225219" y="358140"/>
            <a:ext cx="8475980" cy="5852160"/>
            <a:chOff x="1831848" y="567147"/>
            <a:chExt cx="8475980" cy="5852160"/>
          </a:xfrm>
        </p:grpSpPr>
        <p:sp>
          <p:nvSpPr>
            <p:cNvPr id="8" name="object 3"/>
            <p:cNvSpPr/>
            <p:nvPr/>
          </p:nvSpPr>
          <p:spPr>
            <a:xfrm>
              <a:off x="1902329" y="567147"/>
              <a:ext cx="8404960" cy="43233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4"/>
            <p:cNvSpPr/>
            <p:nvPr/>
          </p:nvSpPr>
          <p:spPr>
            <a:xfrm>
              <a:off x="1831848" y="4875276"/>
              <a:ext cx="692353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9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5857" y="306855"/>
            <a:ext cx="10296143" cy="530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67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1933531" cy="65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5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2916" y="1325880"/>
            <a:ext cx="10253153" cy="4480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68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2572" y="293083"/>
            <a:ext cx="9318568" cy="6031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69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64203" y="1205012"/>
            <a:ext cx="9172354" cy="5501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70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9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3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85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6949" y="1598167"/>
            <a:ext cx="9998365" cy="38882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ts val="319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rise 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lower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level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level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Voltage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Current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080" lvl="0" indent="0" algn="l" defTabSz="914400" rtl="0" eaLnBrk="1" fontAlgn="auto" latinLnBrk="0" hangingPunct="1">
              <a:lnSpc>
                <a:spcPts val="302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86865" algn="l"/>
                <a:tab pos="587883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( when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voltage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increases,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current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decreases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and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vice-versa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because	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 =V x I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, and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Power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</a:t>
            </a:r>
            <a:r>
              <a:rPr kumimoji="0" sz="28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same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)	in 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Circuit.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36195" lvl="0" indent="-228600" algn="l" defTabSz="914400" rtl="0" eaLnBrk="1" fontAlgn="auto" latinLnBrk="0" hangingPunct="1">
              <a:lnSpc>
                <a:spcPts val="3020"/>
              </a:lnSpc>
              <a:spcBef>
                <a:spcPts val="10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increase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decrease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value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of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capacitor,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an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inductor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or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resistance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in 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circuit.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thus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act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as an  impedance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transferring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device.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55880" lvl="0" indent="-228600" algn="l" defTabSz="914400" rtl="0" eaLnBrk="1" fontAlgn="auto" latinLnBrk="0" hangingPunct="1">
              <a:lnSpc>
                <a:spcPts val="302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be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used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prevent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DC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passing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from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one circuit 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the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other.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can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isolate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two circuits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electrically.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83373" y="486181"/>
            <a:ext cx="731525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59685" algn="l"/>
              </a:tabLst>
            </a:pPr>
            <a:r>
              <a:rPr sz="3200" b="1" spc="-5" dirty="0">
                <a:latin typeface="Carlito"/>
                <a:cs typeface="Carlito"/>
              </a:rPr>
              <a:t>Application</a:t>
            </a:r>
            <a:r>
              <a:rPr sz="3200" b="1" spc="-35" dirty="0">
                <a:latin typeface="Carlito"/>
                <a:cs typeface="Carlito"/>
              </a:rPr>
              <a:t> </a:t>
            </a:r>
            <a:r>
              <a:rPr sz="3200" b="1" dirty="0">
                <a:latin typeface="Carlito"/>
                <a:cs typeface="Carlito"/>
              </a:rPr>
              <a:t>of	</a:t>
            </a:r>
            <a:r>
              <a:rPr sz="3200" b="1" spc="-30" dirty="0">
                <a:latin typeface="Carlito"/>
                <a:cs typeface="Carlito"/>
              </a:rPr>
              <a:t>Transformer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70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7508" y="1178052"/>
            <a:ext cx="9199177" cy="5114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9957" y="361010"/>
            <a:ext cx="6896500" cy="6404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5" dirty="0">
                <a:latin typeface="Carlito"/>
                <a:cs typeface="Carlito"/>
              </a:rPr>
              <a:t>Three </a:t>
            </a:r>
            <a:r>
              <a:rPr sz="4000" b="1" spc="-5" dirty="0">
                <a:latin typeface="Carlito"/>
                <a:cs typeface="Carlito"/>
              </a:rPr>
              <a:t>Phase</a:t>
            </a:r>
            <a:r>
              <a:rPr sz="4000" b="1" spc="-50" dirty="0">
                <a:latin typeface="Carlito"/>
                <a:cs typeface="Carlito"/>
              </a:rPr>
              <a:t> </a:t>
            </a:r>
            <a:r>
              <a:rPr sz="4000" b="1" spc="-40" dirty="0">
                <a:latin typeface="Carlito"/>
                <a:cs typeface="Carlito"/>
              </a:rPr>
              <a:t>Transformer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72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4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5251" y="638926"/>
            <a:ext cx="8818401" cy="5799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73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402985" cy="8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1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2112" y="542544"/>
            <a:ext cx="7228731" cy="5744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74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8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21970" y="105902"/>
            <a:ext cx="7419596" cy="6332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75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8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622" y="519836"/>
            <a:ext cx="905297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Carlito"/>
                <a:cs typeface="Carlito"/>
              </a:rPr>
              <a:t>Numerical: </a:t>
            </a:r>
            <a:r>
              <a:rPr sz="4000" b="1" spc="-15" dirty="0">
                <a:latin typeface="Carlito"/>
                <a:cs typeface="Carlito"/>
              </a:rPr>
              <a:t>Three </a:t>
            </a:r>
            <a:r>
              <a:rPr sz="4000" b="1" spc="-5" dirty="0">
                <a:latin typeface="Carlito"/>
                <a:cs typeface="Carlito"/>
              </a:rPr>
              <a:t>Phase</a:t>
            </a:r>
            <a:r>
              <a:rPr sz="4000" b="1" spc="-20" dirty="0">
                <a:latin typeface="Carlito"/>
                <a:cs typeface="Carlito"/>
              </a:rPr>
              <a:t> </a:t>
            </a:r>
            <a:r>
              <a:rPr sz="4000" b="1" spc="-40" dirty="0">
                <a:latin typeface="Carlito"/>
                <a:cs typeface="Carlito"/>
              </a:rPr>
              <a:t>Transformer</a:t>
            </a:r>
            <a:endParaRPr sz="4000" dirty="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32622" y="1075472"/>
            <a:ext cx="8944895" cy="525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76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429467" cy="82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4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799" y="740608"/>
            <a:ext cx="8223902" cy="4986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77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3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0313" y="389777"/>
            <a:ext cx="9673229" cy="58205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78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112699" cy="71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7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51497" y="414758"/>
            <a:ext cx="8152936" cy="210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33335" y="2737046"/>
            <a:ext cx="8804927" cy="32150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79</a:t>
            </a:fld>
            <a:endParaRPr lang="en-IN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0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0960" y="409575"/>
            <a:ext cx="9021628" cy="5800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80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3" y="276204"/>
            <a:ext cx="2352188" cy="79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1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1713" y="714417"/>
            <a:ext cx="9462516" cy="4922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81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527183"/>
            <a:ext cx="2639232" cy="89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1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9943" y="512645"/>
            <a:ext cx="8748197" cy="4756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82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738263" cy="9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0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1590" y="412709"/>
            <a:ext cx="9713000" cy="5668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83</a:t>
            </a:fld>
            <a:endParaRPr lang="en-IN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" y="276204"/>
            <a:ext cx="2052657" cy="69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3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6202" y="611126"/>
            <a:ext cx="4497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Measuring</a:t>
            </a:r>
            <a:r>
              <a:rPr spc="-250" dirty="0"/>
              <a:t> </a:t>
            </a:r>
            <a:r>
              <a:rPr spc="-70" dirty="0"/>
              <a:t>Instruments</a:t>
            </a:r>
          </a:p>
        </p:txBody>
      </p:sp>
      <p:sp>
        <p:nvSpPr>
          <p:cNvPr id="3" name="object 3"/>
          <p:cNvSpPr/>
          <p:nvPr/>
        </p:nvSpPr>
        <p:spPr>
          <a:xfrm>
            <a:off x="220098" y="61525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27594" y="1869694"/>
            <a:ext cx="2100580" cy="1504950"/>
            <a:chOff x="6403594" y="1869694"/>
            <a:chExt cx="2100580" cy="1504950"/>
          </a:xfrm>
        </p:grpSpPr>
        <p:sp>
          <p:nvSpPr>
            <p:cNvPr id="5" name="object 5"/>
            <p:cNvSpPr/>
            <p:nvPr/>
          </p:nvSpPr>
          <p:spPr>
            <a:xfrm>
              <a:off x="6409944" y="3119627"/>
              <a:ext cx="2087880" cy="248920"/>
            </a:xfrm>
            <a:custGeom>
              <a:avLst/>
              <a:gdLst/>
              <a:ahLst/>
              <a:cxnLst/>
              <a:rect l="l" t="t" r="r" b="b"/>
              <a:pathLst>
                <a:path w="2087879" h="248920">
                  <a:moveTo>
                    <a:pt x="1043939" y="0"/>
                  </a:moveTo>
                  <a:lnTo>
                    <a:pt x="1043939" y="169291"/>
                  </a:lnTo>
                  <a:lnTo>
                    <a:pt x="2087626" y="169291"/>
                  </a:lnTo>
                  <a:lnTo>
                    <a:pt x="2087626" y="248412"/>
                  </a:lnTo>
                </a:path>
                <a:path w="2087879" h="248920">
                  <a:moveTo>
                    <a:pt x="1043431" y="0"/>
                  </a:moveTo>
                  <a:lnTo>
                    <a:pt x="1043431" y="137668"/>
                  </a:lnTo>
                  <a:lnTo>
                    <a:pt x="1001267" y="137668"/>
                  </a:lnTo>
                  <a:lnTo>
                    <a:pt x="1001267" y="216788"/>
                  </a:lnTo>
                </a:path>
                <a:path w="2087879" h="248920">
                  <a:moveTo>
                    <a:pt x="1043685" y="0"/>
                  </a:moveTo>
                  <a:lnTo>
                    <a:pt x="1043685" y="169291"/>
                  </a:lnTo>
                  <a:lnTo>
                    <a:pt x="0" y="169291"/>
                  </a:lnTo>
                  <a:lnTo>
                    <a:pt x="0" y="248412"/>
                  </a:lnTo>
                </a:path>
              </a:pathLst>
            </a:custGeom>
            <a:ln w="12192">
              <a:solidFill>
                <a:srgbClr val="BE4013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409944" y="2328672"/>
              <a:ext cx="1043305" cy="248920"/>
            </a:xfrm>
            <a:custGeom>
              <a:avLst/>
              <a:gdLst/>
              <a:ahLst/>
              <a:cxnLst/>
              <a:rect l="l" t="t" r="r" b="b"/>
              <a:pathLst>
                <a:path w="1043304" h="248919">
                  <a:moveTo>
                    <a:pt x="521207" y="0"/>
                  </a:moveTo>
                  <a:lnTo>
                    <a:pt x="521207" y="169290"/>
                  </a:lnTo>
                  <a:lnTo>
                    <a:pt x="1043051" y="169290"/>
                  </a:lnTo>
                  <a:lnTo>
                    <a:pt x="1043051" y="248412"/>
                  </a:lnTo>
                </a:path>
                <a:path w="1043304" h="248919">
                  <a:moveTo>
                    <a:pt x="521842" y="0"/>
                  </a:moveTo>
                  <a:lnTo>
                    <a:pt x="521842" y="169290"/>
                  </a:lnTo>
                  <a:lnTo>
                    <a:pt x="0" y="169290"/>
                  </a:lnTo>
                  <a:lnTo>
                    <a:pt x="0" y="248412"/>
                  </a:lnTo>
                </a:path>
              </a:pathLst>
            </a:custGeom>
            <a:ln w="12192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6598920" y="1876044"/>
              <a:ext cx="855344" cy="542925"/>
            </a:xfrm>
            <a:custGeom>
              <a:avLst/>
              <a:gdLst/>
              <a:ahLst/>
              <a:cxnLst/>
              <a:rect l="l" t="t" r="r" b="b"/>
              <a:pathLst>
                <a:path w="855345" h="542925">
                  <a:moveTo>
                    <a:pt x="800734" y="0"/>
                  </a:moveTo>
                  <a:lnTo>
                    <a:pt x="54228" y="0"/>
                  </a:lnTo>
                  <a:lnTo>
                    <a:pt x="33111" y="4258"/>
                  </a:lnTo>
                  <a:lnTo>
                    <a:pt x="15875" y="15874"/>
                  </a:lnTo>
                  <a:lnTo>
                    <a:pt x="4258" y="33111"/>
                  </a:lnTo>
                  <a:lnTo>
                    <a:pt x="0" y="54228"/>
                  </a:lnTo>
                  <a:lnTo>
                    <a:pt x="0" y="488314"/>
                  </a:lnTo>
                  <a:lnTo>
                    <a:pt x="4258" y="509432"/>
                  </a:lnTo>
                  <a:lnTo>
                    <a:pt x="15875" y="526668"/>
                  </a:lnTo>
                  <a:lnTo>
                    <a:pt x="33111" y="538285"/>
                  </a:lnTo>
                  <a:lnTo>
                    <a:pt x="54228" y="542543"/>
                  </a:lnTo>
                  <a:lnTo>
                    <a:pt x="800734" y="542543"/>
                  </a:lnTo>
                  <a:lnTo>
                    <a:pt x="821852" y="538285"/>
                  </a:lnTo>
                  <a:lnTo>
                    <a:pt x="839088" y="526668"/>
                  </a:lnTo>
                  <a:lnTo>
                    <a:pt x="850705" y="509432"/>
                  </a:lnTo>
                  <a:lnTo>
                    <a:pt x="854963" y="488314"/>
                  </a:lnTo>
                  <a:lnTo>
                    <a:pt x="854963" y="54228"/>
                  </a:lnTo>
                  <a:lnTo>
                    <a:pt x="850705" y="33111"/>
                  </a:lnTo>
                  <a:lnTo>
                    <a:pt x="839088" y="15875"/>
                  </a:lnTo>
                  <a:lnTo>
                    <a:pt x="821852" y="4258"/>
                  </a:lnTo>
                  <a:lnTo>
                    <a:pt x="80073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598920" y="1876044"/>
              <a:ext cx="855344" cy="542925"/>
            </a:xfrm>
            <a:custGeom>
              <a:avLst/>
              <a:gdLst/>
              <a:ahLst/>
              <a:cxnLst/>
              <a:rect l="l" t="t" r="r" b="b"/>
              <a:pathLst>
                <a:path w="855345" h="542925">
                  <a:moveTo>
                    <a:pt x="0" y="54228"/>
                  </a:moveTo>
                  <a:lnTo>
                    <a:pt x="4258" y="33111"/>
                  </a:lnTo>
                  <a:lnTo>
                    <a:pt x="15875" y="15874"/>
                  </a:lnTo>
                  <a:lnTo>
                    <a:pt x="33111" y="4258"/>
                  </a:lnTo>
                  <a:lnTo>
                    <a:pt x="54228" y="0"/>
                  </a:lnTo>
                  <a:lnTo>
                    <a:pt x="800734" y="0"/>
                  </a:lnTo>
                  <a:lnTo>
                    <a:pt x="821852" y="4258"/>
                  </a:lnTo>
                  <a:lnTo>
                    <a:pt x="839088" y="15875"/>
                  </a:lnTo>
                  <a:lnTo>
                    <a:pt x="850705" y="33111"/>
                  </a:lnTo>
                  <a:lnTo>
                    <a:pt x="854963" y="54228"/>
                  </a:lnTo>
                  <a:lnTo>
                    <a:pt x="854963" y="488314"/>
                  </a:lnTo>
                  <a:lnTo>
                    <a:pt x="850705" y="509432"/>
                  </a:lnTo>
                  <a:lnTo>
                    <a:pt x="839088" y="526668"/>
                  </a:lnTo>
                  <a:lnTo>
                    <a:pt x="821852" y="538285"/>
                  </a:lnTo>
                  <a:lnTo>
                    <a:pt x="800734" y="542543"/>
                  </a:lnTo>
                  <a:lnTo>
                    <a:pt x="54228" y="542543"/>
                  </a:lnTo>
                  <a:lnTo>
                    <a:pt x="33111" y="538285"/>
                  </a:lnTo>
                  <a:lnTo>
                    <a:pt x="15875" y="526668"/>
                  </a:lnTo>
                  <a:lnTo>
                    <a:pt x="4258" y="509432"/>
                  </a:lnTo>
                  <a:lnTo>
                    <a:pt x="0" y="488314"/>
                  </a:lnTo>
                  <a:lnTo>
                    <a:pt x="0" y="54228"/>
                  </a:lnTo>
                  <a:close/>
                </a:path>
              </a:pathLst>
            </a:custGeom>
            <a:ln w="12192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180958" y="1969136"/>
            <a:ext cx="740410" cy="29110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41630" marR="5080" indent="-329565">
              <a:lnSpc>
                <a:spcPts val="1030"/>
              </a:lnSpc>
              <a:spcBef>
                <a:spcPts val="270"/>
              </a:spcBef>
            </a:pPr>
            <a:r>
              <a:rPr sz="1000" b="1" spc="-50" dirty="0">
                <a:solidFill>
                  <a:prstClr val="black"/>
                </a:solidFill>
                <a:latin typeface="Times New Roman"/>
                <a:cs typeface="Times New Roman"/>
              </a:rPr>
              <a:t>Cla</a:t>
            </a:r>
            <a:r>
              <a:rPr sz="1000" b="1" spc="-45" dirty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sz="1000" b="1" spc="-35" dirty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sz="1000" b="1" dirty="0">
                <a:solidFill>
                  <a:prstClr val="black"/>
                </a:solidFill>
                <a:latin typeface="Times New Roman"/>
                <a:cs typeface="Times New Roman"/>
              </a:rPr>
              <a:t>if</a:t>
            </a:r>
            <a:r>
              <a:rPr sz="10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000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ca</a:t>
            </a:r>
            <a:r>
              <a:rPr sz="10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000" b="1" spc="15" dirty="0">
                <a:solidFill>
                  <a:prstClr val="black"/>
                </a:solidFill>
                <a:latin typeface="Times New Roman"/>
                <a:cs typeface="Times New Roman"/>
              </a:rPr>
              <a:t>ion  </a:t>
            </a:r>
            <a:r>
              <a:rPr sz="1000" b="1" spc="-4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00874" y="2570733"/>
            <a:ext cx="960755" cy="645160"/>
            <a:chOff x="5976873" y="2570733"/>
            <a:chExt cx="960755" cy="645160"/>
          </a:xfrm>
        </p:grpSpPr>
        <p:sp>
          <p:nvSpPr>
            <p:cNvPr id="11" name="object 11"/>
            <p:cNvSpPr/>
            <p:nvPr/>
          </p:nvSpPr>
          <p:spPr>
            <a:xfrm>
              <a:off x="5983223" y="2577083"/>
              <a:ext cx="853440" cy="542925"/>
            </a:xfrm>
            <a:custGeom>
              <a:avLst/>
              <a:gdLst/>
              <a:ahLst/>
              <a:cxnLst/>
              <a:rect l="l" t="t" r="r" b="b"/>
              <a:pathLst>
                <a:path w="853440" h="542925">
                  <a:moveTo>
                    <a:pt x="0" y="54228"/>
                  </a:moveTo>
                  <a:lnTo>
                    <a:pt x="4258" y="33111"/>
                  </a:lnTo>
                  <a:lnTo>
                    <a:pt x="15875" y="15874"/>
                  </a:lnTo>
                  <a:lnTo>
                    <a:pt x="33111" y="4258"/>
                  </a:lnTo>
                  <a:lnTo>
                    <a:pt x="54228" y="0"/>
                  </a:lnTo>
                  <a:lnTo>
                    <a:pt x="799210" y="0"/>
                  </a:lnTo>
                  <a:lnTo>
                    <a:pt x="820328" y="4258"/>
                  </a:lnTo>
                  <a:lnTo>
                    <a:pt x="837564" y="15875"/>
                  </a:lnTo>
                  <a:lnTo>
                    <a:pt x="849181" y="33111"/>
                  </a:lnTo>
                  <a:lnTo>
                    <a:pt x="853440" y="54228"/>
                  </a:lnTo>
                  <a:lnTo>
                    <a:pt x="853440" y="488314"/>
                  </a:lnTo>
                  <a:lnTo>
                    <a:pt x="849181" y="509432"/>
                  </a:lnTo>
                  <a:lnTo>
                    <a:pt x="837565" y="526669"/>
                  </a:lnTo>
                  <a:lnTo>
                    <a:pt x="820328" y="538285"/>
                  </a:lnTo>
                  <a:lnTo>
                    <a:pt x="799210" y="542543"/>
                  </a:lnTo>
                  <a:lnTo>
                    <a:pt x="54228" y="542543"/>
                  </a:lnTo>
                  <a:lnTo>
                    <a:pt x="33111" y="538285"/>
                  </a:lnTo>
                  <a:lnTo>
                    <a:pt x="15874" y="526668"/>
                  </a:lnTo>
                  <a:lnTo>
                    <a:pt x="4258" y="509432"/>
                  </a:lnTo>
                  <a:lnTo>
                    <a:pt x="0" y="488314"/>
                  </a:lnTo>
                  <a:lnTo>
                    <a:pt x="0" y="54228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077711" y="2666999"/>
              <a:ext cx="853440" cy="542925"/>
            </a:xfrm>
            <a:custGeom>
              <a:avLst/>
              <a:gdLst/>
              <a:ahLst/>
              <a:cxnLst/>
              <a:rect l="l" t="t" r="r" b="b"/>
              <a:pathLst>
                <a:path w="853440" h="542925">
                  <a:moveTo>
                    <a:pt x="799211" y="0"/>
                  </a:moveTo>
                  <a:lnTo>
                    <a:pt x="54228" y="0"/>
                  </a:lnTo>
                  <a:lnTo>
                    <a:pt x="33111" y="4258"/>
                  </a:lnTo>
                  <a:lnTo>
                    <a:pt x="15875" y="15875"/>
                  </a:lnTo>
                  <a:lnTo>
                    <a:pt x="4258" y="33111"/>
                  </a:lnTo>
                  <a:lnTo>
                    <a:pt x="0" y="54228"/>
                  </a:lnTo>
                  <a:lnTo>
                    <a:pt x="0" y="488314"/>
                  </a:lnTo>
                  <a:lnTo>
                    <a:pt x="4258" y="509432"/>
                  </a:lnTo>
                  <a:lnTo>
                    <a:pt x="15875" y="526669"/>
                  </a:lnTo>
                  <a:lnTo>
                    <a:pt x="33111" y="538285"/>
                  </a:lnTo>
                  <a:lnTo>
                    <a:pt x="54228" y="542544"/>
                  </a:lnTo>
                  <a:lnTo>
                    <a:pt x="799211" y="542544"/>
                  </a:lnTo>
                  <a:lnTo>
                    <a:pt x="820328" y="538285"/>
                  </a:lnTo>
                  <a:lnTo>
                    <a:pt x="837564" y="526669"/>
                  </a:lnTo>
                  <a:lnTo>
                    <a:pt x="849181" y="509432"/>
                  </a:lnTo>
                  <a:lnTo>
                    <a:pt x="853439" y="488314"/>
                  </a:lnTo>
                  <a:lnTo>
                    <a:pt x="853439" y="54228"/>
                  </a:lnTo>
                  <a:lnTo>
                    <a:pt x="849181" y="33111"/>
                  </a:lnTo>
                  <a:lnTo>
                    <a:pt x="837564" y="15875"/>
                  </a:lnTo>
                  <a:lnTo>
                    <a:pt x="820328" y="4258"/>
                  </a:lnTo>
                  <a:lnTo>
                    <a:pt x="79921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077711" y="2666999"/>
              <a:ext cx="853440" cy="542925"/>
            </a:xfrm>
            <a:custGeom>
              <a:avLst/>
              <a:gdLst/>
              <a:ahLst/>
              <a:cxnLst/>
              <a:rect l="l" t="t" r="r" b="b"/>
              <a:pathLst>
                <a:path w="853440" h="542925">
                  <a:moveTo>
                    <a:pt x="0" y="54228"/>
                  </a:moveTo>
                  <a:lnTo>
                    <a:pt x="4258" y="33111"/>
                  </a:lnTo>
                  <a:lnTo>
                    <a:pt x="15875" y="15875"/>
                  </a:lnTo>
                  <a:lnTo>
                    <a:pt x="33111" y="4258"/>
                  </a:lnTo>
                  <a:lnTo>
                    <a:pt x="54228" y="0"/>
                  </a:lnTo>
                  <a:lnTo>
                    <a:pt x="799211" y="0"/>
                  </a:lnTo>
                  <a:lnTo>
                    <a:pt x="820328" y="4258"/>
                  </a:lnTo>
                  <a:lnTo>
                    <a:pt x="837564" y="15875"/>
                  </a:lnTo>
                  <a:lnTo>
                    <a:pt x="849181" y="33111"/>
                  </a:lnTo>
                  <a:lnTo>
                    <a:pt x="853439" y="54228"/>
                  </a:lnTo>
                  <a:lnTo>
                    <a:pt x="853439" y="488314"/>
                  </a:lnTo>
                  <a:lnTo>
                    <a:pt x="849181" y="509432"/>
                  </a:lnTo>
                  <a:lnTo>
                    <a:pt x="837564" y="526669"/>
                  </a:lnTo>
                  <a:lnTo>
                    <a:pt x="820328" y="538285"/>
                  </a:lnTo>
                  <a:lnTo>
                    <a:pt x="799211" y="542544"/>
                  </a:lnTo>
                  <a:lnTo>
                    <a:pt x="54228" y="542544"/>
                  </a:lnTo>
                  <a:lnTo>
                    <a:pt x="33111" y="538285"/>
                  </a:lnTo>
                  <a:lnTo>
                    <a:pt x="15875" y="526669"/>
                  </a:lnTo>
                  <a:lnTo>
                    <a:pt x="4258" y="509432"/>
                  </a:lnTo>
                  <a:lnTo>
                    <a:pt x="0" y="488314"/>
                  </a:lnTo>
                  <a:lnTo>
                    <a:pt x="0" y="54228"/>
                  </a:lnTo>
                  <a:close/>
                </a:path>
              </a:pathLst>
            </a:custGeom>
            <a:ln w="12192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76465" y="2825243"/>
            <a:ext cx="50545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Absolute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639556" y="2660904"/>
            <a:ext cx="866140" cy="554990"/>
            <a:chOff x="7115556" y="2660904"/>
            <a:chExt cx="866140" cy="554990"/>
          </a:xfrm>
        </p:grpSpPr>
        <p:sp>
          <p:nvSpPr>
            <p:cNvPr id="16" name="object 16"/>
            <p:cNvSpPr/>
            <p:nvPr/>
          </p:nvSpPr>
          <p:spPr>
            <a:xfrm>
              <a:off x="7121652" y="2667000"/>
              <a:ext cx="853440" cy="542925"/>
            </a:xfrm>
            <a:custGeom>
              <a:avLst/>
              <a:gdLst/>
              <a:ahLst/>
              <a:cxnLst/>
              <a:rect l="l" t="t" r="r" b="b"/>
              <a:pathLst>
                <a:path w="853440" h="542925">
                  <a:moveTo>
                    <a:pt x="799211" y="0"/>
                  </a:moveTo>
                  <a:lnTo>
                    <a:pt x="54228" y="0"/>
                  </a:lnTo>
                  <a:lnTo>
                    <a:pt x="33111" y="4258"/>
                  </a:lnTo>
                  <a:lnTo>
                    <a:pt x="15875" y="15875"/>
                  </a:lnTo>
                  <a:lnTo>
                    <a:pt x="4258" y="33111"/>
                  </a:lnTo>
                  <a:lnTo>
                    <a:pt x="0" y="54228"/>
                  </a:lnTo>
                  <a:lnTo>
                    <a:pt x="0" y="488314"/>
                  </a:lnTo>
                  <a:lnTo>
                    <a:pt x="4258" y="509432"/>
                  </a:lnTo>
                  <a:lnTo>
                    <a:pt x="15875" y="526669"/>
                  </a:lnTo>
                  <a:lnTo>
                    <a:pt x="33111" y="538285"/>
                  </a:lnTo>
                  <a:lnTo>
                    <a:pt x="54228" y="542544"/>
                  </a:lnTo>
                  <a:lnTo>
                    <a:pt x="799211" y="542544"/>
                  </a:lnTo>
                  <a:lnTo>
                    <a:pt x="820328" y="538285"/>
                  </a:lnTo>
                  <a:lnTo>
                    <a:pt x="837565" y="526669"/>
                  </a:lnTo>
                  <a:lnTo>
                    <a:pt x="849181" y="509432"/>
                  </a:lnTo>
                  <a:lnTo>
                    <a:pt x="853440" y="488314"/>
                  </a:lnTo>
                  <a:lnTo>
                    <a:pt x="853440" y="54228"/>
                  </a:lnTo>
                  <a:lnTo>
                    <a:pt x="849181" y="33111"/>
                  </a:lnTo>
                  <a:lnTo>
                    <a:pt x="837565" y="15875"/>
                  </a:lnTo>
                  <a:lnTo>
                    <a:pt x="820328" y="4258"/>
                  </a:lnTo>
                  <a:lnTo>
                    <a:pt x="79921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121652" y="2667000"/>
              <a:ext cx="853440" cy="542925"/>
            </a:xfrm>
            <a:custGeom>
              <a:avLst/>
              <a:gdLst/>
              <a:ahLst/>
              <a:cxnLst/>
              <a:rect l="l" t="t" r="r" b="b"/>
              <a:pathLst>
                <a:path w="853440" h="542925">
                  <a:moveTo>
                    <a:pt x="0" y="54228"/>
                  </a:moveTo>
                  <a:lnTo>
                    <a:pt x="4258" y="33111"/>
                  </a:lnTo>
                  <a:lnTo>
                    <a:pt x="15875" y="15875"/>
                  </a:lnTo>
                  <a:lnTo>
                    <a:pt x="33111" y="4258"/>
                  </a:lnTo>
                  <a:lnTo>
                    <a:pt x="54228" y="0"/>
                  </a:lnTo>
                  <a:lnTo>
                    <a:pt x="799211" y="0"/>
                  </a:lnTo>
                  <a:lnTo>
                    <a:pt x="820328" y="4258"/>
                  </a:lnTo>
                  <a:lnTo>
                    <a:pt x="837565" y="15875"/>
                  </a:lnTo>
                  <a:lnTo>
                    <a:pt x="849181" y="33111"/>
                  </a:lnTo>
                  <a:lnTo>
                    <a:pt x="853440" y="54228"/>
                  </a:lnTo>
                  <a:lnTo>
                    <a:pt x="853440" y="488314"/>
                  </a:lnTo>
                  <a:lnTo>
                    <a:pt x="849181" y="509432"/>
                  </a:lnTo>
                  <a:lnTo>
                    <a:pt x="837565" y="526669"/>
                  </a:lnTo>
                  <a:lnTo>
                    <a:pt x="820328" y="538285"/>
                  </a:lnTo>
                  <a:lnTo>
                    <a:pt x="799211" y="542544"/>
                  </a:lnTo>
                  <a:lnTo>
                    <a:pt x="54228" y="542544"/>
                  </a:lnTo>
                  <a:lnTo>
                    <a:pt x="33111" y="538285"/>
                  </a:lnTo>
                  <a:lnTo>
                    <a:pt x="15875" y="526669"/>
                  </a:lnTo>
                  <a:lnTo>
                    <a:pt x="4258" y="509432"/>
                  </a:lnTo>
                  <a:lnTo>
                    <a:pt x="0" y="488314"/>
                  </a:lnTo>
                  <a:lnTo>
                    <a:pt x="0" y="54228"/>
                  </a:lnTo>
                  <a:close/>
                </a:path>
              </a:pathLst>
            </a:custGeom>
            <a:ln w="12192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79257" y="2825243"/>
            <a:ext cx="58864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Secon</a:t>
            </a:r>
            <a:r>
              <a:rPr sz="1000" b="1" spc="10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000" b="1" spc="-45" dirty="0">
                <a:solidFill>
                  <a:prstClr val="black"/>
                </a:solidFill>
                <a:latin typeface="Times New Roman"/>
                <a:cs typeface="Times New Roman"/>
              </a:rPr>
              <a:t>ar</a:t>
            </a:r>
            <a:r>
              <a:rPr sz="10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y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01711" y="3457956"/>
            <a:ext cx="853440" cy="542925"/>
          </a:xfrm>
          <a:custGeom>
            <a:avLst/>
            <a:gdLst/>
            <a:ahLst/>
            <a:cxnLst/>
            <a:rect l="l" t="t" r="r" b="b"/>
            <a:pathLst>
              <a:path w="853440" h="542925">
                <a:moveTo>
                  <a:pt x="0" y="54229"/>
                </a:moveTo>
                <a:lnTo>
                  <a:pt x="4258" y="33111"/>
                </a:lnTo>
                <a:lnTo>
                  <a:pt x="15875" y="15875"/>
                </a:lnTo>
                <a:lnTo>
                  <a:pt x="33111" y="4258"/>
                </a:lnTo>
                <a:lnTo>
                  <a:pt x="54228" y="0"/>
                </a:lnTo>
                <a:lnTo>
                  <a:pt x="799211" y="0"/>
                </a:lnTo>
                <a:lnTo>
                  <a:pt x="820328" y="4258"/>
                </a:lnTo>
                <a:lnTo>
                  <a:pt x="837564" y="15875"/>
                </a:lnTo>
                <a:lnTo>
                  <a:pt x="849181" y="33111"/>
                </a:lnTo>
                <a:lnTo>
                  <a:pt x="853439" y="54229"/>
                </a:lnTo>
                <a:lnTo>
                  <a:pt x="853439" y="488315"/>
                </a:lnTo>
                <a:lnTo>
                  <a:pt x="849181" y="509432"/>
                </a:lnTo>
                <a:lnTo>
                  <a:pt x="837564" y="526669"/>
                </a:lnTo>
                <a:lnTo>
                  <a:pt x="820328" y="538285"/>
                </a:lnTo>
                <a:lnTo>
                  <a:pt x="799211" y="542544"/>
                </a:lnTo>
                <a:lnTo>
                  <a:pt x="54228" y="542544"/>
                </a:lnTo>
                <a:lnTo>
                  <a:pt x="33111" y="538285"/>
                </a:lnTo>
                <a:lnTo>
                  <a:pt x="15875" y="526669"/>
                </a:lnTo>
                <a:lnTo>
                  <a:pt x="4258" y="509432"/>
                </a:lnTo>
                <a:lnTo>
                  <a:pt x="0" y="488315"/>
                </a:lnTo>
                <a:lnTo>
                  <a:pt x="0" y="54229"/>
                </a:lnTo>
                <a:close/>
              </a:path>
            </a:pathLst>
          </a:custGeom>
          <a:ln w="12192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6840" y="3616198"/>
            <a:ext cx="58674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3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000" b="1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000" b="1" spc="10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000" b="1" dirty="0">
                <a:solidFill>
                  <a:prstClr val="black"/>
                </a:solidFill>
                <a:latin typeface="Times New Roman"/>
                <a:cs typeface="Times New Roman"/>
              </a:rPr>
              <a:t>icat</a:t>
            </a:r>
            <a:r>
              <a:rPr sz="1000" b="1" spc="5" dirty="0">
                <a:solidFill>
                  <a:prstClr val="black"/>
                </a:solidFill>
                <a:latin typeface="Times New Roman"/>
                <a:cs typeface="Times New Roman"/>
              </a:rPr>
              <a:t>ing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02980" y="3425953"/>
            <a:ext cx="855344" cy="542925"/>
          </a:xfrm>
          <a:custGeom>
            <a:avLst/>
            <a:gdLst/>
            <a:ahLst/>
            <a:cxnLst/>
            <a:rect l="l" t="t" r="r" b="b"/>
            <a:pathLst>
              <a:path w="855345" h="542925">
                <a:moveTo>
                  <a:pt x="0" y="54228"/>
                </a:moveTo>
                <a:lnTo>
                  <a:pt x="4258" y="33111"/>
                </a:lnTo>
                <a:lnTo>
                  <a:pt x="15875" y="15875"/>
                </a:lnTo>
                <a:lnTo>
                  <a:pt x="33111" y="4258"/>
                </a:lnTo>
                <a:lnTo>
                  <a:pt x="54228" y="0"/>
                </a:lnTo>
                <a:lnTo>
                  <a:pt x="800735" y="0"/>
                </a:lnTo>
                <a:lnTo>
                  <a:pt x="821852" y="4258"/>
                </a:lnTo>
                <a:lnTo>
                  <a:pt x="839089" y="15875"/>
                </a:lnTo>
                <a:lnTo>
                  <a:pt x="850705" y="33111"/>
                </a:lnTo>
                <a:lnTo>
                  <a:pt x="854964" y="54228"/>
                </a:lnTo>
                <a:lnTo>
                  <a:pt x="854964" y="488315"/>
                </a:lnTo>
                <a:lnTo>
                  <a:pt x="850705" y="509432"/>
                </a:lnTo>
                <a:lnTo>
                  <a:pt x="839089" y="526669"/>
                </a:lnTo>
                <a:lnTo>
                  <a:pt x="821852" y="538285"/>
                </a:lnTo>
                <a:lnTo>
                  <a:pt x="800735" y="542544"/>
                </a:lnTo>
                <a:lnTo>
                  <a:pt x="54228" y="542544"/>
                </a:lnTo>
                <a:lnTo>
                  <a:pt x="33111" y="538285"/>
                </a:lnTo>
                <a:lnTo>
                  <a:pt x="15875" y="526669"/>
                </a:lnTo>
                <a:lnTo>
                  <a:pt x="4258" y="509432"/>
                </a:lnTo>
                <a:lnTo>
                  <a:pt x="0" y="488315"/>
                </a:lnTo>
                <a:lnTo>
                  <a:pt x="0" y="54228"/>
                </a:lnTo>
                <a:close/>
              </a:path>
            </a:pathLst>
          </a:custGeom>
          <a:ln w="12192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35694" y="3584576"/>
            <a:ext cx="5930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5" dirty="0">
                <a:solidFill>
                  <a:prstClr val="black"/>
                </a:solidFill>
                <a:latin typeface="Times New Roman"/>
                <a:cs typeface="Times New Roman"/>
              </a:rPr>
              <a:t>Recording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89592" y="3457956"/>
            <a:ext cx="853440" cy="542925"/>
          </a:xfrm>
          <a:custGeom>
            <a:avLst/>
            <a:gdLst/>
            <a:ahLst/>
            <a:cxnLst/>
            <a:rect l="l" t="t" r="r" b="b"/>
            <a:pathLst>
              <a:path w="853440" h="542925">
                <a:moveTo>
                  <a:pt x="0" y="54229"/>
                </a:moveTo>
                <a:lnTo>
                  <a:pt x="4258" y="33111"/>
                </a:lnTo>
                <a:lnTo>
                  <a:pt x="15875" y="15875"/>
                </a:lnTo>
                <a:lnTo>
                  <a:pt x="33111" y="4258"/>
                </a:lnTo>
                <a:lnTo>
                  <a:pt x="54228" y="0"/>
                </a:lnTo>
                <a:lnTo>
                  <a:pt x="799210" y="0"/>
                </a:lnTo>
                <a:lnTo>
                  <a:pt x="820328" y="4258"/>
                </a:lnTo>
                <a:lnTo>
                  <a:pt x="837564" y="15875"/>
                </a:lnTo>
                <a:lnTo>
                  <a:pt x="849181" y="33111"/>
                </a:lnTo>
                <a:lnTo>
                  <a:pt x="853439" y="54229"/>
                </a:lnTo>
                <a:lnTo>
                  <a:pt x="853439" y="488315"/>
                </a:lnTo>
                <a:lnTo>
                  <a:pt x="849181" y="509432"/>
                </a:lnTo>
                <a:lnTo>
                  <a:pt x="837564" y="526669"/>
                </a:lnTo>
                <a:lnTo>
                  <a:pt x="820328" y="538285"/>
                </a:lnTo>
                <a:lnTo>
                  <a:pt x="799210" y="542544"/>
                </a:lnTo>
                <a:lnTo>
                  <a:pt x="54228" y="542544"/>
                </a:lnTo>
                <a:lnTo>
                  <a:pt x="33111" y="538285"/>
                </a:lnTo>
                <a:lnTo>
                  <a:pt x="15875" y="526669"/>
                </a:lnTo>
                <a:lnTo>
                  <a:pt x="4258" y="509432"/>
                </a:lnTo>
                <a:lnTo>
                  <a:pt x="0" y="488315"/>
                </a:lnTo>
                <a:lnTo>
                  <a:pt x="0" y="54229"/>
                </a:lnTo>
                <a:close/>
              </a:path>
            </a:pathLst>
          </a:custGeom>
          <a:ln w="12192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98812" y="3616198"/>
            <a:ext cx="63690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b="1" spc="-3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000" b="1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000" b="1" spc="5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000" b="1" spc="10" dirty="0">
                <a:solidFill>
                  <a:prstClr val="black"/>
                </a:solidFill>
                <a:latin typeface="Times New Roman"/>
                <a:cs typeface="Times New Roman"/>
              </a:rPr>
              <a:t>eg</a:t>
            </a:r>
            <a:r>
              <a:rPr sz="1000" b="1" spc="-4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000" b="1" spc="-20" dirty="0">
                <a:solidFill>
                  <a:prstClr val="black"/>
                </a:solidFill>
                <a:latin typeface="Times New Roman"/>
                <a:cs typeface="Times New Roman"/>
              </a:rPr>
              <a:t>at</a:t>
            </a:r>
            <a:r>
              <a:rPr sz="1000" b="1" spc="5" dirty="0">
                <a:solidFill>
                  <a:prstClr val="black"/>
                </a:solidFill>
                <a:latin typeface="Times New Roman"/>
                <a:cs typeface="Times New Roman"/>
              </a:rPr>
              <a:t>ing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31810" y="4116071"/>
            <a:ext cx="1913255" cy="962025"/>
            <a:chOff x="6607809" y="4116070"/>
            <a:chExt cx="1913255" cy="962025"/>
          </a:xfrm>
        </p:grpSpPr>
        <p:sp>
          <p:nvSpPr>
            <p:cNvPr id="26" name="object 26"/>
            <p:cNvSpPr/>
            <p:nvPr/>
          </p:nvSpPr>
          <p:spPr>
            <a:xfrm>
              <a:off x="6614159" y="4735068"/>
              <a:ext cx="1900555" cy="337185"/>
            </a:xfrm>
            <a:custGeom>
              <a:avLst/>
              <a:gdLst/>
              <a:ahLst/>
              <a:cxnLst/>
              <a:rect l="l" t="t" r="r" b="b"/>
              <a:pathLst>
                <a:path w="1900554" h="337185">
                  <a:moveTo>
                    <a:pt x="964692" y="0"/>
                  </a:moveTo>
                  <a:lnTo>
                    <a:pt x="964692" y="229361"/>
                  </a:lnTo>
                  <a:lnTo>
                    <a:pt x="1900301" y="229361"/>
                  </a:lnTo>
                  <a:lnTo>
                    <a:pt x="1900301" y="336676"/>
                  </a:lnTo>
                </a:path>
                <a:path w="1900554" h="337185">
                  <a:moveTo>
                    <a:pt x="965200" y="0"/>
                  </a:moveTo>
                  <a:lnTo>
                    <a:pt x="965200" y="229361"/>
                  </a:lnTo>
                  <a:lnTo>
                    <a:pt x="935736" y="229361"/>
                  </a:lnTo>
                  <a:lnTo>
                    <a:pt x="935736" y="336676"/>
                  </a:lnTo>
                </a:path>
                <a:path w="1900554" h="337185">
                  <a:moveTo>
                    <a:pt x="965073" y="0"/>
                  </a:moveTo>
                  <a:lnTo>
                    <a:pt x="965073" y="229361"/>
                  </a:lnTo>
                  <a:lnTo>
                    <a:pt x="0" y="229361"/>
                  </a:lnTo>
                  <a:lnTo>
                    <a:pt x="0" y="336676"/>
                  </a:lnTo>
                </a:path>
              </a:pathLst>
            </a:custGeom>
            <a:ln w="12192">
              <a:solidFill>
                <a:srgbClr val="A8380F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129271" y="4122420"/>
              <a:ext cx="1158240" cy="736600"/>
            </a:xfrm>
            <a:custGeom>
              <a:avLst/>
              <a:gdLst/>
              <a:ahLst/>
              <a:cxnLst/>
              <a:rect l="l" t="t" r="r" b="b"/>
              <a:pathLst>
                <a:path w="1158240" h="736600">
                  <a:moveTo>
                    <a:pt x="1084579" y="0"/>
                  </a:moveTo>
                  <a:lnTo>
                    <a:pt x="73659" y="0"/>
                  </a:lnTo>
                  <a:lnTo>
                    <a:pt x="44952" y="5776"/>
                  </a:lnTo>
                  <a:lnTo>
                    <a:pt x="21542" y="21542"/>
                  </a:lnTo>
                  <a:lnTo>
                    <a:pt x="5776" y="44952"/>
                  </a:lnTo>
                  <a:lnTo>
                    <a:pt x="0" y="73659"/>
                  </a:lnTo>
                  <a:lnTo>
                    <a:pt x="0" y="662431"/>
                  </a:lnTo>
                  <a:lnTo>
                    <a:pt x="5776" y="691086"/>
                  </a:lnTo>
                  <a:lnTo>
                    <a:pt x="21542" y="714501"/>
                  </a:lnTo>
                  <a:lnTo>
                    <a:pt x="44952" y="730297"/>
                  </a:lnTo>
                  <a:lnTo>
                    <a:pt x="73659" y="736091"/>
                  </a:lnTo>
                  <a:lnTo>
                    <a:pt x="1084579" y="736091"/>
                  </a:lnTo>
                  <a:lnTo>
                    <a:pt x="1113234" y="730315"/>
                  </a:lnTo>
                  <a:lnTo>
                    <a:pt x="1136650" y="714549"/>
                  </a:lnTo>
                  <a:lnTo>
                    <a:pt x="1152445" y="691139"/>
                  </a:lnTo>
                  <a:lnTo>
                    <a:pt x="1158239" y="662431"/>
                  </a:lnTo>
                  <a:lnTo>
                    <a:pt x="1158239" y="73659"/>
                  </a:lnTo>
                  <a:lnTo>
                    <a:pt x="1152463" y="44952"/>
                  </a:lnTo>
                  <a:lnTo>
                    <a:pt x="1136697" y="21542"/>
                  </a:lnTo>
                  <a:lnTo>
                    <a:pt x="1113287" y="5776"/>
                  </a:lnTo>
                  <a:lnTo>
                    <a:pt x="108457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129271" y="4122420"/>
              <a:ext cx="1158240" cy="736600"/>
            </a:xfrm>
            <a:custGeom>
              <a:avLst/>
              <a:gdLst/>
              <a:ahLst/>
              <a:cxnLst/>
              <a:rect l="l" t="t" r="r" b="b"/>
              <a:pathLst>
                <a:path w="1158240" h="736600">
                  <a:moveTo>
                    <a:pt x="0" y="73659"/>
                  </a:moveTo>
                  <a:lnTo>
                    <a:pt x="5776" y="44952"/>
                  </a:lnTo>
                  <a:lnTo>
                    <a:pt x="21542" y="21542"/>
                  </a:lnTo>
                  <a:lnTo>
                    <a:pt x="44952" y="5776"/>
                  </a:lnTo>
                  <a:lnTo>
                    <a:pt x="73659" y="0"/>
                  </a:lnTo>
                  <a:lnTo>
                    <a:pt x="1084579" y="0"/>
                  </a:lnTo>
                  <a:lnTo>
                    <a:pt x="1113287" y="5776"/>
                  </a:lnTo>
                  <a:lnTo>
                    <a:pt x="1136697" y="21542"/>
                  </a:lnTo>
                  <a:lnTo>
                    <a:pt x="1152463" y="44952"/>
                  </a:lnTo>
                  <a:lnTo>
                    <a:pt x="1158239" y="73659"/>
                  </a:lnTo>
                  <a:lnTo>
                    <a:pt x="1158239" y="662431"/>
                  </a:lnTo>
                  <a:lnTo>
                    <a:pt x="1152445" y="691139"/>
                  </a:lnTo>
                  <a:lnTo>
                    <a:pt x="1136650" y="714549"/>
                  </a:lnTo>
                  <a:lnTo>
                    <a:pt x="1113234" y="730315"/>
                  </a:lnTo>
                  <a:lnTo>
                    <a:pt x="1084579" y="736091"/>
                  </a:lnTo>
                  <a:lnTo>
                    <a:pt x="73659" y="736091"/>
                  </a:lnTo>
                  <a:lnTo>
                    <a:pt x="44952" y="730297"/>
                  </a:lnTo>
                  <a:lnTo>
                    <a:pt x="21542" y="714501"/>
                  </a:lnTo>
                  <a:lnTo>
                    <a:pt x="5776" y="691086"/>
                  </a:lnTo>
                  <a:lnTo>
                    <a:pt x="0" y="662431"/>
                  </a:lnTo>
                  <a:lnTo>
                    <a:pt x="0" y="73659"/>
                  </a:lnTo>
                  <a:close/>
                </a:path>
              </a:pathLst>
            </a:custGeom>
            <a:ln w="12192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716771" y="4245356"/>
            <a:ext cx="1032510" cy="40395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474345" marR="5080" indent="-462280">
              <a:lnSpc>
                <a:spcPts val="1440"/>
              </a:lnSpc>
              <a:spcBef>
                <a:spcPts val="350"/>
              </a:spcBef>
            </a:pPr>
            <a:r>
              <a:rPr sz="1400" b="1" spc="-65" dirty="0">
                <a:solidFill>
                  <a:prstClr val="black"/>
                </a:solidFill>
                <a:latin typeface="Times New Roman"/>
                <a:cs typeface="Times New Roman"/>
              </a:rPr>
              <a:t>Cla</a:t>
            </a:r>
            <a:r>
              <a:rPr sz="1400" b="1" spc="-40" dirty="0">
                <a:solidFill>
                  <a:prstClr val="black"/>
                </a:solidFill>
                <a:latin typeface="Times New Roman"/>
                <a:cs typeface="Times New Roman"/>
              </a:rPr>
              <a:t>s</a:t>
            </a:r>
            <a:r>
              <a:rPr sz="1400" b="1" spc="-20" dirty="0">
                <a:solidFill>
                  <a:prstClr val="black"/>
                </a:solidFill>
                <a:latin typeface="Times New Roman"/>
                <a:cs typeface="Times New Roman"/>
              </a:rPr>
              <a:t>si</a:t>
            </a:r>
            <a:r>
              <a:rPr sz="1400" b="1" spc="-15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r>
              <a:rPr sz="1400" b="1" dirty="0">
                <a:solidFill>
                  <a:prstClr val="black"/>
                </a:solidFill>
                <a:latin typeface="Times New Roman"/>
                <a:cs typeface="Times New Roman"/>
              </a:rPr>
              <a:t>ic</a:t>
            </a:r>
            <a:r>
              <a:rPr sz="1400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sz="1400" b="1" spc="15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400" b="1" spc="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400" b="1" spc="40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400" b="1" spc="5" dirty="0">
                <a:solidFill>
                  <a:prstClr val="black"/>
                </a:solidFill>
                <a:latin typeface="Times New Roman"/>
                <a:cs typeface="Times New Roman"/>
              </a:rPr>
              <a:t>n  </a:t>
            </a:r>
            <a:r>
              <a:rPr sz="1400" b="1" spc="-60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810247" y="5065521"/>
            <a:ext cx="785495" cy="629920"/>
            <a:chOff x="6286246" y="5065521"/>
            <a:chExt cx="785495" cy="629920"/>
          </a:xfrm>
        </p:grpSpPr>
        <p:sp>
          <p:nvSpPr>
            <p:cNvPr id="31" name="object 31"/>
            <p:cNvSpPr/>
            <p:nvPr/>
          </p:nvSpPr>
          <p:spPr>
            <a:xfrm>
              <a:off x="6292596" y="5071871"/>
              <a:ext cx="643255" cy="495300"/>
            </a:xfrm>
            <a:custGeom>
              <a:avLst/>
              <a:gdLst/>
              <a:ahLst/>
              <a:cxnLst/>
              <a:rect l="l" t="t" r="r" b="b"/>
              <a:pathLst>
                <a:path w="643254" h="495300">
                  <a:moveTo>
                    <a:pt x="0" y="49529"/>
                  </a:moveTo>
                  <a:lnTo>
                    <a:pt x="3899" y="30271"/>
                  </a:lnTo>
                  <a:lnTo>
                    <a:pt x="14525" y="14525"/>
                  </a:lnTo>
                  <a:lnTo>
                    <a:pt x="30271" y="3899"/>
                  </a:lnTo>
                  <a:lnTo>
                    <a:pt x="49529" y="0"/>
                  </a:lnTo>
                  <a:lnTo>
                    <a:pt x="593598" y="0"/>
                  </a:lnTo>
                  <a:lnTo>
                    <a:pt x="612856" y="3899"/>
                  </a:lnTo>
                  <a:lnTo>
                    <a:pt x="628602" y="14525"/>
                  </a:lnTo>
                  <a:lnTo>
                    <a:pt x="639228" y="30271"/>
                  </a:lnTo>
                  <a:lnTo>
                    <a:pt x="643127" y="49529"/>
                  </a:lnTo>
                  <a:lnTo>
                    <a:pt x="643127" y="445769"/>
                  </a:lnTo>
                  <a:lnTo>
                    <a:pt x="639228" y="465028"/>
                  </a:lnTo>
                  <a:lnTo>
                    <a:pt x="628602" y="480774"/>
                  </a:lnTo>
                  <a:lnTo>
                    <a:pt x="612856" y="491400"/>
                  </a:lnTo>
                  <a:lnTo>
                    <a:pt x="593598" y="495299"/>
                  </a:lnTo>
                  <a:lnTo>
                    <a:pt x="49529" y="495299"/>
                  </a:lnTo>
                  <a:lnTo>
                    <a:pt x="30271" y="491400"/>
                  </a:lnTo>
                  <a:lnTo>
                    <a:pt x="14525" y="480774"/>
                  </a:lnTo>
                  <a:lnTo>
                    <a:pt x="3899" y="465028"/>
                  </a:lnTo>
                  <a:lnTo>
                    <a:pt x="0" y="445769"/>
                  </a:lnTo>
                  <a:lnTo>
                    <a:pt x="0" y="4952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420612" y="5195315"/>
              <a:ext cx="645160" cy="494030"/>
            </a:xfrm>
            <a:custGeom>
              <a:avLst/>
              <a:gdLst/>
              <a:ahLst/>
              <a:cxnLst/>
              <a:rect l="l" t="t" r="r" b="b"/>
              <a:pathLst>
                <a:path w="645159" h="494029">
                  <a:moveTo>
                    <a:pt x="595248" y="0"/>
                  </a:moveTo>
                  <a:lnTo>
                    <a:pt x="49402" y="0"/>
                  </a:lnTo>
                  <a:lnTo>
                    <a:pt x="30164" y="3879"/>
                  </a:lnTo>
                  <a:lnTo>
                    <a:pt x="14462" y="14462"/>
                  </a:lnTo>
                  <a:lnTo>
                    <a:pt x="3879" y="30164"/>
                  </a:lnTo>
                  <a:lnTo>
                    <a:pt x="0" y="49402"/>
                  </a:lnTo>
                  <a:lnTo>
                    <a:pt x="0" y="444398"/>
                  </a:lnTo>
                  <a:lnTo>
                    <a:pt x="3879" y="463616"/>
                  </a:lnTo>
                  <a:lnTo>
                    <a:pt x="14462" y="479312"/>
                  </a:lnTo>
                  <a:lnTo>
                    <a:pt x="30164" y="489895"/>
                  </a:lnTo>
                  <a:lnTo>
                    <a:pt x="49402" y="493775"/>
                  </a:lnTo>
                  <a:lnTo>
                    <a:pt x="595248" y="493775"/>
                  </a:lnTo>
                  <a:lnTo>
                    <a:pt x="614487" y="489895"/>
                  </a:lnTo>
                  <a:lnTo>
                    <a:pt x="630189" y="479312"/>
                  </a:lnTo>
                  <a:lnTo>
                    <a:pt x="640772" y="463616"/>
                  </a:lnTo>
                  <a:lnTo>
                    <a:pt x="644652" y="444398"/>
                  </a:lnTo>
                  <a:lnTo>
                    <a:pt x="644652" y="49402"/>
                  </a:lnTo>
                  <a:lnTo>
                    <a:pt x="640772" y="30164"/>
                  </a:lnTo>
                  <a:lnTo>
                    <a:pt x="630189" y="14462"/>
                  </a:lnTo>
                  <a:lnTo>
                    <a:pt x="614487" y="3879"/>
                  </a:lnTo>
                  <a:lnTo>
                    <a:pt x="59524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420612" y="5195315"/>
              <a:ext cx="645160" cy="494030"/>
            </a:xfrm>
            <a:custGeom>
              <a:avLst/>
              <a:gdLst/>
              <a:ahLst/>
              <a:cxnLst/>
              <a:rect l="l" t="t" r="r" b="b"/>
              <a:pathLst>
                <a:path w="645159" h="494029">
                  <a:moveTo>
                    <a:pt x="0" y="49402"/>
                  </a:moveTo>
                  <a:lnTo>
                    <a:pt x="3879" y="30164"/>
                  </a:lnTo>
                  <a:lnTo>
                    <a:pt x="14462" y="14462"/>
                  </a:lnTo>
                  <a:lnTo>
                    <a:pt x="30164" y="3879"/>
                  </a:lnTo>
                  <a:lnTo>
                    <a:pt x="49402" y="0"/>
                  </a:lnTo>
                  <a:lnTo>
                    <a:pt x="595248" y="0"/>
                  </a:lnTo>
                  <a:lnTo>
                    <a:pt x="614487" y="3879"/>
                  </a:lnTo>
                  <a:lnTo>
                    <a:pt x="630189" y="14462"/>
                  </a:lnTo>
                  <a:lnTo>
                    <a:pt x="640772" y="30164"/>
                  </a:lnTo>
                  <a:lnTo>
                    <a:pt x="644652" y="49402"/>
                  </a:lnTo>
                  <a:lnTo>
                    <a:pt x="644652" y="444398"/>
                  </a:lnTo>
                  <a:lnTo>
                    <a:pt x="640772" y="463616"/>
                  </a:lnTo>
                  <a:lnTo>
                    <a:pt x="630189" y="479312"/>
                  </a:lnTo>
                  <a:lnTo>
                    <a:pt x="614487" y="489895"/>
                  </a:lnTo>
                  <a:lnTo>
                    <a:pt x="595248" y="493775"/>
                  </a:lnTo>
                  <a:lnTo>
                    <a:pt x="49402" y="493775"/>
                  </a:lnTo>
                  <a:lnTo>
                    <a:pt x="30164" y="489895"/>
                  </a:lnTo>
                  <a:lnTo>
                    <a:pt x="14462" y="479312"/>
                  </a:lnTo>
                  <a:lnTo>
                    <a:pt x="3879" y="463616"/>
                  </a:lnTo>
                  <a:lnTo>
                    <a:pt x="0" y="444398"/>
                  </a:lnTo>
                  <a:lnTo>
                    <a:pt x="0" y="49402"/>
                  </a:lnTo>
                  <a:close/>
                </a:path>
              </a:pathLst>
            </a:custGeom>
            <a:ln w="12192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142859" y="5288660"/>
            <a:ext cx="2457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50" dirty="0">
                <a:solidFill>
                  <a:prstClr val="black"/>
                </a:solidFill>
                <a:latin typeface="Times New Roman"/>
                <a:cs typeface="Times New Roman"/>
              </a:rPr>
              <a:t>AC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846820" y="5195316"/>
            <a:ext cx="711835" cy="353695"/>
          </a:xfrm>
          <a:custGeom>
            <a:avLst/>
            <a:gdLst/>
            <a:ahLst/>
            <a:cxnLst/>
            <a:rect l="l" t="t" r="r" b="b"/>
            <a:pathLst>
              <a:path w="711834" h="353695">
                <a:moveTo>
                  <a:pt x="0" y="35305"/>
                </a:moveTo>
                <a:lnTo>
                  <a:pt x="2784" y="21591"/>
                </a:lnTo>
                <a:lnTo>
                  <a:pt x="10366" y="10366"/>
                </a:lnTo>
                <a:lnTo>
                  <a:pt x="21591" y="2784"/>
                </a:lnTo>
                <a:lnTo>
                  <a:pt x="35305" y="0"/>
                </a:lnTo>
                <a:lnTo>
                  <a:pt x="676401" y="0"/>
                </a:lnTo>
                <a:lnTo>
                  <a:pt x="690116" y="2784"/>
                </a:lnTo>
                <a:lnTo>
                  <a:pt x="701341" y="10366"/>
                </a:lnTo>
                <a:lnTo>
                  <a:pt x="708923" y="21591"/>
                </a:lnTo>
                <a:lnTo>
                  <a:pt x="711707" y="35305"/>
                </a:lnTo>
                <a:lnTo>
                  <a:pt x="711707" y="318261"/>
                </a:lnTo>
                <a:lnTo>
                  <a:pt x="708923" y="331976"/>
                </a:lnTo>
                <a:lnTo>
                  <a:pt x="701341" y="343201"/>
                </a:lnTo>
                <a:lnTo>
                  <a:pt x="690116" y="350783"/>
                </a:lnTo>
                <a:lnTo>
                  <a:pt x="676401" y="353567"/>
                </a:lnTo>
                <a:lnTo>
                  <a:pt x="35305" y="353567"/>
                </a:lnTo>
                <a:lnTo>
                  <a:pt x="21591" y="350783"/>
                </a:lnTo>
                <a:lnTo>
                  <a:pt x="10366" y="343201"/>
                </a:lnTo>
                <a:lnTo>
                  <a:pt x="2784" y="331976"/>
                </a:lnTo>
                <a:lnTo>
                  <a:pt x="0" y="318261"/>
                </a:lnTo>
                <a:lnTo>
                  <a:pt x="0" y="35305"/>
                </a:lnTo>
                <a:close/>
              </a:path>
            </a:pathLst>
          </a:custGeom>
          <a:ln w="12192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72118" y="5218938"/>
            <a:ext cx="2628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80" dirty="0">
                <a:solidFill>
                  <a:prstClr val="black"/>
                </a:solidFill>
                <a:latin typeface="Times New Roman"/>
                <a:cs typeface="Times New Roman"/>
              </a:rPr>
              <a:t>DC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816084" y="5195315"/>
            <a:ext cx="702945" cy="591820"/>
          </a:xfrm>
          <a:custGeom>
            <a:avLst/>
            <a:gdLst/>
            <a:ahLst/>
            <a:cxnLst/>
            <a:rect l="l" t="t" r="r" b="b"/>
            <a:pathLst>
              <a:path w="702945" h="591820">
                <a:moveTo>
                  <a:pt x="0" y="59181"/>
                </a:moveTo>
                <a:lnTo>
                  <a:pt x="4639" y="36111"/>
                </a:lnTo>
                <a:lnTo>
                  <a:pt x="17303" y="17303"/>
                </a:lnTo>
                <a:lnTo>
                  <a:pt x="36111" y="4639"/>
                </a:lnTo>
                <a:lnTo>
                  <a:pt x="59182" y="0"/>
                </a:lnTo>
                <a:lnTo>
                  <a:pt x="643382" y="0"/>
                </a:lnTo>
                <a:lnTo>
                  <a:pt x="666452" y="4639"/>
                </a:lnTo>
                <a:lnTo>
                  <a:pt x="685260" y="17303"/>
                </a:lnTo>
                <a:lnTo>
                  <a:pt x="697924" y="36111"/>
                </a:lnTo>
                <a:lnTo>
                  <a:pt x="702564" y="59181"/>
                </a:lnTo>
                <a:lnTo>
                  <a:pt x="702564" y="532180"/>
                </a:lnTo>
                <a:lnTo>
                  <a:pt x="697924" y="555194"/>
                </a:lnTo>
                <a:lnTo>
                  <a:pt x="685260" y="573990"/>
                </a:lnTo>
                <a:lnTo>
                  <a:pt x="666452" y="586664"/>
                </a:lnTo>
                <a:lnTo>
                  <a:pt x="643382" y="591311"/>
                </a:lnTo>
                <a:lnTo>
                  <a:pt x="59182" y="591311"/>
                </a:lnTo>
                <a:lnTo>
                  <a:pt x="36111" y="586664"/>
                </a:lnTo>
                <a:lnTo>
                  <a:pt x="17303" y="573990"/>
                </a:lnTo>
                <a:lnTo>
                  <a:pt x="4639" y="555194"/>
                </a:lnTo>
                <a:lnTo>
                  <a:pt x="0" y="532180"/>
                </a:lnTo>
                <a:lnTo>
                  <a:pt x="0" y="59181"/>
                </a:lnTo>
                <a:close/>
              </a:path>
            </a:pathLst>
          </a:custGeom>
          <a:ln w="12192">
            <a:solidFill>
              <a:srgbClr val="D2471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878695" y="5337428"/>
            <a:ext cx="5822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14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Times New Roman"/>
                <a:cs typeface="Times New Roman"/>
              </a:rPr>
              <a:t>C/DC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54733" y="6329531"/>
            <a:ext cx="2870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140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5136" y="1330315"/>
            <a:ext cx="7220941" cy="4282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375"/>
              </a:lnSpc>
              <a:spcBef>
                <a:spcPts val="9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30" dirty="0">
                <a:solidFill>
                  <a:prstClr val="black"/>
                </a:solidFill>
                <a:latin typeface="Times New Roman"/>
                <a:cs typeface="Times New Roman"/>
              </a:rPr>
              <a:t>Current, </a:t>
            </a:r>
            <a:r>
              <a:rPr sz="2200" spc="-100" dirty="0">
                <a:solidFill>
                  <a:prstClr val="black"/>
                </a:solidFill>
                <a:latin typeface="Times New Roman"/>
                <a:cs typeface="Times New Roman"/>
              </a:rPr>
              <a:t>voltage, </a:t>
            </a:r>
            <a:r>
              <a:rPr sz="2200" spc="-105" dirty="0">
                <a:solidFill>
                  <a:prstClr val="black"/>
                </a:solidFill>
                <a:latin typeface="Times New Roman"/>
                <a:cs typeface="Times New Roman"/>
              </a:rPr>
              <a:t>power, </a:t>
            </a:r>
            <a:r>
              <a:rPr sz="2200" spc="-40" dirty="0">
                <a:solidFill>
                  <a:prstClr val="black"/>
                </a:solidFill>
                <a:latin typeface="Times New Roman"/>
                <a:cs typeface="Times New Roman"/>
              </a:rPr>
              <a:t>etc. </a:t>
            </a:r>
            <a:r>
              <a:rPr sz="2200" spc="-65" dirty="0">
                <a:solidFill>
                  <a:prstClr val="black"/>
                </a:solidFill>
                <a:latin typeface="Times New Roman"/>
                <a:cs typeface="Times New Roman"/>
              </a:rPr>
              <a:t>Not </a:t>
            </a:r>
            <a:r>
              <a:rPr sz="2200" spc="-130" dirty="0">
                <a:solidFill>
                  <a:prstClr val="black"/>
                </a:solidFill>
                <a:latin typeface="Times New Roman"/>
                <a:cs typeface="Times New Roman"/>
              </a:rPr>
              <a:t>visible </a:t>
            </a:r>
            <a:r>
              <a:rPr sz="2200" spc="-4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2200" spc="-155" dirty="0">
                <a:solidFill>
                  <a:prstClr val="black"/>
                </a:solidFill>
                <a:latin typeface="Times New Roman"/>
                <a:cs typeface="Times New Roman"/>
              </a:rPr>
              <a:t>eyes</a:t>
            </a:r>
            <a:r>
              <a:rPr sz="2200" spc="-2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365" dirty="0">
                <a:solidFill>
                  <a:prstClr val="black"/>
                </a:solidFill>
                <a:latin typeface="Times New Roman"/>
                <a:cs typeface="Times New Roman"/>
              </a:rPr>
              <a:t>&amp;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6385">
              <a:lnSpc>
                <a:spcPts val="2375"/>
              </a:lnSpc>
            </a:pPr>
            <a:r>
              <a:rPr sz="2200" spc="-100" dirty="0">
                <a:solidFill>
                  <a:prstClr val="black"/>
                </a:solidFill>
                <a:latin typeface="Times New Roman"/>
                <a:cs typeface="Times New Roman"/>
              </a:rPr>
              <a:t>must be </a:t>
            </a:r>
            <a:r>
              <a:rPr sz="2200" spc="-105" dirty="0">
                <a:solidFill>
                  <a:prstClr val="black"/>
                </a:solidFill>
                <a:latin typeface="Times New Roman"/>
                <a:cs typeface="Times New Roman"/>
              </a:rPr>
              <a:t>measured </a:t>
            </a:r>
            <a:r>
              <a:rPr sz="2200" spc="-130" dirty="0">
                <a:solidFill>
                  <a:prstClr val="black"/>
                </a:solidFill>
                <a:latin typeface="Times New Roman"/>
                <a:cs typeface="Times New Roman"/>
              </a:rPr>
              <a:t>using</a:t>
            </a:r>
            <a:r>
              <a:rPr sz="2200" spc="1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solidFill>
                  <a:prstClr val="black"/>
                </a:solidFill>
                <a:latin typeface="Times New Roman"/>
                <a:cs typeface="Times New Roman"/>
              </a:rPr>
              <a:t>meters.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lnSpc>
                <a:spcPts val="261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Classification</a:t>
            </a:r>
            <a:r>
              <a:rPr sz="2200" spc="-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marR="53340" lvl="1" indent="-228600">
              <a:lnSpc>
                <a:spcPts val="1920"/>
              </a:lnSpc>
              <a:spcBef>
                <a:spcPts val="430"/>
              </a:spcBef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Absolute: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Quantity </a:t>
            </a:r>
            <a:r>
              <a:rPr sz="2000" spc="-130" dirty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measured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in </a:t>
            </a:r>
            <a:r>
              <a:rPr sz="2000" spc="-50" dirty="0">
                <a:solidFill>
                  <a:prstClr val="black"/>
                </a:solidFill>
                <a:latin typeface="Times New Roman"/>
                <a:cs typeface="Times New Roman"/>
              </a:rPr>
              <a:t>terms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instrument 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constant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and</a:t>
            </a:r>
            <a:r>
              <a:rPr sz="2000" spc="-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deflection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2105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Secondary: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Calibrated </a:t>
            </a: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using </a:t>
            </a:r>
            <a:r>
              <a:rPr sz="2000" spc="-105" dirty="0">
                <a:solidFill>
                  <a:prstClr val="black"/>
                </a:solidFill>
                <a:latin typeface="Times New Roman"/>
                <a:cs typeface="Times New Roman"/>
              </a:rPr>
              <a:t>Absolute </a:t>
            </a:r>
            <a:r>
              <a:rPr sz="2000" spc="-45" dirty="0">
                <a:solidFill>
                  <a:prstClr val="black"/>
                </a:solidFill>
                <a:latin typeface="Times New Roman"/>
                <a:cs typeface="Times New Roman"/>
              </a:rPr>
              <a:t>instrument.</a:t>
            </a:r>
            <a:r>
              <a:rPr sz="2000" spc="-2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125" dirty="0">
                <a:solidFill>
                  <a:prstClr val="black"/>
                </a:solidFill>
                <a:latin typeface="Times New Roman"/>
                <a:cs typeface="Times New Roman"/>
              </a:rPr>
              <a:t>Give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>
              <a:lnSpc>
                <a:spcPts val="2160"/>
              </a:lnSpc>
            </a:pP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measurement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directly.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lvl="2" indent="-228600">
              <a:lnSpc>
                <a:spcPts val="2035"/>
              </a:lnSpc>
              <a:spcBef>
                <a:spcPts val="15"/>
              </a:spcBef>
              <a:buClr>
                <a:srgbClr val="E6B0AB"/>
              </a:buClr>
              <a:buSzPct val="85294"/>
              <a:buFont typeface="UnDotum"/>
              <a:buChar char=""/>
              <a:tabLst>
                <a:tab pos="835025" algn="l"/>
                <a:tab pos="835660" algn="l"/>
              </a:tabLst>
            </a:pPr>
            <a:r>
              <a:rPr sz="1700" spc="-80" dirty="0">
                <a:solidFill>
                  <a:prstClr val="black"/>
                </a:solidFill>
                <a:latin typeface="Times New Roman"/>
                <a:cs typeface="Times New Roman"/>
              </a:rPr>
              <a:t>Indicating: </a:t>
            </a:r>
            <a:r>
              <a:rPr sz="1700" spc="-85" dirty="0">
                <a:solidFill>
                  <a:prstClr val="black"/>
                </a:solidFill>
                <a:latin typeface="Times New Roman"/>
                <a:cs typeface="Times New Roman"/>
              </a:rPr>
              <a:t>magnitude </a:t>
            </a:r>
            <a:r>
              <a:rPr sz="1700" spc="-75" dirty="0">
                <a:solidFill>
                  <a:prstClr val="black"/>
                </a:solidFill>
                <a:latin typeface="Times New Roman"/>
                <a:cs typeface="Times New Roman"/>
              </a:rPr>
              <a:t>indicated</a:t>
            </a:r>
            <a:r>
              <a:rPr sz="1700" spc="-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spc="-70" dirty="0">
                <a:solidFill>
                  <a:prstClr val="black"/>
                </a:solidFill>
                <a:latin typeface="Times New Roman"/>
                <a:cs typeface="Times New Roman"/>
              </a:rPr>
              <a:t>directly</a:t>
            </a:r>
            <a:endParaRPr sz="1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5080" lvl="2" indent="-228600">
              <a:lnSpc>
                <a:spcPct val="80000"/>
              </a:lnSpc>
              <a:spcBef>
                <a:spcPts val="400"/>
              </a:spcBef>
              <a:buClr>
                <a:srgbClr val="E6B0AB"/>
              </a:buClr>
              <a:buSzPct val="85294"/>
              <a:buFont typeface="UnDotum"/>
              <a:buChar char=""/>
              <a:tabLst>
                <a:tab pos="835025" algn="l"/>
                <a:tab pos="835660" algn="l"/>
              </a:tabLst>
            </a:pPr>
            <a:r>
              <a:rPr sz="1700" spc="-70" dirty="0">
                <a:solidFill>
                  <a:prstClr val="black"/>
                </a:solidFill>
                <a:latin typeface="Times New Roman"/>
                <a:cs typeface="Times New Roman"/>
              </a:rPr>
              <a:t>Recording: </a:t>
            </a:r>
            <a:r>
              <a:rPr sz="1700" spc="-75" dirty="0">
                <a:solidFill>
                  <a:prstClr val="black"/>
                </a:solidFill>
                <a:latin typeface="Times New Roman"/>
                <a:cs typeface="Times New Roman"/>
              </a:rPr>
              <a:t>continuous </a:t>
            </a:r>
            <a:r>
              <a:rPr sz="1700" spc="-45" dirty="0">
                <a:solidFill>
                  <a:prstClr val="black"/>
                </a:solidFill>
                <a:latin typeface="Times New Roman"/>
                <a:cs typeface="Times New Roman"/>
              </a:rPr>
              <a:t>record </a:t>
            </a:r>
            <a:r>
              <a:rPr sz="1700" spc="-10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1700" spc="-85" dirty="0">
                <a:solidFill>
                  <a:prstClr val="black"/>
                </a:solidFill>
                <a:latin typeface="Times New Roman"/>
                <a:cs typeface="Times New Roman"/>
              </a:rPr>
              <a:t>variations </a:t>
            </a:r>
            <a:r>
              <a:rPr sz="1700" spc="-10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1700" spc="-85" dirty="0">
                <a:solidFill>
                  <a:prstClr val="black"/>
                </a:solidFill>
                <a:latin typeface="Times New Roman"/>
                <a:cs typeface="Times New Roman"/>
              </a:rPr>
              <a:t>magnitude </a:t>
            </a:r>
            <a:r>
              <a:rPr sz="1700" spc="-90" dirty="0">
                <a:solidFill>
                  <a:prstClr val="black"/>
                </a:solidFill>
                <a:latin typeface="Times New Roman"/>
                <a:cs typeface="Times New Roman"/>
              </a:rPr>
              <a:t>over  </a:t>
            </a:r>
            <a:r>
              <a:rPr sz="1700" spc="-135" dirty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sz="1700" spc="-70" dirty="0">
                <a:solidFill>
                  <a:prstClr val="black"/>
                </a:solidFill>
                <a:latin typeface="Times New Roman"/>
                <a:cs typeface="Times New Roman"/>
              </a:rPr>
              <a:t>definite </a:t>
            </a:r>
            <a:r>
              <a:rPr sz="1700" spc="-50" dirty="0">
                <a:solidFill>
                  <a:prstClr val="black"/>
                </a:solidFill>
                <a:latin typeface="Times New Roman"/>
                <a:cs typeface="Times New Roman"/>
              </a:rPr>
              <a:t>period </a:t>
            </a:r>
            <a:r>
              <a:rPr sz="1700" spc="-100" dirty="0">
                <a:solidFill>
                  <a:prstClr val="black"/>
                </a:solidFill>
                <a:latin typeface="Times New Roman"/>
                <a:cs typeface="Times New Roman"/>
              </a:rPr>
              <a:t>of</a:t>
            </a:r>
            <a:r>
              <a:rPr sz="1700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prstClr val="black"/>
                </a:solidFill>
                <a:latin typeface="Times New Roman"/>
                <a:cs typeface="Times New Roman"/>
              </a:rPr>
              <a:t>time</a:t>
            </a:r>
            <a:endParaRPr sz="1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207645" lvl="2" indent="-228600">
              <a:lnSpc>
                <a:spcPct val="80000"/>
              </a:lnSpc>
              <a:spcBef>
                <a:spcPts val="409"/>
              </a:spcBef>
              <a:buClr>
                <a:srgbClr val="E6B0AB"/>
              </a:buClr>
              <a:buSzPct val="85294"/>
              <a:buFont typeface="UnDotum"/>
              <a:buChar char=""/>
              <a:tabLst>
                <a:tab pos="835025" algn="l"/>
                <a:tab pos="835660" algn="l"/>
              </a:tabLst>
            </a:pPr>
            <a:r>
              <a:rPr sz="1700" spc="-60" dirty="0">
                <a:solidFill>
                  <a:prstClr val="black"/>
                </a:solidFill>
                <a:latin typeface="Times New Roman"/>
                <a:cs typeface="Times New Roman"/>
              </a:rPr>
              <a:t>Integrating: </a:t>
            </a:r>
            <a:r>
              <a:rPr sz="1700" spc="-50" dirty="0">
                <a:solidFill>
                  <a:prstClr val="black"/>
                </a:solidFill>
                <a:latin typeface="Times New Roman"/>
                <a:cs typeface="Times New Roman"/>
              </a:rPr>
              <a:t>total </a:t>
            </a:r>
            <a:r>
              <a:rPr sz="1700" spc="-75" dirty="0">
                <a:solidFill>
                  <a:prstClr val="black"/>
                </a:solidFill>
                <a:latin typeface="Times New Roman"/>
                <a:cs typeface="Times New Roman"/>
              </a:rPr>
              <a:t>amount </a:t>
            </a:r>
            <a:r>
              <a:rPr sz="1700" spc="-10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1700" spc="-60" dirty="0">
                <a:solidFill>
                  <a:prstClr val="black"/>
                </a:solidFill>
                <a:latin typeface="Times New Roman"/>
                <a:cs typeface="Times New Roman"/>
              </a:rPr>
              <a:t>electrical </a:t>
            </a:r>
            <a:r>
              <a:rPr sz="1700" spc="-80" dirty="0">
                <a:solidFill>
                  <a:prstClr val="black"/>
                </a:solidFill>
                <a:latin typeface="Times New Roman"/>
                <a:cs typeface="Times New Roman"/>
              </a:rPr>
              <a:t>energy supplied </a:t>
            </a:r>
            <a:r>
              <a:rPr sz="1700" spc="-90" dirty="0">
                <a:solidFill>
                  <a:prstClr val="black"/>
                </a:solidFill>
                <a:latin typeface="Times New Roman"/>
                <a:cs typeface="Times New Roman"/>
              </a:rPr>
              <a:t>over  </a:t>
            </a:r>
            <a:r>
              <a:rPr sz="1700" spc="-60" dirty="0">
                <a:solidFill>
                  <a:prstClr val="black"/>
                </a:solidFill>
                <a:latin typeface="Times New Roman"/>
                <a:cs typeface="Times New Roman"/>
              </a:rPr>
              <a:t>time</a:t>
            </a:r>
            <a:endParaRPr sz="1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lnSpc>
                <a:spcPts val="2610"/>
              </a:lnSpc>
              <a:spcBef>
                <a:spcPts val="3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Classification</a:t>
            </a:r>
            <a:r>
              <a:rPr sz="2200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2325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DC: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measure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only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DC</a:t>
            </a:r>
            <a:r>
              <a:rPr sz="20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quantities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2320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145" dirty="0">
                <a:solidFill>
                  <a:prstClr val="black"/>
                </a:solidFill>
                <a:latin typeface="Times New Roman"/>
                <a:cs typeface="Times New Roman"/>
              </a:rPr>
              <a:t>AC: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measure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only </a:t>
            </a:r>
            <a:r>
              <a:rPr sz="2000" spc="-229" dirty="0">
                <a:solidFill>
                  <a:prstClr val="black"/>
                </a:solidFill>
                <a:latin typeface="Times New Roman"/>
                <a:cs typeface="Times New Roman"/>
              </a:rPr>
              <a:t>AC</a:t>
            </a: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quantities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2365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35" dirty="0">
                <a:solidFill>
                  <a:prstClr val="black"/>
                </a:solidFill>
                <a:latin typeface="Times New Roman"/>
                <a:cs typeface="Times New Roman"/>
              </a:rPr>
              <a:t>AC/DC: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measure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both </a:t>
            </a:r>
            <a:r>
              <a:rPr sz="2000" spc="-229" dirty="0">
                <a:solidFill>
                  <a:prstClr val="black"/>
                </a:solidFill>
                <a:latin typeface="Times New Roman"/>
                <a:cs typeface="Times New Roman"/>
              </a:rPr>
              <a:t>AC </a:t>
            </a:r>
            <a:r>
              <a:rPr sz="2000" spc="-160" dirty="0">
                <a:solidFill>
                  <a:prstClr val="black"/>
                </a:solidFill>
                <a:latin typeface="Times New Roman"/>
                <a:cs typeface="Times New Roman"/>
              </a:rPr>
              <a:t>as </a:t>
            </a:r>
            <a:r>
              <a:rPr sz="2000" spc="-105" dirty="0">
                <a:solidFill>
                  <a:prstClr val="black"/>
                </a:solidFill>
                <a:latin typeface="Times New Roman"/>
                <a:cs typeface="Times New Roman"/>
              </a:rPr>
              <a:t>well </a:t>
            </a:r>
            <a:r>
              <a:rPr sz="2000" spc="-160" dirty="0">
                <a:solidFill>
                  <a:prstClr val="black"/>
                </a:solidFill>
                <a:latin typeface="Times New Roman"/>
                <a:cs typeface="Times New Roman"/>
              </a:rPr>
              <a:t>as </a:t>
            </a:r>
            <a:r>
              <a:rPr sz="2000" spc="-105" dirty="0">
                <a:solidFill>
                  <a:prstClr val="black"/>
                </a:solidFill>
                <a:latin typeface="Times New Roman"/>
                <a:cs typeface="Times New Roman"/>
              </a:rPr>
              <a:t>DC</a:t>
            </a:r>
            <a:r>
              <a:rPr sz="2000" spc="-1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quantities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84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108973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3007" y="537033"/>
            <a:ext cx="6901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Measuring </a:t>
            </a:r>
            <a:r>
              <a:rPr spc="-100" dirty="0"/>
              <a:t>Instruments: </a:t>
            </a:r>
            <a:r>
              <a:rPr sz="2400" spc="-114" dirty="0"/>
              <a:t>Types </a:t>
            </a:r>
            <a:r>
              <a:rPr sz="2400" spc="-105" dirty="0"/>
              <a:t>of</a:t>
            </a:r>
            <a:r>
              <a:rPr sz="2400" spc="-70" dirty="0"/>
              <a:t> </a:t>
            </a:r>
            <a:r>
              <a:rPr sz="2400" spc="-90" dirty="0"/>
              <a:t>Torques</a:t>
            </a:r>
            <a:endParaRPr sz="2400" dirty="0"/>
          </a:p>
        </p:txBody>
      </p:sp>
      <p:sp>
        <p:nvSpPr>
          <p:cNvPr id="3" name="object 3"/>
          <p:cNvSpPr/>
          <p:nvPr/>
        </p:nvSpPr>
        <p:spPr>
          <a:xfrm>
            <a:off x="230835" y="61537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5692" y="1598803"/>
            <a:ext cx="39922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86385" algn="l"/>
              </a:tabLst>
            </a:pPr>
            <a:r>
              <a:rPr sz="1600" spc="-705" dirty="0">
                <a:solidFill>
                  <a:srgbClr val="D24717"/>
                </a:solidFill>
                <a:latin typeface="UnDotum"/>
                <a:cs typeface="UnDotum"/>
              </a:rPr>
              <a:t>	</a:t>
            </a:r>
            <a:r>
              <a:rPr sz="1900" spc="-95" dirty="0">
                <a:solidFill>
                  <a:prstClr val="black"/>
                </a:solidFill>
                <a:latin typeface="Times New Roman"/>
                <a:cs typeface="Times New Roman"/>
              </a:rPr>
              <a:t>Deflecting Torque: </a:t>
            </a:r>
            <a:r>
              <a:rPr sz="1900" spc="-135" dirty="0">
                <a:solidFill>
                  <a:prstClr val="black"/>
                </a:solidFill>
                <a:latin typeface="Times New Roman"/>
                <a:cs typeface="Times New Roman"/>
              </a:rPr>
              <a:t>moves </a:t>
            </a:r>
            <a:r>
              <a:rPr sz="1900" spc="-60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1900" spc="-90" dirty="0">
                <a:solidFill>
                  <a:prstClr val="black"/>
                </a:solidFill>
                <a:latin typeface="Times New Roman"/>
                <a:cs typeface="Times New Roman"/>
              </a:rPr>
              <a:t>from</a:t>
            </a:r>
            <a:r>
              <a:rPr sz="19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75" dirty="0">
                <a:solidFill>
                  <a:prstClr val="black"/>
                </a:solidFill>
                <a:latin typeface="Times New Roman"/>
                <a:cs typeface="Times New Roman"/>
              </a:rPr>
              <a:t>its</a:t>
            </a: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733" y="6329531"/>
            <a:ext cx="2870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1400" dirty="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5692" y="1811553"/>
            <a:ext cx="4145279" cy="24409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286385">
              <a:spcBef>
                <a:spcPts val="244"/>
              </a:spcBef>
            </a:pPr>
            <a:r>
              <a:rPr sz="1900" spc="-85" dirty="0">
                <a:solidFill>
                  <a:prstClr val="black"/>
                </a:solidFill>
                <a:latin typeface="Times New Roman"/>
                <a:cs typeface="Times New Roman"/>
              </a:rPr>
              <a:t>zero position </a:t>
            </a:r>
            <a:r>
              <a:rPr sz="1900" spc="-80" dirty="0">
                <a:solidFill>
                  <a:prstClr val="black"/>
                </a:solidFill>
                <a:latin typeface="Times New Roman"/>
                <a:cs typeface="Times New Roman"/>
              </a:rPr>
              <a:t>during</a:t>
            </a:r>
            <a:r>
              <a:rPr sz="1900" spc="1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85" dirty="0">
                <a:solidFill>
                  <a:prstClr val="black"/>
                </a:solidFill>
                <a:latin typeface="Times New Roman"/>
                <a:cs typeface="Times New Roman"/>
              </a:rPr>
              <a:t>measurement</a:t>
            </a:r>
            <a:endParaRPr sz="19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spcBef>
                <a:spcPts val="140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1900" spc="-75" dirty="0">
                <a:solidFill>
                  <a:prstClr val="black"/>
                </a:solidFill>
                <a:latin typeface="Times New Roman"/>
                <a:cs typeface="Times New Roman"/>
              </a:rPr>
              <a:t>Controlling</a:t>
            </a:r>
            <a:r>
              <a:rPr sz="1900" spc="-2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114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19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spcBef>
                <a:spcPts val="120"/>
              </a:spcBef>
              <a:buClr>
                <a:srgbClr val="9B2C1F"/>
              </a:buClr>
              <a:buSzPct val="82142"/>
              <a:buFont typeface="UnDotum"/>
              <a:buChar char=""/>
              <a:tabLst>
                <a:tab pos="560705" algn="l"/>
                <a:tab pos="561340" algn="l"/>
              </a:tabLst>
            </a:pP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Opposes deflecting</a:t>
            </a: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1515"/>
              </a:lnSpc>
              <a:spcBef>
                <a:spcPts val="60"/>
              </a:spcBef>
              <a:buClr>
                <a:srgbClr val="9B2C1F"/>
              </a:buClr>
              <a:buSzPct val="85714"/>
              <a:buFont typeface="UnDotum"/>
              <a:buChar char=""/>
              <a:tabLst>
                <a:tab pos="560705" algn="l"/>
                <a:tab pos="561340" algn="l"/>
              </a:tabLst>
            </a:pP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Limits </a:t>
            </a:r>
            <a:r>
              <a:rPr sz="1400" spc="-40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1400" spc="-70" dirty="0">
                <a:solidFill>
                  <a:prstClr val="black"/>
                </a:solidFill>
                <a:latin typeface="Times New Roman"/>
                <a:cs typeface="Times New Roman"/>
              </a:rPr>
              <a:t>movement 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400" spc="-55" dirty="0">
                <a:solidFill>
                  <a:prstClr val="black"/>
                </a:solidFill>
                <a:latin typeface="Times New Roman"/>
                <a:cs typeface="Times New Roman"/>
              </a:rPr>
              <a:t>ensure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correct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>
              <a:lnSpc>
                <a:spcPts val="1515"/>
              </a:lnSpc>
            </a:pP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measurement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spcBef>
                <a:spcPts val="60"/>
              </a:spcBef>
              <a:buClr>
                <a:srgbClr val="9B2C1F"/>
              </a:buClr>
              <a:buSzPct val="82142"/>
              <a:buFont typeface="UnDotum"/>
              <a:buChar char=""/>
              <a:tabLst>
                <a:tab pos="560705" algn="l"/>
                <a:tab pos="561340" algn="l"/>
              </a:tabLst>
            </a:pPr>
            <a:r>
              <a:rPr sz="1400" spc="-45" dirty="0">
                <a:solidFill>
                  <a:prstClr val="black"/>
                </a:solidFill>
                <a:latin typeface="Times New Roman"/>
                <a:cs typeface="Times New Roman"/>
              </a:rPr>
              <a:t>Returns </a:t>
            </a:r>
            <a:r>
              <a:rPr sz="1400" spc="-40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400" spc="-60" dirty="0">
                <a:solidFill>
                  <a:prstClr val="black"/>
                </a:solidFill>
                <a:latin typeface="Times New Roman"/>
                <a:cs typeface="Times New Roman"/>
              </a:rPr>
              <a:t>0 </a:t>
            </a:r>
            <a:r>
              <a:rPr sz="1400" spc="-45" dirty="0">
                <a:solidFill>
                  <a:prstClr val="black"/>
                </a:solidFill>
                <a:latin typeface="Times New Roman"/>
                <a:cs typeface="Times New Roman"/>
              </a:rPr>
              <a:t>under 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absence of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deflecting</a:t>
            </a:r>
            <a:r>
              <a:rPr sz="140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spcBef>
                <a:spcPts val="100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1900" spc="-75" dirty="0">
                <a:solidFill>
                  <a:prstClr val="black"/>
                </a:solidFill>
                <a:latin typeface="Times New Roman"/>
                <a:cs typeface="Times New Roman"/>
              </a:rPr>
              <a:t>Controlling </a:t>
            </a:r>
            <a:r>
              <a:rPr sz="1900" spc="-55" dirty="0">
                <a:solidFill>
                  <a:prstClr val="black"/>
                </a:solidFill>
                <a:latin typeface="Times New Roman"/>
                <a:cs typeface="Times New Roman"/>
              </a:rPr>
              <a:t>torque </a:t>
            </a:r>
            <a:r>
              <a:rPr sz="1900" spc="-95" dirty="0">
                <a:solidFill>
                  <a:prstClr val="black"/>
                </a:solidFill>
                <a:latin typeface="Times New Roman"/>
                <a:cs typeface="Times New Roman"/>
              </a:rPr>
              <a:t>provided</a:t>
            </a:r>
            <a:r>
              <a:rPr sz="1900" spc="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150" dirty="0">
                <a:solidFill>
                  <a:prstClr val="black"/>
                </a:solidFill>
                <a:latin typeface="Times New Roman"/>
                <a:cs typeface="Times New Roman"/>
              </a:rPr>
              <a:t>by</a:t>
            </a:r>
            <a:endParaRPr sz="19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spcBef>
                <a:spcPts val="5"/>
              </a:spcBef>
              <a:buClr>
                <a:srgbClr val="9B2C1F"/>
              </a:buClr>
              <a:buSzPct val="85294"/>
              <a:buFont typeface="UnDotum"/>
              <a:buChar char=""/>
              <a:tabLst>
                <a:tab pos="560705" algn="l"/>
                <a:tab pos="561340" algn="l"/>
              </a:tabLst>
            </a:pPr>
            <a:r>
              <a:rPr sz="1700" spc="-95" dirty="0">
                <a:solidFill>
                  <a:prstClr val="black"/>
                </a:solidFill>
                <a:latin typeface="Times New Roman"/>
                <a:cs typeface="Times New Roman"/>
              </a:rPr>
              <a:t>Spring</a:t>
            </a:r>
            <a:r>
              <a:rPr sz="1700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prstClr val="black"/>
                </a:solidFill>
                <a:latin typeface="Times New Roman"/>
                <a:cs typeface="Times New Roman"/>
              </a:rPr>
              <a:t>Control</a:t>
            </a:r>
            <a:endParaRPr sz="17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5080" indent="-228600">
              <a:lnSpc>
                <a:spcPts val="1340"/>
              </a:lnSpc>
              <a:spcBef>
                <a:spcPts val="425"/>
              </a:spcBef>
              <a:tabLst>
                <a:tab pos="835025" algn="l"/>
              </a:tabLst>
            </a:pPr>
            <a:r>
              <a:rPr sz="1150" spc="-495" dirty="0">
                <a:solidFill>
                  <a:srgbClr val="E6B0AB"/>
                </a:solidFill>
                <a:latin typeface="UnDotum"/>
                <a:cs typeface="UnDotum"/>
              </a:rPr>
              <a:t>	</a:t>
            </a:r>
            <a:r>
              <a:rPr sz="1400" spc="-145" dirty="0">
                <a:solidFill>
                  <a:prstClr val="black"/>
                </a:solidFill>
                <a:latin typeface="Times New Roman"/>
                <a:cs typeface="Times New Roman"/>
              </a:rPr>
              <a:t>As </a:t>
            </a:r>
            <a:r>
              <a:rPr sz="1400" spc="-40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moves,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Phosphor bronze hair spring </a:t>
            </a:r>
            <a:r>
              <a:rPr sz="1400" spc="-70" dirty="0">
                <a:solidFill>
                  <a:prstClr val="black"/>
                </a:solidFill>
                <a:latin typeface="Times New Roman"/>
                <a:cs typeface="Times New Roman"/>
              </a:rPr>
              <a:t>gets  </a:t>
            </a:r>
            <a:r>
              <a:rPr sz="1400" spc="-60" dirty="0">
                <a:solidFill>
                  <a:prstClr val="black"/>
                </a:solidFill>
                <a:latin typeface="Times New Roman"/>
                <a:cs typeface="Times New Roman"/>
              </a:rPr>
              <a:t>twisting.This </a:t>
            </a:r>
            <a:r>
              <a:rPr sz="1400" spc="-45" dirty="0">
                <a:solidFill>
                  <a:prstClr val="black"/>
                </a:solidFill>
                <a:latin typeface="Times New Roman"/>
                <a:cs typeface="Times New Roman"/>
              </a:rPr>
              <a:t>twist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produces </a:t>
            </a:r>
            <a:r>
              <a:rPr sz="1400" spc="-55" dirty="0">
                <a:solidFill>
                  <a:prstClr val="black"/>
                </a:solidFill>
                <a:latin typeface="Times New Roman"/>
                <a:cs typeface="Times New Roman"/>
              </a:rPr>
              <a:t>controlling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5732" y="4233748"/>
            <a:ext cx="3863975" cy="16757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>
              <a:lnSpc>
                <a:spcPts val="1515"/>
              </a:lnSpc>
              <a:spcBef>
                <a:spcPts val="105"/>
              </a:spcBef>
              <a:tabLst>
                <a:tab pos="514984" algn="l"/>
              </a:tabLst>
            </a:pPr>
            <a:r>
              <a:rPr sz="1200" spc="-545" dirty="0">
                <a:solidFill>
                  <a:srgbClr val="E6B0AB"/>
                </a:solidFill>
                <a:latin typeface="UnDotum"/>
                <a:cs typeface="UnDotum"/>
              </a:rPr>
              <a:t>	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Spring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subjected 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fatigue </a:t>
            </a:r>
            <a:r>
              <a:rPr sz="1400" spc="-55" dirty="0">
                <a:solidFill>
                  <a:prstClr val="black"/>
                </a:solidFill>
                <a:latin typeface="Times New Roman"/>
                <a:cs typeface="Times New Roman"/>
              </a:rPr>
              <a:t>with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time,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40" dirty="0">
                <a:solidFill>
                  <a:prstClr val="black"/>
                </a:solidFill>
                <a:latin typeface="Times New Roman"/>
                <a:cs typeface="Times New Roman"/>
              </a:rPr>
              <a:t>temperature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5620">
              <a:lnSpc>
                <a:spcPts val="1495"/>
              </a:lnSpc>
            </a:pPr>
            <a:r>
              <a:rPr sz="1400" spc="-70" dirty="0">
                <a:solidFill>
                  <a:prstClr val="black"/>
                </a:solidFill>
                <a:latin typeface="Times New Roman"/>
                <a:cs typeface="Times New Roman"/>
              </a:rPr>
              <a:t>coefficient 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of stiffness of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spring 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affects</a:t>
            </a:r>
            <a:r>
              <a:rPr sz="1400" spc="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measurement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41300" indent="-228600">
              <a:lnSpc>
                <a:spcPts val="2020"/>
              </a:lnSpc>
              <a:buClr>
                <a:srgbClr val="9B2C1F"/>
              </a:buClr>
              <a:buSzPct val="85294"/>
              <a:buFont typeface="UnDotum"/>
              <a:buChar char=""/>
              <a:tabLst>
                <a:tab pos="240665" algn="l"/>
                <a:tab pos="241300" algn="l"/>
              </a:tabLst>
            </a:pPr>
            <a:r>
              <a:rPr sz="1700" spc="-90" dirty="0">
                <a:solidFill>
                  <a:prstClr val="black"/>
                </a:solidFill>
                <a:latin typeface="Times New Roman"/>
                <a:cs typeface="Times New Roman"/>
              </a:rPr>
              <a:t>Gravity</a:t>
            </a:r>
            <a:r>
              <a:rPr sz="1700" spc="-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prstClr val="black"/>
                </a:solidFill>
                <a:latin typeface="Times New Roman"/>
                <a:cs typeface="Times New Roman"/>
              </a:rPr>
              <a:t>Control</a:t>
            </a:r>
            <a:endParaRPr sz="17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5620" marR="33655" lvl="1" indent="-228600">
              <a:lnSpc>
                <a:spcPts val="1340"/>
              </a:lnSpc>
              <a:spcBef>
                <a:spcPts val="425"/>
              </a:spcBef>
              <a:buClr>
                <a:srgbClr val="E6B0AB"/>
              </a:buClr>
              <a:buSzPct val="82142"/>
              <a:buFont typeface="UnDotum"/>
              <a:buChar char=""/>
              <a:tabLst>
                <a:tab pos="514984" algn="l"/>
                <a:tab pos="515620" algn="l"/>
              </a:tabLst>
            </a:pPr>
            <a:r>
              <a:rPr sz="1400" spc="-100" dirty="0">
                <a:solidFill>
                  <a:prstClr val="black"/>
                </a:solidFill>
                <a:latin typeface="Times New Roman"/>
                <a:cs typeface="Times New Roman"/>
              </a:rPr>
              <a:t>Small </a:t>
            </a: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weight </a:t>
            </a:r>
            <a:r>
              <a:rPr sz="1400" spc="-60" dirty="0">
                <a:solidFill>
                  <a:prstClr val="black"/>
                </a:solidFill>
                <a:latin typeface="Times New Roman"/>
                <a:cs typeface="Times New Roman"/>
              </a:rPr>
              <a:t>attached 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400" spc="-90" dirty="0">
                <a:solidFill>
                  <a:prstClr val="black"/>
                </a:solidFill>
                <a:latin typeface="Times New Roman"/>
                <a:cs typeface="Times New Roman"/>
              </a:rPr>
              <a:t>moving </a:t>
            </a: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system 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400" spc="-55" dirty="0">
                <a:solidFill>
                  <a:prstClr val="black"/>
                </a:solidFill>
                <a:latin typeface="Times New Roman"/>
                <a:cs typeface="Times New Roman"/>
              </a:rPr>
              <a:t>produce  controlling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5620" marR="421640" lvl="1" indent="-228600">
              <a:lnSpc>
                <a:spcPct val="80000"/>
              </a:lnSpc>
              <a:spcBef>
                <a:spcPts val="409"/>
              </a:spcBef>
              <a:buClr>
                <a:srgbClr val="E6B0AB"/>
              </a:buClr>
              <a:buSzPct val="82142"/>
              <a:buFont typeface="UnDotum"/>
              <a:buChar char=""/>
              <a:tabLst>
                <a:tab pos="514984" algn="l"/>
                <a:tab pos="515620" algn="l"/>
              </a:tabLst>
            </a:pPr>
            <a:r>
              <a:rPr sz="1400" spc="-60" dirty="0">
                <a:solidFill>
                  <a:prstClr val="black"/>
                </a:solidFill>
                <a:latin typeface="Times New Roman"/>
                <a:cs typeface="Times New Roman"/>
              </a:rPr>
              <a:t>Cheap, </a:t>
            </a:r>
            <a:r>
              <a:rPr sz="1400" spc="-35" dirty="0">
                <a:solidFill>
                  <a:prstClr val="black"/>
                </a:solidFill>
                <a:latin typeface="Times New Roman"/>
                <a:cs typeface="Times New Roman"/>
              </a:rPr>
              <a:t>not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subjected </a:t>
            </a:r>
            <a:r>
              <a:rPr sz="1400" spc="-20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400" spc="-60" dirty="0">
                <a:solidFill>
                  <a:prstClr val="black"/>
                </a:solidFill>
                <a:latin typeface="Times New Roman"/>
                <a:cs typeface="Times New Roman"/>
              </a:rPr>
              <a:t>fatigue, </a:t>
            </a:r>
            <a:r>
              <a:rPr sz="1400" spc="-70" dirty="0">
                <a:solidFill>
                  <a:prstClr val="black"/>
                </a:solidFill>
                <a:latin typeface="Times New Roman"/>
                <a:cs typeface="Times New Roman"/>
              </a:rPr>
              <a:t>unaffected</a:t>
            </a:r>
            <a:r>
              <a:rPr sz="1400" spc="-2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110" dirty="0">
                <a:solidFill>
                  <a:prstClr val="black"/>
                </a:solidFill>
                <a:latin typeface="Times New Roman"/>
                <a:cs typeface="Times New Roman"/>
              </a:rPr>
              <a:t>by  </a:t>
            </a:r>
            <a:r>
              <a:rPr sz="1400" spc="-80" dirty="0">
                <a:solidFill>
                  <a:prstClr val="black"/>
                </a:solidFill>
                <a:latin typeface="Times New Roman"/>
                <a:cs typeface="Times New Roman"/>
              </a:rPr>
              <a:t>change </a:t>
            </a:r>
            <a:r>
              <a:rPr sz="1400" spc="-65" dirty="0">
                <a:solidFill>
                  <a:prstClr val="black"/>
                </a:solidFill>
                <a:latin typeface="Times New Roman"/>
                <a:cs typeface="Times New Roman"/>
              </a:rPr>
              <a:t>in</a:t>
            </a:r>
            <a:r>
              <a:rPr sz="1400" spc="-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prstClr val="black"/>
                </a:solidFill>
                <a:latin typeface="Times New Roman"/>
                <a:cs typeface="Times New Roman"/>
              </a:rPr>
              <a:t>temperature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5620" lvl="1" indent="-228600">
              <a:spcBef>
                <a:spcPts val="75"/>
              </a:spcBef>
              <a:buClr>
                <a:srgbClr val="E6B0AB"/>
              </a:buClr>
              <a:buSzPct val="85714"/>
              <a:buFont typeface="UnDotum"/>
              <a:buChar char=""/>
              <a:tabLst>
                <a:tab pos="514984" algn="l"/>
                <a:tab pos="515620" algn="l"/>
              </a:tabLst>
            </a:pPr>
            <a:r>
              <a:rPr sz="1400" spc="-75" dirty="0">
                <a:solidFill>
                  <a:prstClr val="black"/>
                </a:solidFill>
                <a:latin typeface="Times New Roman"/>
                <a:cs typeface="Times New Roman"/>
              </a:rPr>
              <a:t>Must </a:t>
            </a:r>
            <a:r>
              <a:rPr sz="1400" spc="-70" dirty="0">
                <a:solidFill>
                  <a:prstClr val="black"/>
                </a:solidFill>
                <a:latin typeface="Times New Roman"/>
                <a:cs typeface="Times New Roman"/>
              </a:rPr>
              <a:t>be </a:t>
            </a:r>
            <a:r>
              <a:rPr sz="1400" spc="-55" dirty="0">
                <a:solidFill>
                  <a:prstClr val="black"/>
                </a:solidFill>
                <a:latin typeface="Times New Roman"/>
                <a:cs typeface="Times New Roman"/>
              </a:rPr>
              <a:t>kept </a:t>
            </a:r>
            <a:r>
              <a:rPr sz="1400" spc="-45" dirty="0">
                <a:solidFill>
                  <a:prstClr val="black"/>
                </a:solidFill>
                <a:latin typeface="Times New Roman"/>
                <a:cs typeface="Times New Roman"/>
              </a:rPr>
              <a:t>vertical, </a:t>
            </a:r>
            <a:r>
              <a:rPr sz="1400" spc="-55" dirty="0">
                <a:solidFill>
                  <a:prstClr val="black"/>
                </a:solidFill>
                <a:latin typeface="Times New Roman"/>
                <a:cs typeface="Times New Roman"/>
              </a:rPr>
              <a:t>non-uniform</a:t>
            </a:r>
            <a:r>
              <a:rPr sz="1400" spc="-7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400" spc="-85" dirty="0">
                <a:solidFill>
                  <a:prstClr val="black"/>
                </a:solidFill>
                <a:latin typeface="Times New Roman"/>
                <a:cs typeface="Times New Roman"/>
              </a:rPr>
              <a:t>scale</a:t>
            </a: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9753" y="1665478"/>
            <a:ext cx="180593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7495" indent="-265430">
              <a:spcBef>
                <a:spcPts val="105"/>
              </a:spcBef>
              <a:buClr>
                <a:srgbClr val="9E3611"/>
              </a:buClr>
              <a:buSzPct val="115000"/>
              <a:buFont typeface="Arial"/>
              <a:buChar char="•"/>
              <a:tabLst>
                <a:tab pos="277495" algn="l"/>
                <a:tab pos="278130" algn="l"/>
              </a:tabLst>
            </a:pP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r>
              <a:rPr sz="2000" spc="-3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6952" y="2120849"/>
            <a:ext cx="6121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posit</a:t>
            </a:r>
            <a:r>
              <a:rPr sz="1600" spc="-6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on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6952" y="1824537"/>
            <a:ext cx="4058920" cy="76708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77495" indent="-265430">
              <a:spcBef>
                <a:spcPts val="894"/>
              </a:spcBef>
              <a:buClr>
                <a:srgbClr val="9E3611"/>
              </a:buClr>
              <a:buSzPct val="112500"/>
              <a:buFont typeface="Arial"/>
              <a:buChar char="•"/>
              <a:tabLst>
                <a:tab pos="277495" algn="l"/>
                <a:tab pos="278130" algn="l"/>
              </a:tabLst>
            </a:pP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prevents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oscillation 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1600" spc="-45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about 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final</a:t>
            </a:r>
            <a:r>
              <a:rPr sz="1600" spc="-9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deflecting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77495" indent="-265430">
              <a:spcBef>
                <a:spcPts val="1155"/>
              </a:spcBef>
              <a:buClr>
                <a:srgbClr val="9E3611"/>
              </a:buClr>
              <a:buSzPct val="112500"/>
              <a:buFont typeface="Arial"/>
              <a:buChar char="•"/>
              <a:tabLst>
                <a:tab pos="277495" algn="l"/>
                <a:tab pos="278130" algn="l"/>
              </a:tabLst>
            </a:pPr>
            <a:r>
              <a:rPr sz="1600" spc="-105" dirty="0">
                <a:solidFill>
                  <a:prstClr val="black"/>
                </a:solidFill>
                <a:latin typeface="Times New Roman"/>
                <a:cs typeface="Times New Roman"/>
              </a:rPr>
              <a:t>Brings </a:t>
            </a:r>
            <a:r>
              <a:rPr sz="1600" spc="-45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1600" spc="-25" dirty="0">
                <a:solidFill>
                  <a:prstClr val="black"/>
                </a:solidFill>
                <a:latin typeface="Times New Roman"/>
                <a:cs typeface="Times New Roman"/>
              </a:rPr>
              <a:t>to</a:t>
            </a:r>
            <a:r>
              <a:rPr sz="1600" spc="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40" dirty="0">
                <a:solidFill>
                  <a:prstClr val="black"/>
                </a:solidFill>
                <a:latin typeface="Times New Roman"/>
                <a:cs typeface="Times New Roman"/>
              </a:rPr>
              <a:t>rest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89753" y="2571114"/>
            <a:ext cx="4676775" cy="3582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ts val="2380"/>
              </a:lnSpc>
              <a:spcBef>
                <a:spcPts val="105"/>
              </a:spcBef>
              <a:buClr>
                <a:srgbClr val="D24717"/>
              </a:buClr>
              <a:buSzPct val="8500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Damping </a:t>
            </a:r>
            <a:r>
              <a:rPr sz="2000" spc="-50" dirty="0">
                <a:solidFill>
                  <a:prstClr val="black"/>
                </a:solidFill>
                <a:latin typeface="Times New Roman"/>
                <a:cs typeface="Times New Roman"/>
              </a:rPr>
              <a:t>torque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provided</a:t>
            </a:r>
            <a:r>
              <a:rPr sz="2000" spc="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155" dirty="0">
                <a:solidFill>
                  <a:prstClr val="black"/>
                </a:solidFill>
                <a:latin typeface="Times New Roman"/>
                <a:cs typeface="Times New Roman"/>
              </a:rPr>
              <a:t>by</a:t>
            </a: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9235">
              <a:lnSpc>
                <a:spcPts val="2260"/>
              </a:lnSpc>
              <a:buClr>
                <a:srgbClr val="9B2C1F"/>
              </a:buClr>
              <a:buSzPct val="84210"/>
              <a:buFont typeface="UnDotum"/>
              <a:buChar char=""/>
              <a:tabLst>
                <a:tab pos="561340" algn="l"/>
              </a:tabLst>
            </a:pPr>
            <a:r>
              <a:rPr sz="1900" spc="-80" dirty="0">
                <a:solidFill>
                  <a:prstClr val="black"/>
                </a:solidFill>
                <a:latin typeface="Times New Roman"/>
                <a:cs typeface="Times New Roman"/>
              </a:rPr>
              <a:t>Air-friction</a:t>
            </a:r>
            <a:r>
              <a:rPr sz="19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114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327660" lvl="2" indent="-228600">
              <a:lnSpc>
                <a:spcPts val="1540"/>
              </a:lnSpc>
              <a:spcBef>
                <a:spcPts val="400"/>
              </a:spcBef>
              <a:buClr>
                <a:srgbClr val="E6B0AB"/>
              </a:buClr>
              <a:buSzPct val="84375"/>
              <a:buFont typeface="UnDotum"/>
              <a:buChar char=""/>
              <a:tabLst>
                <a:tab pos="835025" algn="l"/>
                <a:tab pos="835660" algn="l"/>
              </a:tabLst>
            </a:pP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Piston </a:t>
            </a:r>
            <a:r>
              <a:rPr sz="1600" spc="-60" dirty="0">
                <a:solidFill>
                  <a:prstClr val="black"/>
                </a:solidFill>
                <a:latin typeface="Times New Roman"/>
                <a:cs typeface="Times New Roman"/>
              </a:rPr>
              <a:t>(connected </a:t>
            </a:r>
            <a:r>
              <a:rPr sz="1600" spc="-25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600" spc="-45" dirty="0">
                <a:solidFill>
                  <a:prstClr val="black"/>
                </a:solidFill>
                <a:latin typeface="Times New Roman"/>
                <a:cs typeface="Times New Roman"/>
              </a:rPr>
              <a:t>pointer) </a:t>
            </a:r>
            <a:r>
              <a:rPr sz="1600" spc="-120" dirty="0">
                <a:solidFill>
                  <a:prstClr val="black"/>
                </a:solidFill>
                <a:latin typeface="Times New Roman"/>
                <a:cs typeface="Times New Roman"/>
              </a:rPr>
              <a:t>moves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in </a:t>
            </a:r>
            <a:r>
              <a:rPr sz="1600" spc="-90" dirty="0">
                <a:solidFill>
                  <a:prstClr val="black"/>
                </a:solidFill>
                <a:latin typeface="Times New Roman"/>
                <a:cs typeface="Times New Roman"/>
              </a:rPr>
              <a:t>fixed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air 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chamber,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building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pressure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inside </a:t>
            </a:r>
            <a:r>
              <a:rPr sz="1600" spc="-50" dirty="0">
                <a:solidFill>
                  <a:prstClr val="black"/>
                </a:solidFill>
                <a:latin typeface="Times New Roman"/>
                <a:cs typeface="Times New Roman"/>
              </a:rPr>
              <a:t>that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opposes  </a:t>
            </a:r>
            <a:r>
              <a:rPr sz="1600" spc="-35" dirty="0">
                <a:solidFill>
                  <a:prstClr val="black"/>
                </a:solidFill>
                <a:latin typeface="Times New Roman"/>
                <a:cs typeface="Times New Roman"/>
              </a:rPr>
              <a:t>further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piston</a:t>
            </a:r>
            <a:r>
              <a:rPr sz="1600" spc="-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motion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9235">
              <a:lnSpc>
                <a:spcPts val="2200"/>
              </a:lnSpc>
              <a:buClr>
                <a:srgbClr val="9B2C1F"/>
              </a:buClr>
              <a:buSzPct val="84210"/>
              <a:buFont typeface="UnDotum"/>
              <a:buChar char=""/>
              <a:tabLst>
                <a:tab pos="561340" algn="l"/>
              </a:tabLst>
            </a:pPr>
            <a:r>
              <a:rPr sz="1900" spc="-80" dirty="0">
                <a:solidFill>
                  <a:prstClr val="black"/>
                </a:solidFill>
                <a:latin typeface="Times New Roman"/>
                <a:cs typeface="Times New Roman"/>
              </a:rPr>
              <a:t>Fluid-friction</a:t>
            </a:r>
            <a:r>
              <a:rPr sz="1900" spc="-1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114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5080" lvl="2" indent="-228600">
              <a:lnSpc>
                <a:spcPts val="1540"/>
              </a:lnSpc>
              <a:spcBef>
                <a:spcPts val="420"/>
              </a:spcBef>
              <a:buClr>
                <a:srgbClr val="E6B0AB"/>
              </a:buClr>
              <a:buSzPct val="84375"/>
              <a:buFont typeface="UnDotum"/>
              <a:buChar char=""/>
              <a:tabLst>
                <a:tab pos="835025" algn="l"/>
                <a:tab pos="835660" algn="l"/>
              </a:tabLst>
            </a:pPr>
            <a:r>
              <a:rPr sz="1600" spc="-100" dirty="0">
                <a:solidFill>
                  <a:prstClr val="black"/>
                </a:solidFill>
                <a:latin typeface="Times New Roman"/>
                <a:cs typeface="Times New Roman"/>
              </a:rPr>
              <a:t>Light </a:t>
            </a:r>
            <a:r>
              <a:rPr sz="1600" spc="-60" dirty="0">
                <a:solidFill>
                  <a:prstClr val="black"/>
                </a:solidFill>
                <a:latin typeface="Times New Roman"/>
                <a:cs typeface="Times New Roman"/>
              </a:rPr>
              <a:t>vanes/disk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attached </a:t>
            </a:r>
            <a:r>
              <a:rPr sz="1600" spc="-25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600" spc="-110" dirty="0">
                <a:solidFill>
                  <a:prstClr val="black"/>
                </a:solidFill>
                <a:latin typeface="Times New Roman"/>
                <a:cs typeface="Times New Roman"/>
              </a:rPr>
              <a:t>moving </a:t>
            </a:r>
            <a:r>
              <a:rPr sz="1600" spc="-90" dirty="0">
                <a:solidFill>
                  <a:prstClr val="black"/>
                </a:solidFill>
                <a:latin typeface="Times New Roman"/>
                <a:cs typeface="Times New Roman"/>
              </a:rPr>
              <a:t>system </a:t>
            </a:r>
            <a:r>
              <a:rPr sz="1600" spc="-114" dirty="0">
                <a:solidFill>
                  <a:prstClr val="black"/>
                </a:solidFill>
                <a:latin typeface="Times New Roman"/>
                <a:cs typeface="Times New Roman"/>
              </a:rPr>
              <a:t>move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in  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r>
              <a:rPr sz="1600" spc="-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oil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9235">
              <a:lnSpc>
                <a:spcPts val="2205"/>
              </a:lnSpc>
              <a:buClr>
                <a:srgbClr val="9B2C1F"/>
              </a:buClr>
              <a:buSzPct val="84210"/>
              <a:buFont typeface="UnDotum"/>
              <a:buChar char=""/>
              <a:tabLst>
                <a:tab pos="561340" algn="l"/>
              </a:tabLst>
            </a:pPr>
            <a:r>
              <a:rPr sz="1900" spc="-75" dirty="0">
                <a:solidFill>
                  <a:prstClr val="black"/>
                </a:solidFill>
                <a:latin typeface="Times New Roman"/>
                <a:cs typeface="Times New Roman"/>
              </a:rPr>
              <a:t>Eddy-current</a:t>
            </a:r>
            <a:r>
              <a:rPr sz="19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114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279400" lvl="2" indent="-228600" algn="just">
              <a:lnSpc>
                <a:spcPts val="1540"/>
              </a:lnSpc>
              <a:spcBef>
                <a:spcPts val="400"/>
              </a:spcBef>
              <a:buClr>
                <a:srgbClr val="E6B0AB"/>
              </a:buClr>
              <a:buSzPct val="84375"/>
              <a:buFont typeface="UnDotum"/>
              <a:buChar char=""/>
              <a:tabLst>
                <a:tab pos="835660" algn="l"/>
              </a:tabLst>
            </a:pPr>
            <a:r>
              <a:rPr sz="1600" spc="-114" dirty="0">
                <a:solidFill>
                  <a:prstClr val="black"/>
                </a:solidFill>
                <a:latin typeface="Times New Roman"/>
                <a:cs typeface="Times New Roman"/>
              </a:rPr>
              <a:t>Eddy </a:t>
            </a:r>
            <a:r>
              <a:rPr sz="1600" spc="-45" dirty="0">
                <a:solidFill>
                  <a:prstClr val="black"/>
                </a:solidFill>
                <a:latin typeface="Times New Roman"/>
                <a:cs typeface="Times New Roman"/>
              </a:rPr>
              <a:t>currents </a:t>
            </a:r>
            <a:r>
              <a:rPr sz="1600" spc="-55" dirty="0">
                <a:solidFill>
                  <a:prstClr val="black"/>
                </a:solidFill>
                <a:latin typeface="Times New Roman"/>
                <a:cs typeface="Times New Roman"/>
              </a:rPr>
              <a:t>set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up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when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sheet 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conducting 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(non-magnetic)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material </a:t>
            </a:r>
            <a:r>
              <a:rPr sz="1600" spc="-120" dirty="0">
                <a:solidFill>
                  <a:prstClr val="black"/>
                </a:solidFill>
                <a:latin typeface="Times New Roman"/>
                <a:cs typeface="Times New Roman"/>
              </a:rPr>
              <a:t>moves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in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magnetic</a:t>
            </a:r>
            <a:r>
              <a:rPr sz="1600" spc="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field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lvl="2" indent="-228600" algn="just">
              <a:spcBef>
                <a:spcPts val="35"/>
              </a:spcBef>
              <a:buClr>
                <a:srgbClr val="E6B0AB"/>
              </a:buClr>
              <a:buSzPct val="84375"/>
              <a:buFont typeface="UnDotum"/>
              <a:buChar char=""/>
              <a:tabLst>
                <a:tab pos="835660" algn="l"/>
              </a:tabLst>
            </a:pPr>
            <a:r>
              <a:rPr sz="1600" spc="-114" dirty="0">
                <a:solidFill>
                  <a:prstClr val="black"/>
                </a:solidFill>
                <a:latin typeface="Times New Roman"/>
                <a:cs typeface="Times New Roman"/>
              </a:rPr>
              <a:t>Eddy </a:t>
            </a:r>
            <a:r>
              <a:rPr sz="1600" spc="-45" dirty="0">
                <a:solidFill>
                  <a:prstClr val="black"/>
                </a:solidFill>
                <a:latin typeface="Times New Roman"/>
                <a:cs typeface="Times New Roman"/>
              </a:rPr>
              <a:t>currents </a:t>
            </a:r>
            <a:r>
              <a:rPr sz="1600" spc="-55" dirty="0">
                <a:solidFill>
                  <a:prstClr val="black"/>
                </a:solidFill>
                <a:latin typeface="Times New Roman"/>
                <a:cs typeface="Times New Roman"/>
              </a:rPr>
              <a:t>set </a:t>
            </a: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up force </a:t>
            </a:r>
            <a:r>
              <a:rPr sz="1600" spc="-25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oppose </a:t>
            </a: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this</a:t>
            </a:r>
            <a:r>
              <a:rPr sz="1600" spc="1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motion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660" marR="193040" lvl="2" indent="-228600" algn="just">
              <a:lnSpc>
                <a:spcPts val="1540"/>
              </a:lnSpc>
              <a:spcBef>
                <a:spcPts val="380"/>
              </a:spcBef>
              <a:buClr>
                <a:srgbClr val="E6B0AB"/>
              </a:buClr>
              <a:buSzPct val="84375"/>
              <a:buFont typeface="UnDotum"/>
              <a:buChar char=""/>
              <a:tabLst>
                <a:tab pos="835660" algn="l"/>
              </a:tabLst>
            </a:pPr>
            <a:r>
              <a:rPr sz="1600" spc="-70" dirty="0">
                <a:solidFill>
                  <a:prstClr val="black"/>
                </a:solidFill>
                <a:latin typeface="Times New Roman"/>
                <a:cs typeface="Times New Roman"/>
              </a:rPr>
              <a:t>Cannot </a:t>
            </a: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be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used </a:t>
            </a:r>
            <a:r>
              <a:rPr sz="1600" spc="-65" dirty="0">
                <a:solidFill>
                  <a:prstClr val="black"/>
                </a:solidFill>
                <a:latin typeface="Times New Roman"/>
                <a:cs typeface="Times New Roman"/>
              </a:rPr>
              <a:t>where </a:t>
            </a:r>
            <a:r>
              <a:rPr sz="1600" spc="-55" dirty="0">
                <a:solidFill>
                  <a:prstClr val="black"/>
                </a:solidFill>
                <a:latin typeface="Times New Roman"/>
                <a:cs typeface="Times New Roman"/>
              </a:rPr>
              <a:t>introduction </a:t>
            </a:r>
            <a:r>
              <a:rPr sz="1600" spc="-95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1600" spc="-55" dirty="0">
                <a:solidFill>
                  <a:prstClr val="black"/>
                </a:solidFill>
                <a:latin typeface="Times New Roman"/>
                <a:cs typeface="Times New Roman"/>
              </a:rPr>
              <a:t>permanent 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magnet </a:t>
            </a:r>
            <a:r>
              <a:rPr sz="1600" spc="-60" dirty="0">
                <a:solidFill>
                  <a:prstClr val="black"/>
                </a:solidFill>
                <a:latin typeface="Times New Roman"/>
                <a:cs typeface="Times New Roman"/>
              </a:rPr>
              <a:t>for </a:t>
            </a:r>
            <a:r>
              <a:rPr sz="1600" spc="-90" dirty="0">
                <a:solidFill>
                  <a:prstClr val="black"/>
                </a:solidFill>
                <a:latin typeface="Times New Roman"/>
                <a:cs typeface="Times New Roman"/>
              </a:rPr>
              <a:t>eddy </a:t>
            </a:r>
            <a:r>
              <a:rPr sz="1600" spc="-45" dirty="0">
                <a:solidFill>
                  <a:prstClr val="black"/>
                </a:solidFill>
                <a:latin typeface="Times New Roman"/>
                <a:cs typeface="Times New Roman"/>
              </a:rPr>
              <a:t>currents </a:t>
            </a:r>
            <a:r>
              <a:rPr sz="1600" spc="-75" dirty="0">
                <a:solidFill>
                  <a:prstClr val="black"/>
                </a:solidFill>
                <a:latin typeface="Times New Roman"/>
                <a:cs typeface="Times New Roman"/>
              </a:rPr>
              <a:t>will </a:t>
            </a:r>
            <a:r>
              <a:rPr sz="1600" spc="-35" dirty="0">
                <a:solidFill>
                  <a:prstClr val="black"/>
                </a:solidFill>
                <a:latin typeface="Times New Roman"/>
                <a:cs typeface="Times New Roman"/>
              </a:rPr>
              <a:t>distort </a:t>
            </a:r>
            <a:r>
              <a:rPr sz="1600" spc="-50" dirty="0">
                <a:solidFill>
                  <a:prstClr val="black"/>
                </a:solidFill>
                <a:latin typeface="Times New Roman"/>
                <a:cs typeface="Times New Roman"/>
              </a:rPr>
              <a:t>the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existing  </a:t>
            </a:r>
            <a:r>
              <a:rPr sz="1600" spc="-85" dirty="0">
                <a:solidFill>
                  <a:prstClr val="black"/>
                </a:solidFill>
                <a:latin typeface="Times New Roman"/>
                <a:cs typeface="Times New Roman"/>
              </a:rPr>
              <a:t>magnetic</a:t>
            </a:r>
            <a:r>
              <a:rPr sz="1600" spc="-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600" spc="-80" dirty="0">
                <a:solidFill>
                  <a:prstClr val="black"/>
                </a:solidFill>
                <a:latin typeface="Times New Roman"/>
                <a:cs typeface="Times New Roman"/>
              </a:rPr>
              <a:t>field</a:t>
            </a:r>
            <a:endParaRPr sz="1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85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3181204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723" y="542991"/>
            <a:ext cx="7507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0" dirty="0"/>
              <a:t>Moving </a:t>
            </a:r>
            <a:r>
              <a:rPr spc="-120" dirty="0"/>
              <a:t>Iron </a:t>
            </a:r>
            <a:r>
              <a:rPr spc="-125" dirty="0"/>
              <a:t>Instrument: </a:t>
            </a:r>
            <a:r>
              <a:rPr spc="-180" dirty="0"/>
              <a:t>Attraction</a:t>
            </a:r>
            <a:r>
              <a:rPr spc="-509" dirty="0"/>
              <a:t> </a:t>
            </a:r>
            <a:r>
              <a:rPr spc="-195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270307" y="62524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7544" y="1876298"/>
            <a:ext cx="5446907" cy="391928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6385" marR="67945" indent="-274320">
              <a:lnSpc>
                <a:spcPct val="80000"/>
              </a:lnSpc>
              <a:spcBef>
                <a:spcPts val="62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75" dirty="0">
                <a:solidFill>
                  <a:prstClr val="black"/>
                </a:solidFill>
                <a:latin typeface="Times New Roman"/>
                <a:cs typeface="Times New Roman"/>
              </a:rPr>
              <a:t>Principle: </a:t>
            </a:r>
            <a:r>
              <a:rPr sz="2200" spc="-85" dirty="0">
                <a:solidFill>
                  <a:prstClr val="black"/>
                </a:solidFill>
                <a:latin typeface="Times New Roman"/>
                <a:cs typeface="Times New Roman"/>
              </a:rPr>
              <a:t>Attraction </a:t>
            </a:r>
            <a:r>
              <a:rPr sz="2200" spc="-13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single </a:t>
            </a:r>
            <a:r>
              <a:rPr sz="2200" spc="-105" dirty="0">
                <a:solidFill>
                  <a:prstClr val="black"/>
                </a:solidFill>
                <a:latin typeface="Times New Roman"/>
                <a:cs typeface="Times New Roman"/>
              </a:rPr>
              <a:t>piece </a:t>
            </a:r>
            <a:r>
              <a:rPr sz="2200" spc="-13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200" spc="-75" dirty="0">
                <a:solidFill>
                  <a:prstClr val="black"/>
                </a:solidFill>
                <a:latin typeface="Times New Roman"/>
                <a:cs typeface="Times New Roman"/>
              </a:rPr>
              <a:t>iron  </a:t>
            </a:r>
            <a:r>
              <a:rPr sz="2200" spc="-70" dirty="0">
                <a:solidFill>
                  <a:prstClr val="black"/>
                </a:solidFill>
                <a:latin typeface="Times New Roman"/>
                <a:cs typeface="Times New Roman"/>
              </a:rPr>
              <a:t>into </a:t>
            </a:r>
            <a:r>
              <a:rPr sz="2200" spc="-114" dirty="0">
                <a:solidFill>
                  <a:prstClr val="black"/>
                </a:solidFill>
                <a:latin typeface="Times New Roman"/>
                <a:cs typeface="Times New Roman"/>
              </a:rPr>
              <a:t>magnetic</a:t>
            </a:r>
            <a:r>
              <a:rPr sz="2200" spc="-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prstClr val="black"/>
                </a:solidFill>
                <a:latin typeface="Times New Roman"/>
                <a:cs typeface="Times New Roman"/>
              </a:rPr>
              <a:t>field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lnSpc>
                <a:spcPts val="261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60" dirty="0">
                <a:solidFill>
                  <a:prstClr val="black"/>
                </a:solidFill>
                <a:latin typeface="Times New Roman"/>
                <a:cs typeface="Times New Roman"/>
              </a:rPr>
              <a:t>Operation: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marR="5080" lvl="1" indent="-228600">
              <a:lnSpc>
                <a:spcPts val="1920"/>
              </a:lnSpc>
              <a:spcBef>
                <a:spcPts val="430"/>
              </a:spcBef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45" dirty="0">
                <a:solidFill>
                  <a:prstClr val="black"/>
                </a:solidFill>
                <a:latin typeface="Times New Roman"/>
                <a:cs typeface="Times New Roman"/>
              </a:rPr>
              <a:t>Current </a:t>
            </a:r>
            <a:r>
              <a:rPr sz="2000" spc="-25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be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measured </a:t>
            </a: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passed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through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coil, 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setting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up </a:t>
            </a:r>
            <a:r>
              <a:rPr sz="2000" spc="-105" dirty="0">
                <a:solidFill>
                  <a:prstClr val="black"/>
                </a:solidFill>
                <a:latin typeface="Times New Roman"/>
                <a:cs typeface="Times New Roman"/>
              </a:rPr>
              <a:t>magnetic</a:t>
            </a:r>
            <a:r>
              <a:rPr sz="20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field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marR="170815" lvl="1" indent="-228600">
              <a:lnSpc>
                <a:spcPct val="80000"/>
              </a:lnSpc>
              <a:spcBef>
                <a:spcPts val="425"/>
              </a:spcBef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150" dirty="0">
                <a:solidFill>
                  <a:prstClr val="black"/>
                </a:solidFill>
                <a:latin typeface="Times New Roman"/>
                <a:cs typeface="Times New Roman"/>
              </a:rPr>
              <a:t>Moving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iron </a:t>
            </a:r>
            <a:r>
              <a:rPr sz="2000" spc="-125" dirty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magnetized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and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attracted </a:t>
            </a:r>
            <a:r>
              <a:rPr sz="2000" spc="-30" dirty="0">
                <a:solidFill>
                  <a:prstClr val="black"/>
                </a:solidFill>
                <a:latin typeface="Times New Roman"/>
                <a:cs typeface="Times New Roman"/>
              </a:rPr>
              <a:t>to 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the </a:t>
            </a:r>
            <a:r>
              <a:rPr sz="2000" spc="-65" dirty="0">
                <a:solidFill>
                  <a:prstClr val="black"/>
                </a:solidFill>
                <a:latin typeface="Times New Roman"/>
                <a:cs typeface="Times New Roman"/>
              </a:rPr>
              <a:t>coil,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and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pointer </a:t>
            </a:r>
            <a:r>
              <a:rPr sz="2000" spc="-140" dirty="0">
                <a:solidFill>
                  <a:prstClr val="black"/>
                </a:solidFill>
                <a:latin typeface="Times New Roman"/>
                <a:cs typeface="Times New Roman"/>
              </a:rPr>
              <a:t>moves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spcBef>
                <a:spcPts val="5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120" dirty="0">
                <a:solidFill>
                  <a:prstClr val="black"/>
                </a:solidFill>
                <a:latin typeface="Times New Roman"/>
                <a:cs typeface="Times New Roman"/>
              </a:rPr>
              <a:t>Spring </a:t>
            </a:r>
            <a:r>
              <a:rPr sz="2200" spc="-65" dirty="0">
                <a:solidFill>
                  <a:prstClr val="black"/>
                </a:solidFill>
                <a:latin typeface="Times New Roman"/>
                <a:cs typeface="Times New Roman"/>
              </a:rPr>
              <a:t>Control </a:t>
            </a: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and </a:t>
            </a:r>
            <a:r>
              <a:rPr sz="2200" spc="-85" dirty="0">
                <a:solidFill>
                  <a:prstClr val="black"/>
                </a:solidFill>
                <a:latin typeface="Times New Roman"/>
                <a:cs typeface="Times New Roman"/>
              </a:rPr>
              <a:t>Air-friction</a:t>
            </a:r>
            <a:r>
              <a:rPr sz="2200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lnSpc>
                <a:spcPts val="261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80" dirty="0">
                <a:solidFill>
                  <a:prstClr val="black"/>
                </a:solidFill>
                <a:latin typeface="Times New Roman"/>
                <a:cs typeface="Times New Roman"/>
              </a:rPr>
              <a:t>Operating</a:t>
            </a:r>
            <a:r>
              <a:rPr sz="2200" spc="-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60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2130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160" dirty="0">
                <a:solidFill>
                  <a:prstClr val="black"/>
                </a:solidFill>
                <a:latin typeface="Times New Roman"/>
                <a:cs typeface="Times New Roman"/>
              </a:rPr>
              <a:t>Low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when </a:t>
            </a:r>
            <a:r>
              <a:rPr sz="2000" spc="-130" dirty="0">
                <a:solidFill>
                  <a:prstClr val="black"/>
                </a:solidFill>
                <a:latin typeface="Times New Roman"/>
                <a:cs typeface="Times New Roman"/>
              </a:rPr>
              <a:t>moving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iron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just </a:t>
            </a:r>
            <a:r>
              <a:rPr sz="2000" spc="-50" dirty="0">
                <a:solidFill>
                  <a:prstClr val="black"/>
                </a:solidFill>
                <a:latin typeface="Times New Roman"/>
                <a:cs typeface="Times New Roman"/>
              </a:rPr>
              <a:t>enters</a:t>
            </a:r>
            <a:r>
              <a:rPr sz="2000" spc="1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solenoid.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>
              <a:lnSpc>
                <a:spcPts val="2120"/>
              </a:lnSpc>
            </a:pP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Hence, </a:t>
            </a:r>
            <a:r>
              <a:rPr sz="2000" spc="-140" dirty="0">
                <a:solidFill>
                  <a:prstClr val="black"/>
                </a:solidFill>
                <a:latin typeface="Times New Roman"/>
                <a:cs typeface="Times New Roman"/>
              </a:rPr>
              <a:t>Scale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cramped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at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lower</a:t>
            </a:r>
            <a:r>
              <a:rPr sz="2000"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end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 lvl="1" indent="-228600">
              <a:lnSpc>
                <a:spcPts val="2120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61340" algn="l"/>
              </a:tabLst>
            </a:pP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Increases </a:t>
            </a:r>
            <a:r>
              <a:rPr sz="2000" spc="-105" dirty="0">
                <a:solidFill>
                  <a:prstClr val="black"/>
                </a:solidFill>
                <a:latin typeface="Times New Roman"/>
                <a:cs typeface="Times New Roman"/>
              </a:rPr>
              <a:t>rapidly </a:t>
            </a:r>
            <a:r>
              <a:rPr sz="2000" spc="-160" dirty="0">
                <a:solidFill>
                  <a:prstClr val="black"/>
                </a:solidFill>
                <a:latin typeface="Times New Roman"/>
                <a:cs typeface="Times New Roman"/>
              </a:rPr>
              <a:t>as </a:t>
            </a:r>
            <a:r>
              <a:rPr sz="2000" spc="-130" dirty="0">
                <a:solidFill>
                  <a:prstClr val="black"/>
                </a:solidFill>
                <a:latin typeface="Times New Roman"/>
                <a:cs typeface="Times New Roman"/>
              </a:rPr>
              <a:t>moving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iron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drawn</a:t>
            </a:r>
            <a:r>
              <a:rPr sz="2000" spc="2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prstClr val="black"/>
                </a:solidFill>
                <a:latin typeface="Times New Roman"/>
                <a:cs typeface="Times New Roman"/>
              </a:rPr>
              <a:t>in.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61340">
              <a:lnSpc>
                <a:spcPts val="2160"/>
              </a:lnSpc>
            </a:pP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Hence, </a:t>
            </a:r>
            <a:r>
              <a:rPr sz="2000" spc="-140" dirty="0">
                <a:solidFill>
                  <a:prstClr val="black"/>
                </a:solidFill>
                <a:latin typeface="Times New Roman"/>
                <a:cs typeface="Times New Roman"/>
              </a:rPr>
              <a:t>Scale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expanded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at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upper</a:t>
            </a:r>
            <a:r>
              <a:rPr sz="20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end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7811" y="2138173"/>
            <a:ext cx="3609340" cy="3657411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4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68935"/>
            <a:r>
              <a:rPr sz="2450" spc="-170" dirty="0">
                <a:solidFill>
                  <a:prstClr val="black"/>
                </a:solidFill>
                <a:latin typeface="Symbol"/>
                <a:cs typeface="Symbol"/>
              </a:rPr>
              <a:t></a:t>
            </a:r>
            <a:endParaRPr sz="2450">
              <a:solidFill>
                <a:prstClr val="black"/>
              </a:solidFill>
              <a:latin typeface="Symbol"/>
              <a:cs typeface="Symbol"/>
            </a:endParaRPr>
          </a:p>
          <a:p>
            <a:pPr marL="225425">
              <a:spcBef>
                <a:spcPts val="1560"/>
              </a:spcBef>
            </a:pPr>
            <a:r>
              <a:rPr sz="2450" spc="-170" dirty="0">
                <a:solidFill>
                  <a:prstClr val="black"/>
                </a:solidFill>
                <a:latin typeface="Symbol"/>
                <a:cs typeface="Symbol"/>
              </a:rPr>
              <a:t></a:t>
            </a:r>
            <a:endParaRPr sz="245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1133" y="2033016"/>
            <a:ext cx="3817619" cy="3767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7811" y="2138172"/>
            <a:ext cx="3604260" cy="3557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4733" y="6329531"/>
            <a:ext cx="2870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400" dirty="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86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22824851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67499" y="1786127"/>
            <a:ext cx="3857244" cy="4072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8932" y="525744"/>
            <a:ext cx="75571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30" dirty="0"/>
              <a:t>Moving </a:t>
            </a:r>
            <a:r>
              <a:rPr spc="-120" dirty="0"/>
              <a:t>Iron </a:t>
            </a:r>
            <a:r>
              <a:rPr spc="-125" dirty="0"/>
              <a:t>Instrument: </a:t>
            </a:r>
            <a:r>
              <a:rPr spc="-50" dirty="0"/>
              <a:t>Repulsion</a:t>
            </a:r>
            <a:r>
              <a:rPr spc="-525" dirty="0"/>
              <a:t> </a:t>
            </a:r>
            <a:r>
              <a:rPr spc="-195" dirty="0"/>
              <a:t>type</a:t>
            </a:r>
          </a:p>
        </p:txBody>
      </p:sp>
      <p:sp>
        <p:nvSpPr>
          <p:cNvPr id="4" name="object 4"/>
          <p:cNvSpPr/>
          <p:nvPr/>
        </p:nvSpPr>
        <p:spPr>
          <a:xfrm>
            <a:off x="226176" y="62217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2800" y="1800861"/>
            <a:ext cx="5959906" cy="3947747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9085" marR="202565" indent="-274320">
              <a:lnSpc>
                <a:spcPct val="80000"/>
              </a:lnSpc>
              <a:spcBef>
                <a:spcPts val="62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99085" algn="l"/>
                <a:tab pos="299720" algn="l"/>
              </a:tabLst>
            </a:pPr>
            <a:r>
              <a:rPr sz="2200" spc="-75" dirty="0">
                <a:solidFill>
                  <a:prstClr val="black"/>
                </a:solidFill>
                <a:latin typeface="Times New Roman"/>
                <a:cs typeface="Times New Roman"/>
              </a:rPr>
              <a:t>Principle: </a:t>
            </a:r>
            <a:r>
              <a:rPr sz="2200" spc="-114" dirty="0">
                <a:solidFill>
                  <a:prstClr val="black"/>
                </a:solidFill>
                <a:latin typeface="Times New Roman"/>
                <a:cs typeface="Times New Roman"/>
              </a:rPr>
              <a:t>Repulsion </a:t>
            </a:r>
            <a:r>
              <a:rPr sz="2200" spc="-13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200" spc="-90" dirty="0">
                <a:solidFill>
                  <a:prstClr val="black"/>
                </a:solidFill>
                <a:latin typeface="Times New Roman"/>
                <a:cs typeface="Times New Roman"/>
              </a:rPr>
              <a:t>two </a:t>
            </a:r>
            <a:r>
              <a:rPr sz="2200" spc="-110" dirty="0">
                <a:solidFill>
                  <a:prstClr val="black"/>
                </a:solidFill>
                <a:latin typeface="Times New Roman"/>
                <a:cs typeface="Times New Roman"/>
              </a:rPr>
              <a:t>adjacent </a:t>
            </a:r>
            <a:r>
              <a:rPr sz="2200" spc="-75" dirty="0">
                <a:solidFill>
                  <a:prstClr val="black"/>
                </a:solidFill>
                <a:latin typeface="Times New Roman"/>
                <a:cs typeface="Times New Roman"/>
              </a:rPr>
              <a:t>iron  </a:t>
            </a:r>
            <a:r>
              <a:rPr sz="2200" spc="-114" dirty="0">
                <a:solidFill>
                  <a:prstClr val="black"/>
                </a:solidFill>
                <a:latin typeface="Times New Roman"/>
                <a:cs typeface="Times New Roman"/>
              </a:rPr>
              <a:t>pieces magnetized </a:t>
            </a:r>
            <a:r>
              <a:rPr sz="2200" spc="-180" dirty="0">
                <a:solidFill>
                  <a:prstClr val="black"/>
                </a:solidFill>
                <a:latin typeface="Times New Roman"/>
                <a:cs typeface="Times New Roman"/>
              </a:rPr>
              <a:t>by </a:t>
            </a:r>
            <a:r>
              <a:rPr sz="2200" spc="-140" dirty="0">
                <a:solidFill>
                  <a:prstClr val="black"/>
                </a:solidFill>
                <a:latin typeface="Times New Roman"/>
                <a:cs typeface="Times New Roman"/>
              </a:rPr>
              <a:t>same </a:t>
            </a:r>
            <a:r>
              <a:rPr sz="2200" spc="-114" dirty="0">
                <a:solidFill>
                  <a:prstClr val="black"/>
                </a:solidFill>
                <a:latin typeface="Times New Roman"/>
                <a:cs typeface="Times New Roman"/>
              </a:rPr>
              <a:t>magnetic</a:t>
            </a:r>
            <a:r>
              <a:rPr sz="2200" spc="2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10" dirty="0">
                <a:solidFill>
                  <a:prstClr val="black"/>
                </a:solidFill>
                <a:latin typeface="Times New Roman"/>
                <a:cs typeface="Times New Roman"/>
              </a:rPr>
              <a:t>field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9720" indent="-274320">
              <a:lnSpc>
                <a:spcPts val="261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99085" algn="l"/>
                <a:tab pos="299720" algn="l"/>
              </a:tabLst>
            </a:pPr>
            <a:r>
              <a:rPr sz="2200" spc="-60" dirty="0">
                <a:solidFill>
                  <a:prstClr val="black"/>
                </a:solidFill>
                <a:latin typeface="Times New Roman"/>
                <a:cs typeface="Times New Roman"/>
              </a:rPr>
              <a:t>Operation: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4040" marR="17780" lvl="1" indent="-228600">
              <a:lnSpc>
                <a:spcPct val="80000"/>
              </a:lnSpc>
              <a:spcBef>
                <a:spcPts val="450"/>
              </a:spcBef>
              <a:buClr>
                <a:srgbClr val="9B2C1F"/>
              </a:buClr>
              <a:buSzPct val="85000"/>
              <a:buFont typeface="UnDotum"/>
              <a:buChar char=""/>
              <a:tabLst>
                <a:tab pos="574040" algn="l"/>
              </a:tabLst>
            </a:pPr>
            <a:r>
              <a:rPr sz="2000" spc="-45" dirty="0">
                <a:solidFill>
                  <a:prstClr val="black"/>
                </a:solidFill>
                <a:latin typeface="Times New Roman"/>
                <a:cs typeface="Times New Roman"/>
              </a:rPr>
              <a:t>Current </a:t>
            </a:r>
            <a:r>
              <a:rPr sz="2000" spc="-25" dirty="0">
                <a:solidFill>
                  <a:prstClr val="black"/>
                </a:solidFill>
                <a:latin typeface="Times New Roman"/>
                <a:cs typeface="Times New Roman"/>
              </a:rPr>
              <a:t>to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be </a:t>
            </a:r>
            <a:r>
              <a:rPr sz="2000" spc="-100" dirty="0">
                <a:solidFill>
                  <a:prstClr val="black"/>
                </a:solidFill>
                <a:latin typeface="Times New Roman"/>
                <a:cs typeface="Times New Roman"/>
              </a:rPr>
              <a:t>measured </a:t>
            </a:r>
            <a:r>
              <a:rPr sz="2000" spc="-120" dirty="0">
                <a:solidFill>
                  <a:prstClr val="black"/>
                </a:solidFill>
                <a:latin typeface="Times New Roman"/>
                <a:cs typeface="Times New Roman"/>
              </a:rPr>
              <a:t>passed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through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coil, 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setting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up </a:t>
            </a:r>
            <a:r>
              <a:rPr sz="2000" spc="-105" dirty="0">
                <a:solidFill>
                  <a:prstClr val="black"/>
                </a:solidFill>
                <a:latin typeface="Times New Roman"/>
                <a:cs typeface="Times New Roman"/>
              </a:rPr>
              <a:t>magnetic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field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which magnetizes 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both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irons in </a:t>
            </a:r>
            <a:r>
              <a:rPr sz="2000" spc="-125" dirty="0">
                <a:solidFill>
                  <a:prstClr val="black"/>
                </a:solidFill>
                <a:latin typeface="Times New Roman"/>
                <a:cs typeface="Times New Roman"/>
              </a:rPr>
              <a:t>same</a:t>
            </a:r>
            <a:r>
              <a:rPr sz="2000"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direction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4040" lvl="1" indent="-228600">
              <a:lnSpc>
                <a:spcPts val="2285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74040" algn="l"/>
              </a:tabLst>
            </a:pP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Repulsive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force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set</a:t>
            </a:r>
            <a:r>
              <a:rPr sz="2000" spc="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up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4040" lvl="1" indent="-228600">
              <a:lnSpc>
                <a:spcPts val="2120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74040" algn="l"/>
              </a:tabLst>
            </a:pPr>
            <a:r>
              <a:rPr sz="2000" spc="-150" dirty="0">
                <a:solidFill>
                  <a:prstClr val="black"/>
                </a:solidFill>
                <a:latin typeface="Times New Roman"/>
                <a:cs typeface="Times New Roman"/>
              </a:rPr>
              <a:t>Moving </a:t>
            </a:r>
            <a:r>
              <a:rPr sz="2000" spc="-75" dirty="0">
                <a:solidFill>
                  <a:prstClr val="black"/>
                </a:solidFill>
                <a:latin typeface="Times New Roman"/>
                <a:cs typeface="Times New Roman"/>
              </a:rPr>
              <a:t>iron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repelled </a:t>
            </a:r>
            <a:r>
              <a:rPr sz="2000" spc="-150" dirty="0">
                <a:solidFill>
                  <a:prstClr val="black"/>
                </a:solidFill>
                <a:latin typeface="Times New Roman"/>
                <a:cs typeface="Times New Roman"/>
              </a:rPr>
              <a:t>by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fixed </a:t>
            </a:r>
            <a:r>
              <a:rPr sz="2000" spc="-45" dirty="0">
                <a:solidFill>
                  <a:prstClr val="black"/>
                </a:solidFill>
                <a:latin typeface="Times New Roman"/>
                <a:cs typeface="Times New Roman"/>
              </a:rPr>
              <a:t>iron,</a:t>
            </a:r>
            <a:r>
              <a:rPr sz="2000" spc="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and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4040">
              <a:lnSpc>
                <a:spcPts val="2160"/>
              </a:lnSpc>
            </a:pP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pointer</a:t>
            </a:r>
            <a:r>
              <a:rPr sz="2000" spc="-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140" dirty="0">
                <a:solidFill>
                  <a:prstClr val="black"/>
                </a:solidFill>
                <a:latin typeface="Times New Roman"/>
                <a:cs typeface="Times New Roman"/>
              </a:rPr>
              <a:t>moves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9720" indent="-274320">
              <a:spcBef>
                <a:spcPts val="5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99085" algn="l"/>
                <a:tab pos="299720" algn="l"/>
              </a:tabLst>
            </a:pP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Spring </a:t>
            </a:r>
            <a:r>
              <a:rPr sz="2200" spc="-70" dirty="0">
                <a:solidFill>
                  <a:prstClr val="black"/>
                </a:solidFill>
                <a:latin typeface="Times New Roman"/>
                <a:cs typeface="Times New Roman"/>
              </a:rPr>
              <a:t>Control </a:t>
            </a: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and </a:t>
            </a:r>
            <a:r>
              <a:rPr sz="2200" spc="-85" dirty="0">
                <a:solidFill>
                  <a:prstClr val="black"/>
                </a:solidFill>
                <a:latin typeface="Times New Roman"/>
                <a:cs typeface="Times New Roman"/>
              </a:rPr>
              <a:t>Air-friction</a:t>
            </a:r>
            <a:r>
              <a:rPr sz="22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30" dirty="0">
                <a:solidFill>
                  <a:prstClr val="black"/>
                </a:solidFill>
                <a:latin typeface="Times New Roman"/>
                <a:cs typeface="Times New Roman"/>
              </a:rPr>
              <a:t>damping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9720" indent="-274320">
              <a:spcBef>
                <a:spcPts val="7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99085" algn="l"/>
                <a:tab pos="299720" algn="l"/>
              </a:tabLst>
            </a:pPr>
            <a:r>
              <a:rPr sz="2200" spc="-90" dirty="0">
                <a:solidFill>
                  <a:prstClr val="black"/>
                </a:solidFill>
                <a:latin typeface="Times New Roman"/>
                <a:cs typeface="Times New Roman"/>
              </a:rPr>
              <a:t>Non-uniform</a:t>
            </a:r>
            <a:r>
              <a:rPr sz="2200" spc="-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35" dirty="0">
                <a:solidFill>
                  <a:prstClr val="black"/>
                </a:solidFill>
                <a:latin typeface="Times New Roman"/>
                <a:cs typeface="Times New Roman"/>
              </a:rPr>
              <a:t>scale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9720" indent="-274320">
              <a:lnSpc>
                <a:spcPts val="2375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99085" algn="l"/>
                <a:tab pos="299720" algn="l"/>
              </a:tabLst>
            </a:pPr>
            <a:r>
              <a:rPr sz="2200" spc="-260" dirty="0">
                <a:solidFill>
                  <a:prstClr val="black"/>
                </a:solidFill>
                <a:latin typeface="Times New Roman"/>
                <a:cs typeface="Times New Roman"/>
              </a:rPr>
              <a:t>AC </a:t>
            </a:r>
            <a:r>
              <a:rPr sz="2200" spc="-125" dirty="0">
                <a:solidFill>
                  <a:prstClr val="black"/>
                </a:solidFill>
                <a:latin typeface="Times New Roman"/>
                <a:cs typeface="Times New Roman"/>
              </a:rPr>
              <a:t>and DC </a:t>
            </a:r>
            <a:r>
              <a:rPr sz="2200" spc="-105" dirty="0">
                <a:solidFill>
                  <a:prstClr val="black"/>
                </a:solidFill>
                <a:latin typeface="Times New Roman"/>
                <a:cs typeface="Times New Roman"/>
              </a:rPr>
              <a:t>Measurements:</a:t>
            </a:r>
            <a:r>
              <a:rPr sz="2200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prstClr val="black"/>
                </a:solidFill>
                <a:latin typeface="Times New Roman"/>
                <a:cs typeface="Times New Roman"/>
              </a:rPr>
              <a:t>deflecting</a:t>
            </a:r>
            <a:endParaRPr sz="22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9085">
              <a:lnSpc>
                <a:spcPts val="2375"/>
              </a:lnSpc>
              <a:tabLst>
                <a:tab pos="2348865" algn="l"/>
              </a:tabLst>
            </a:pPr>
            <a:r>
              <a:rPr sz="2200" spc="-60" dirty="0">
                <a:solidFill>
                  <a:prstClr val="black"/>
                </a:solidFill>
                <a:latin typeface="Times New Roman"/>
                <a:cs typeface="Times New Roman"/>
              </a:rPr>
              <a:t>torque</a:t>
            </a:r>
            <a:r>
              <a:rPr sz="2200" spc="-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solidFill>
                  <a:prstClr val="black"/>
                </a:solidFill>
                <a:latin typeface="Times New Roman"/>
                <a:cs typeface="Times New Roman"/>
              </a:rPr>
              <a:t>depends</a:t>
            </a:r>
            <a:r>
              <a:rPr sz="22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200" spc="-95" dirty="0">
                <a:solidFill>
                  <a:prstClr val="black"/>
                </a:solidFill>
                <a:latin typeface="Times New Roman"/>
                <a:cs typeface="Times New Roman"/>
              </a:rPr>
              <a:t>on	</a:t>
            </a:r>
            <a:r>
              <a:rPr sz="3150" i="1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3150" i="1" spc="-337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pc="7" baseline="30092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baseline="30092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4733" y="6329531"/>
            <a:ext cx="2870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140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87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33868000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05116" y="2286000"/>
            <a:ext cx="3092195" cy="2546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9677" y="62099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2917" y="5163440"/>
            <a:ext cx="5575935" cy="973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spcBef>
                <a:spcPts val="9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185" dirty="0">
                <a:solidFill>
                  <a:prstClr val="black"/>
                </a:solidFill>
                <a:latin typeface="Arial"/>
                <a:cs typeface="Arial"/>
              </a:rPr>
              <a:t>DC </a:t>
            </a:r>
            <a:r>
              <a:rPr sz="2200" spc="-265" dirty="0">
                <a:solidFill>
                  <a:prstClr val="black"/>
                </a:solidFill>
                <a:latin typeface="Arial"/>
                <a:cs typeface="Arial"/>
              </a:rPr>
              <a:t>measurements</a:t>
            </a:r>
            <a:r>
              <a:rPr sz="220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60" dirty="0">
                <a:solidFill>
                  <a:prstClr val="black"/>
                </a:solidFill>
                <a:latin typeface="Arial"/>
                <a:cs typeface="Arial"/>
              </a:rPr>
              <a:t>only</a:t>
            </a:r>
            <a:endParaRPr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287020" indent="-274320">
              <a:lnSpc>
                <a:spcPts val="2375"/>
              </a:lnSpc>
              <a:spcBef>
                <a:spcPts val="7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2200" spc="-70" dirty="0">
                <a:solidFill>
                  <a:prstClr val="black"/>
                </a:solidFill>
                <a:latin typeface="Arial"/>
                <a:cs typeface="Arial"/>
              </a:rPr>
              <a:t>At </a:t>
            </a:r>
            <a:r>
              <a:rPr sz="2200" spc="-180" dirty="0">
                <a:solidFill>
                  <a:prstClr val="black"/>
                </a:solidFill>
                <a:latin typeface="Arial"/>
                <a:cs typeface="Arial"/>
              </a:rPr>
              <a:t>AC, </a:t>
            </a:r>
            <a:r>
              <a:rPr sz="2200" spc="-135" dirty="0">
                <a:solidFill>
                  <a:prstClr val="black"/>
                </a:solidFill>
                <a:latin typeface="Arial"/>
                <a:cs typeface="Arial"/>
              </a:rPr>
              <a:t>pointer </a:t>
            </a:r>
            <a:r>
              <a:rPr sz="2200" spc="-145" dirty="0">
                <a:solidFill>
                  <a:prstClr val="black"/>
                </a:solidFill>
                <a:latin typeface="Arial"/>
                <a:cs typeface="Arial"/>
              </a:rPr>
              <a:t>follows </a:t>
            </a:r>
            <a:r>
              <a:rPr sz="2200" spc="-135" dirty="0">
                <a:solidFill>
                  <a:prstClr val="black"/>
                </a:solidFill>
                <a:latin typeface="Arial"/>
                <a:cs typeface="Arial"/>
              </a:rPr>
              <a:t>current direction </a:t>
            </a:r>
            <a:r>
              <a:rPr sz="2200" spc="-290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200" spc="-195" dirty="0">
                <a:solidFill>
                  <a:prstClr val="black"/>
                </a:solidFill>
                <a:latin typeface="Arial"/>
                <a:cs typeface="Arial"/>
              </a:rPr>
              <a:t> quivers</a:t>
            </a:r>
            <a:endParaRPr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286385">
              <a:lnSpc>
                <a:spcPts val="2375"/>
              </a:lnSpc>
            </a:pPr>
            <a:r>
              <a:rPr sz="2200" spc="-220" dirty="0">
                <a:solidFill>
                  <a:prstClr val="black"/>
                </a:solidFill>
                <a:latin typeface="Arial"/>
                <a:cs typeface="Arial"/>
              </a:rPr>
              <a:t>around </a:t>
            </a:r>
            <a:r>
              <a:rPr sz="2200" spc="-215" dirty="0">
                <a:solidFill>
                  <a:prstClr val="black"/>
                </a:solidFill>
                <a:latin typeface="Arial"/>
                <a:cs typeface="Arial"/>
              </a:rPr>
              <a:t>zero</a:t>
            </a:r>
            <a:r>
              <a:rPr sz="22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4" dirty="0">
                <a:solidFill>
                  <a:prstClr val="black"/>
                </a:solidFill>
                <a:latin typeface="Arial"/>
                <a:cs typeface="Arial"/>
              </a:rPr>
              <a:t>mark</a:t>
            </a:r>
            <a:endParaRPr sz="2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733" y="6329531"/>
            <a:ext cx="2870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r>
              <a:rPr sz="1400" spc="85" dirty="0">
                <a:solidFill>
                  <a:srgbClr val="FFFFFF"/>
                </a:solidFill>
                <a:latin typeface="Trebuchet MS"/>
                <a:cs typeface="Trebuchet MS"/>
              </a:rPr>
              <a:t>12</a:t>
            </a:r>
            <a:endParaRPr sz="1400" dirty="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6151" y="4502562"/>
            <a:ext cx="295910" cy="356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spcBef>
                <a:spcPts val="114"/>
              </a:spcBef>
            </a:pPr>
            <a:r>
              <a:rPr sz="2150" i="1" spc="-5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75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endParaRPr sz="1875" baseline="-24444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4816" y="1800860"/>
            <a:ext cx="5523230" cy="30365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24485" marR="316865" indent="-274320">
              <a:lnSpc>
                <a:spcPct val="80000"/>
              </a:lnSpc>
              <a:spcBef>
                <a:spcPts val="620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324485" algn="l"/>
                <a:tab pos="325120" algn="l"/>
              </a:tabLst>
            </a:pPr>
            <a:r>
              <a:rPr sz="2200" spc="-1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Principle: </a:t>
            </a:r>
            <a:r>
              <a:rPr sz="2200" spc="-13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sz="2200" spc="-16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carrying </a:t>
            </a:r>
            <a:r>
              <a:rPr sz="2200" spc="-17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conductor, </a:t>
            </a:r>
            <a:r>
              <a:rPr sz="2200" spc="-23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placed </a:t>
            </a:r>
            <a:r>
              <a:rPr sz="2200" spc="-10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sz="2200" spc="-2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</a:t>
            </a:r>
            <a:r>
              <a:rPr sz="2200" spc="-8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field, </a:t>
            </a:r>
            <a:r>
              <a:rPr sz="2200" spc="-2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r>
              <a:rPr sz="2200" spc="-1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6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endParaRPr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120" indent="-274320">
              <a:lnSpc>
                <a:spcPts val="2610"/>
              </a:lnSpc>
              <a:spcBef>
                <a:spcPts val="7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324485" algn="l"/>
                <a:tab pos="325120" algn="l"/>
              </a:tabLst>
            </a:pPr>
            <a:r>
              <a:rPr sz="2200" spc="-14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Operation:</a:t>
            </a:r>
            <a:endParaRPr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9440" lvl="1" indent="-228600">
              <a:lnSpc>
                <a:spcPts val="2335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99440" algn="l"/>
              </a:tabLst>
            </a:pPr>
            <a:r>
              <a:rPr sz="2000" spc="-1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sz="2000" spc="-8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26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25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</a:t>
            </a:r>
            <a:r>
              <a:rPr sz="2000" spc="-30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passed </a:t>
            </a:r>
            <a:r>
              <a:rPr sz="2000" spc="-1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000" spc="-18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coil</a:t>
            </a:r>
            <a:endParaRPr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9440" marR="43180" lvl="1" indent="-228600">
              <a:lnSpc>
                <a:spcPts val="1920"/>
              </a:lnSpc>
              <a:spcBef>
                <a:spcPts val="425"/>
              </a:spcBef>
              <a:buClr>
                <a:srgbClr val="9B2C1F"/>
              </a:buClr>
              <a:buSzPct val="85000"/>
              <a:buFont typeface="UnDotum"/>
              <a:buChar char=""/>
              <a:tabLst>
                <a:tab pos="599440" algn="l"/>
              </a:tabLst>
            </a:pPr>
            <a:r>
              <a:rPr sz="2000" spc="-9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Coil </a:t>
            </a:r>
            <a:r>
              <a:rPr sz="2000" spc="-20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</a:t>
            </a:r>
            <a:r>
              <a:rPr sz="2000" spc="-1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deflecting </a:t>
            </a:r>
            <a:r>
              <a:rPr sz="2000" spc="-14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torque </a:t>
            </a:r>
            <a:r>
              <a:rPr sz="2000" spc="-23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</a:t>
            </a:r>
            <a:r>
              <a:rPr sz="2000" spc="-8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000" spc="-17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</a:t>
            </a:r>
            <a:r>
              <a:rPr sz="2000" spc="-14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sz="2000" spc="-1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spc="-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</a:t>
            </a:r>
            <a:r>
              <a:rPr sz="2000" spc="-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sz="2000" spc="-11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1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29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  <a:endParaRPr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9440" lvl="1" indent="-228600">
              <a:lnSpc>
                <a:spcPts val="2090"/>
              </a:lnSpc>
              <a:buClr>
                <a:srgbClr val="9B2C1F"/>
              </a:buClr>
              <a:buSzPct val="85000"/>
              <a:buFont typeface="UnDotum"/>
              <a:buChar char=""/>
              <a:tabLst>
                <a:tab pos="599440" algn="l"/>
              </a:tabLst>
            </a:pPr>
            <a:r>
              <a:rPr sz="2000" spc="-1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 </a:t>
            </a:r>
            <a:r>
              <a:rPr sz="2000" spc="-14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torque </a:t>
            </a:r>
            <a:r>
              <a:rPr sz="2000" spc="-2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spc="-19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spc="-20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phosphor</a:t>
            </a:r>
            <a:r>
              <a:rPr sz="2000" spc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bronze</a:t>
            </a:r>
            <a:endParaRPr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9440">
              <a:lnSpc>
                <a:spcPts val="2160"/>
              </a:lnSpc>
            </a:pPr>
            <a:r>
              <a:rPr sz="2000" spc="-17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conducting</a:t>
            </a:r>
            <a:r>
              <a:rPr sz="2000" spc="-9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9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springs</a:t>
            </a:r>
            <a:endParaRPr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120" indent="-274320">
              <a:spcBef>
                <a:spcPts val="55"/>
              </a:spcBef>
              <a:buClr>
                <a:srgbClr val="D24717"/>
              </a:buClr>
              <a:buSzPct val="84090"/>
              <a:buFont typeface="UnDotum"/>
              <a:buChar char=""/>
              <a:tabLst>
                <a:tab pos="324485" algn="l"/>
                <a:tab pos="325120" algn="l"/>
              </a:tabLst>
            </a:pPr>
            <a:r>
              <a:rPr sz="2200" spc="-20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</a:t>
            </a:r>
            <a:r>
              <a:rPr sz="2200" spc="-1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sz="2200" spc="-29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100" spc="-16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Eddy-current</a:t>
            </a:r>
            <a:r>
              <a:rPr sz="2100" spc="-5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3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damping</a:t>
            </a:r>
            <a:endParaRPr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9450" indent="-629285">
              <a:spcBef>
                <a:spcPts val="25"/>
              </a:spcBef>
              <a:buClr>
                <a:srgbClr val="D24717"/>
              </a:buClr>
              <a:buSzPct val="86046"/>
              <a:buFont typeface="UnDotum"/>
              <a:buChar char=""/>
              <a:tabLst>
                <a:tab pos="679450" algn="l"/>
                <a:tab pos="680085" algn="l"/>
                <a:tab pos="1652270" algn="l"/>
              </a:tabLst>
            </a:pPr>
            <a:r>
              <a:rPr sz="3225" spc="30" baseline="-51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</a:t>
            </a:r>
            <a:r>
              <a:rPr sz="3225" spc="89" baseline="-51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25" i="1" spc="15" baseline="-51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225" i="1" spc="434" baseline="-51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9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	</a:t>
            </a:r>
            <a:r>
              <a:rPr sz="3225" i="1" spc="-97" baseline="-51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875" i="1" spc="-97" baseline="-33333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sz="3225" spc="-60" baseline="-5167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</a:t>
            </a:r>
            <a:r>
              <a:rPr sz="3375" i="1" spc="-60" baseline="-493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</a:t>
            </a:r>
            <a:r>
              <a:rPr sz="2200" spc="-4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200" spc="-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200" spc="-26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steady</a:t>
            </a:r>
            <a:r>
              <a:rPr sz="2200" spc="-17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4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deflection,</a:t>
            </a:r>
            <a:endParaRPr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2578" y="552653"/>
            <a:ext cx="8321592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30" dirty="0"/>
              <a:t>Moving </a:t>
            </a:r>
            <a:r>
              <a:rPr spc="-145" dirty="0"/>
              <a:t>Coil </a:t>
            </a:r>
            <a:r>
              <a:rPr spc="-100" dirty="0"/>
              <a:t>Instruments:</a:t>
            </a:r>
            <a:r>
              <a:rPr spc="-555" dirty="0"/>
              <a:t> </a:t>
            </a:r>
            <a:r>
              <a:rPr sz="3000" spc="-82" baseline="40277" dirty="0"/>
              <a:t>Permanent </a:t>
            </a:r>
            <a:r>
              <a:rPr sz="3000" spc="-22" baseline="40277" dirty="0"/>
              <a:t>Magnet</a:t>
            </a:r>
            <a:endParaRPr sz="3000" baseline="40277" dirty="0"/>
          </a:p>
        </p:txBody>
      </p:sp>
      <p:sp>
        <p:nvSpPr>
          <p:cNvPr id="8" name="object 8"/>
          <p:cNvSpPr txBox="1"/>
          <p:nvPr/>
        </p:nvSpPr>
        <p:spPr>
          <a:xfrm>
            <a:off x="7405116" y="942180"/>
            <a:ext cx="2170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0" dirty="0">
                <a:solidFill>
                  <a:srgbClr val="696363"/>
                </a:solidFill>
                <a:latin typeface="Trebuchet MS"/>
                <a:cs typeface="Trebuchet MS"/>
              </a:rPr>
              <a:t>Moving </a:t>
            </a:r>
            <a:r>
              <a:rPr sz="2000" spc="-75" dirty="0">
                <a:solidFill>
                  <a:srgbClr val="696363"/>
                </a:solidFill>
                <a:latin typeface="Trebuchet MS"/>
                <a:cs typeface="Trebuchet MS"/>
              </a:rPr>
              <a:t>Coil</a:t>
            </a:r>
            <a:r>
              <a:rPr sz="2000" spc="-240" dirty="0">
                <a:solidFill>
                  <a:srgbClr val="696363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696363"/>
                </a:solidFill>
                <a:latin typeface="Trebuchet MS"/>
                <a:cs typeface="Trebuchet MS"/>
              </a:rPr>
              <a:t>(PMMC)</a:t>
            </a:r>
            <a:endParaRPr sz="2000" dirty="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3235" y="4773839"/>
            <a:ext cx="813435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spcBef>
                <a:spcPts val="125"/>
              </a:spcBef>
            </a:pPr>
            <a:r>
              <a:rPr sz="2150" i="1" spc="-6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89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c </a:t>
            </a:r>
            <a:r>
              <a:rPr sz="2150" spc="15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2150" spc="-1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50" i="1" spc="-5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75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endParaRPr sz="1875" baseline="-24444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0702" y="4806485"/>
            <a:ext cx="295783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3225" spc="82" baseline="1033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r>
              <a:rPr sz="3450" i="1" spc="82" baseline="9661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r>
              <a:rPr sz="3225" spc="82" baseline="10335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3225" spc="82" baseline="103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225" i="1" spc="-37" baseline="1033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80" dirty="0">
                <a:solidFill>
                  <a:prstClr val="black"/>
                </a:solidFill>
                <a:latin typeface="Arial"/>
                <a:cs typeface="Arial"/>
              </a:rPr>
              <a:t>i.e. </a:t>
            </a:r>
            <a:r>
              <a:rPr sz="2200" spc="-110" dirty="0">
                <a:solidFill>
                  <a:prstClr val="black"/>
                </a:solidFill>
                <a:latin typeface="Arial"/>
                <a:cs typeface="Arial"/>
              </a:rPr>
              <a:t>Uniform</a:t>
            </a:r>
            <a:r>
              <a:rPr sz="2200" spc="-43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310" dirty="0">
                <a:solidFill>
                  <a:prstClr val="black"/>
                </a:solidFill>
                <a:latin typeface="Arial"/>
                <a:cs typeface="Arial"/>
              </a:rPr>
              <a:t>Scale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88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40748575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0307" y="62099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8642" y="5148452"/>
            <a:ext cx="139700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600" spc="-705" dirty="0">
                <a:solidFill>
                  <a:srgbClr val="D24717"/>
                </a:solidFill>
                <a:latin typeface="UnDotum"/>
                <a:cs typeface="UnDotum"/>
              </a:rPr>
              <a:t></a:t>
            </a:r>
            <a:endParaRPr sz="1600">
              <a:solidFill>
                <a:prstClr val="black"/>
              </a:solidFill>
              <a:latin typeface="UnDotum"/>
              <a:cs typeface="Un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4331" y="5058829"/>
            <a:ext cx="104140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spcBef>
                <a:spcPts val="125"/>
              </a:spcBef>
            </a:pPr>
            <a:r>
              <a:rPr sz="2150" i="1" spc="-50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75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d </a:t>
            </a:r>
            <a:r>
              <a:rPr sz="2150" spc="15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2150" spc="1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50" i="1" spc="9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875" i="1" spc="142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r>
              <a:rPr sz="1875" i="1" spc="-37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50" i="1" spc="-1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875" i="1" spc="-22" baseline="-24444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endParaRPr sz="1875" baseline="-24444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06709" y="535707"/>
            <a:ext cx="9279467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pc="-30" dirty="0"/>
              <a:t>Moving </a:t>
            </a:r>
            <a:r>
              <a:rPr spc="-145" dirty="0"/>
              <a:t>Coil </a:t>
            </a:r>
            <a:r>
              <a:rPr spc="-100" dirty="0"/>
              <a:t>Instruments:</a:t>
            </a:r>
            <a:r>
              <a:rPr spc="-515" dirty="0"/>
              <a:t> </a:t>
            </a:r>
            <a:r>
              <a:rPr sz="3000" spc="-127" baseline="40277" dirty="0"/>
              <a:t>Dynamometer-type</a:t>
            </a:r>
            <a:endParaRPr sz="3000" baseline="40277" dirty="0"/>
          </a:p>
        </p:txBody>
      </p:sp>
      <p:sp>
        <p:nvSpPr>
          <p:cNvPr id="6" name="object 6"/>
          <p:cNvSpPr txBox="1"/>
          <p:nvPr/>
        </p:nvSpPr>
        <p:spPr>
          <a:xfrm>
            <a:off x="7931857" y="926394"/>
            <a:ext cx="12566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0" dirty="0">
                <a:solidFill>
                  <a:srgbClr val="696363"/>
                </a:solidFill>
                <a:latin typeface="Trebuchet MS"/>
                <a:cs typeface="Trebuchet MS"/>
              </a:rPr>
              <a:t>Moving</a:t>
            </a:r>
            <a:r>
              <a:rPr sz="2000" spc="-170" dirty="0">
                <a:solidFill>
                  <a:srgbClr val="696363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696363"/>
                </a:solidFill>
                <a:latin typeface="Trebuchet MS"/>
                <a:cs typeface="Trebuchet MS"/>
              </a:rPr>
              <a:t>Coil</a:t>
            </a:r>
            <a:endParaRPr sz="2000" dirty="0">
              <a:solidFill>
                <a:prstClr val="black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3558" y="5063738"/>
            <a:ext cx="4032885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spcBef>
                <a:spcPts val="135"/>
              </a:spcBef>
            </a:pPr>
            <a:r>
              <a:rPr sz="1900" spc="-254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3225" i="1" spc="-89" baseline="1291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89" baseline="-22222" dirty="0">
                <a:solidFill>
                  <a:prstClr val="black"/>
                </a:solidFill>
                <a:latin typeface="Times New Roman"/>
                <a:cs typeface="Times New Roman"/>
              </a:rPr>
              <a:t>c </a:t>
            </a:r>
            <a:r>
              <a:rPr sz="3225" spc="22" baseline="1291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3375" i="1" spc="22" baseline="1234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r>
              <a:rPr sz="1900" spc="15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1900" spc="-180" dirty="0">
                <a:solidFill>
                  <a:prstClr val="black"/>
                </a:solidFill>
                <a:latin typeface="Arial"/>
                <a:cs typeface="Arial"/>
              </a:rPr>
              <a:t>For </a:t>
            </a:r>
            <a:r>
              <a:rPr sz="1900" spc="-229" dirty="0">
                <a:solidFill>
                  <a:prstClr val="black"/>
                </a:solidFill>
                <a:latin typeface="Arial"/>
                <a:cs typeface="Arial"/>
              </a:rPr>
              <a:t>steady </a:t>
            </a:r>
            <a:r>
              <a:rPr sz="1900" spc="-120" dirty="0">
                <a:solidFill>
                  <a:prstClr val="black"/>
                </a:solidFill>
                <a:latin typeface="Arial"/>
                <a:cs typeface="Arial"/>
              </a:rPr>
              <a:t>deflection, </a:t>
            </a:r>
            <a:r>
              <a:rPr sz="3225" i="1" spc="-89" baseline="1291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89" baseline="-22222" dirty="0">
                <a:solidFill>
                  <a:prstClr val="black"/>
                </a:solidFill>
                <a:latin typeface="Times New Roman"/>
                <a:cs typeface="Times New Roman"/>
              </a:rPr>
              <a:t>c </a:t>
            </a:r>
            <a:r>
              <a:rPr sz="3225" spc="22" baseline="1291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3225" spc="-434" baseline="129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225" i="1" spc="-75" baseline="1291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875" i="1" spc="-75" baseline="-22222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endParaRPr sz="1875" baseline="-2222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8642" y="5619733"/>
            <a:ext cx="2311400" cy="5397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165" algn="ctr">
              <a:spcBef>
                <a:spcPts val="215"/>
              </a:spcBef>
            </a:pPr>
            <a:r>
              <a:rPr sz="1250" i="1" dirty="0">
                <a:solidFill>
                  <a:prstClr val="black"/>
                </a:solidFill>
                <a:latin typeface="Times New Roman"/>
                <a:cs typeface="Times New Roman"/>
              </a:rPr>
              <a:t>f </a:t>
            </a:r>
            <a:r>
              <a:rPr sz="1250" i="1" spc="3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25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endParaRPr sz="12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55"/>
              </a:spcBef>
              <a:tabLst>
                <a:tab pos="286385" algn="l"/>
              </a:tabLst>
            </a:pPr>
            <a:r>
              <a:rPr sz="1600" spc="-705" dirty="0">
                <a:solidFill>
                  <a:srgbClr val="D24717"/>
                </a:solidFill>
                <a:latin typeface="UnDotum"/>
                <a:cs typeface="UnDotum"/>
              </a:rPr>
              <a:t>	</a:t>
            </a:r>
            <a:r>
              <a:rPr sz="1900" spc="-75" dirty="0">
                <a:solidFill>
                  <a:prstClr val="black"/>
                </a:solidFill>
                <a:latin typeface="Arial"/>
                <a:cs typeface="Arial"/>
              </a:rPr>
              <a:t>AC/DC</a:t>
            </a:r>
            <a:r>
              <a:rPr sz="19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229" dirty="0">
                <a:solidFill>
                  <a:prstClr val="black"/>
                </a:solidFill>
                <a:latin typeface="Arial"/>
                <a:cs typeface="Arial"/>
              </a:rPr>
              <a:t>measurements</a:t>
            </a:r>
            <a:endParaRPr sz="19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1358" y="5429542"/>
            <a:ext cx="446659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  <a:tabLst>
                <a:tab pos="1322705" algn="l"/>
              </a:tabLst>
            </a:pPr>
            <a:r>
              <a:rPr sz="2150" spc="5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r>
              <a:rPr sz="2300" i="1" spc="55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r>
              <a:rPr sz="2150" spc="55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2150" spc="-8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5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150" i="1" spc="37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5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i	</a:t>
            </a:r>
            <a:r>
              <a:rPr sz="2150" spc="5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r>
              <a:rPr sz="2300" i="1" spc="55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r>
              <a:rPr sz="2150" spc="55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2150" spc="5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50" i="1" spc="8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875" spc="127" baseline="44444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z="1900" spc="8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00" spc="-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prstClr val="black"/>
                </a:solidFill>
                <a:latin typeface="Arial"/>
                <a:cs typeface="Arial"/>
              </a:rPr>
              <a:t>i.e. </a:t>
            </a:r>
            <a:r>
              <a:rPr sz="1900" spc="-120" dirty="0">
                <a:solidFill>
                  <a:prstClr val="black"/>
                </a:solidFill>
                <a:latin typeface="Arial"/>
                <a:cs typeface="Arial"/>
              </a:rPr>
              <a:t>Non-uniform </a:t>
            </a:r>
            <a:r>
              <a:rPr sz="1900" spc="-265" dirty="0">
                <a:solidFill>
                  <a:prstClr val="black"/>
                </a:solidFill>
                <a:latin typeface="Arial"/>
                <a:cs typeface="Arial"/>
              </a:rPr>
              <a:t>Scale</a:t>
            </a:r>
            <a:endParaRPr sz="19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49503" y="2511668"/>
            <a:ext cx="3047999" cy="2189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3243" y="1785873"/>
            <a:ext cx="5832475" cy="327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marR="466090" indent="-274320">
              <a:spcBef>
                <a:spcPts val="95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311785" algn="l"/>
                <a:tab pos="312420" algn="l"/>
              </a:tabLst>
            </a:pPr>
            <a:r>
              <a:rPr sz="1900" spc="-110" dirty="0">
                <a:solidFill>
                  <a:prstClr val="black"/>
                </a:solidFill>
                <a:latin typeface="Arial"/>
                <a:cs typeface="Arial"/>
              </a:rPr>
              <a:t>Principle: </a:t>
            </a:r>
            <a:r>
              <a:rPr sz="1900" spc="-120" dirty="0">
                <a:solidFill>
                  <a:prstClr val="black"/>
                </a:solidFill>
                <a:latin typeface="Arial"/>
                <a:cs typeface="Arial"/>
              </a:rPr>
              <a:t>Current </a:t>
            </a:r>
            <a:r>
              <a:rPr sz="1900" spc="-140" dirty="0">
                <a:solidFill>
                  <a:prstClr val="black"/>
                </a:solidFill>
                <a:latin typeface="Arial"/>
                <a:cs typeface="Arial"/>
              </a:rPr>
              <a:t>carrying </a:t>
            </a:r>
            <a:r>
              <a:rPr sz="1900" spc="-155" dirty="0">
                <a:solidFill>
                  <a:prstClr val="black"/>
                </a:solidFill>
                <a:latin typeface="Arial"/>
                <a:cs typeface="Arial"/>
              </a:rPr>
              <a:t>conductor, </a:t>
            </a:r>
            <a:r>
              <a:rPr sz="1900" spc="-204" dirty="0">
                <a:solidFill>
                  <a:prstClr val="black"/>
                </a:solidFill>
                <a:latin typeface="Arial"/>
                <a:cs typeface="Arial"/>
              </a:rPr>
              <a:t>placed </a:t>
            </a:r>
            <a:r>
              <a:rPr sz="1900" spc="-90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900" spc="-190" dirty="0">
                <a:solidFill>
                  <a:prstClr val="black"/>
                </a:solidFill>
                <a:latin typeface="Arial"/>
                <a:cs typeface="Arial"/>
              </a:rPr>
              <a:t>magnetic  </a:t>
            </a:r>
            <a:r>
              <a:rPr sz="1900" spc="-75" dirty="0">
                <a:solidFill>
                  <a:prstClr val="black"/>
                </a:solidFill>
                <a:latin typeface="Arial"/>
                <a:cs typeface="Arial"/>
              </a:rPr>
              <a:t>field, </a:t>
            </a:r>
            <a:r>
              <a:rPr sz="1900" spc="-200" dirty="0">
                <a:solidFill>
                  <a:prstClr val="black"/>
                </a:solidFill>
                <a:latin typeface="Arial"/>
                <a:cs typeface="Arial"/>
              </a:rPr>
              <a:t>experiences</a:t>
            </a:r>
            <a:r>
              <a:rPr sz="19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145" dirty="0">
                <a:solidFill>
                  <a:prstClr val="black"/>
                </a:solidFill>
                <a:latin typeface="Arial"/>
                <a:cs typeface="Arial"/>
              </a:rPr>
              <a:t>torque</a:t>
            </a:r>
            <a:endParaRPr sz="19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2420" indent="-274320">
              <a:spcBef>
                <a:spcPts val="600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311785" algn="l"/>
                <a:tab pos="312420" algn="l"/>
              </a:tabLst>
            </a:pPr>
            <a:r>
              <a:rPr sz="1900" spc="-130" dirty="0">
                <a:solidFill>
                  <a:prstClr val="black"/>
                </a:solidFill>
                <a:latin typeface="Arial"/>
                <a:cs typeface="Arial"/>
              </a:rPr>
              <a:t>Operation:</a:t>
            </a:r>
            <a:endParaRPr sz="19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586740" lvl="1" indent="-228600">
              <a:spcBef>
                <a:spcPts val="395"/>
              </a:spcBef>
              <a:buClr>
                <a:srgbClr val="9B2C1F"/>
              </a:buClr>
              <a:buSzPct val="84210"/>
              <a:buFont typeface="UnDotum"/>
              <a:buChar char=""/>
              <a:tabLst>
                <a:tab pos="586740" algn="l"/>
              </a:tabLst>
            </a:pPr>
            <a:r>
              <a:rPr sz="1900" spc="-120" dirty="0">
                <a:solidFill>
                  <a:prstClr val="black"/>
                </a:solidFill>
                <a:latin typeface="Arial"/>
                <a:cs typeface="Arial"/>
              </a:rPr>
              <a:t>Current </a:t>
            </a:r>
            <a:r>
              <a:rPr sz="1900" spc="-8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900" spc="-250" dirty="0">
                <a:solidFill>
                  <a:prstClr val="black"/>
                </a:solidFill>
                <a:latin typeface="Arial"/>
                <a:cs typeface="Arial"/>
              </a:rPr>
              <a:t>be </a:t>
            </a:r>
            <a:r>
              <a:rPr sz="1900" spc="-240" dirty="0">
                <a:solidFill>
                  <a:prstClr val="black"/>
                </a:solidFill>
                <a:latin typeface="Arial"/>
                <a:cs typeface="Arial"/>
              </a:rPr>
              <a:t>measured </a:t>
            </a:r>
            <a:r>
              <a:rPr sz="1900" spc="-295" dirty="0">
                <a:solidFill>
                  <a:prstClr val="black"/>
                </a:solidFill>
                <a:latin typeface="Arial"/>
                <a:cs typeface="Arial"/>
              </a:rPr>
              <a:t>passed </a:t>
            </a:r>
            <a:r>
              <a:rPr sz="1900" spc="-160" dirty="0">
                <a:solidFill>
                  <a:prstClr val="black"/>
                </a:solidFill>
                <a:latin typeface="Arial"/>
                <a:cs typeface="Arial"/>
              </a:rPr>
              <a:t>through </a:t>
            </a:r>
            <a:r>
              <a:rPr sz="1900" spc="-180" dirty="0">
                <a:solidFill>
                  <a:prstClr val="black"/>
                </a:solidFill>
                <a:latin typeface="Arial"/>
                <a:cs typeface="Arial"/>
              </a:rPr>
              <a:t>Fixed </a:t>
            </a:r>
            <a:r>
              <a:rPr sz="1900" spc="-145" dirty="0">
                <a:solidFill>
                  <a:prstClr val="black"/>
                </a:solidFill>
                <a:latin typeface="Arial"/>
                <a:cs typeface="Arial"/>
              </a:rPr>
              <a:t>air-cored</a:t>
            </a:r>
            <a:r>
              <a:rPr sz="19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prstClr val="black"/>
                </a:solidFill>
                <a:latin typeface="Arial"/>
                <a:cs typeface="Arial"/>
              </a:rPr>
              <a:t>coil</a:t>
            </a:r>
            <a:endParaRPr sz="19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586740" lvl="1" indent="-228600">
              <a:spcBef>
                <a:spcPts val="409"/>
              </a:spcBef>
              <a:buClr>
                <a:srgbClr val="9B2C1F"/>
              </a:buClr>
              <a:buSzPct val="84210"/>
              <a:buFont typeface="UnDotum"/>
              <a:buChar char=""/>
              <a:tabLst>
                <a:tab pos="586740" algn="l"/>
              </a:tabLst>
            </a:pPr>
            <a:r>
              <a:rPr sz="1900" spc="-180" dirty="0">
                <a:solidFill>
                  <a:prstClr val="black"/>
                </a:solidFill>
                <a:latin typeface="Arial"/>
                <a:cs typeface="Arial"/>
              </a:rPr>
              <a:t>Fixed </a:t>
            </a:r>
            <a:r>
              <a:rPr sz="1900" spc="-95" dirty="0">
                <a:solidFill>
                  <a:prstClr val="black"/>
                </a:solidFill>
                <a:latin typeface="Arial"/>
                <a:cs typeface="Arial"/>
              </a:rPr>
              <a:t>Coil </a:t>
            </a:r>
            <a:r>
              <a:rPr sz="1900" spc="-135" dirty="0">
                <a:solidFill>
                  <a:prstClr val="black"/>
                </a:solidFill>
                <a:latin typeface="Arial"/>
                <a:cs typeface="Arial"/>
              </a:rPr>
              <a:t>(divided </a:t>
            </a:r>
            <a:r>
              <a:rPr sz="1900" spc="-90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900" spc="-190" dirty="0">
                <a:solidFill>
                  <a:prstClr val="black"/>
                </a:solidFill>
                <a:latin typeface="Arial"/>
                <a:cs typeface="Arial"/>
              </a:rPr>
              <a:t>2 </a:t>
            </a:r>
            <a:r>
              <a:rPr sz="1900" spc="-145" dirty="0">
                <a:solidFill>
                  <a:prstClr val="black"/>
                </a:solidFill>
                <a:latin typeface="Arial"/>
                <a:cs typeface="Arial"/>
              </a:rPr>
              <a:t>parts) </a:t>
            </a:r>
            <a:r>
              <a:rPr sz="1900" spc="-90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1900" spc="-210" dirty="0">
                <a:solidFill>
                  <a:prstClr val="black"/>
                </a:solidFill>
                <a:latin typeface="Arial"/>
                <a:cs typeface="Arial"/>
              </a:rPr>
              <a:t>series </a:t>
            </a:r>
            <a:r>
              <a:rPr sz="1900" spc="-80" dirty="0">
                <a:solidFill>
                  <a:prstClr val="black"/>
                </a:solidFill>
                <a:latin typeface="Arial"/>
                <a:cs typeface="Arial"/>
              </a:rPr>
              <a:t>with </a:t>
            </a:r>
            <a:r>
              <a:rPr sz="1900" spc="-165" dirty="0">
                <a:solidFill>
                  <a:prstClr val="black"/>
                </a:solidFill>
                <a:latin typeface="Arial"/>
                <a:cs typeface="Arial"/>
              </a:rPr>
              <a:t>Moving</a:t>
            </a:r>
            <a:r>
              <a:rPr sz="1900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prstClr val="black"/>
                </a:solidFill>
                <a:latin typeface="Arial"/>
                <a:cs typeface="Arial"/>
              </a:rPr>
              <a:t>Coil</a:t>
            </a:r>
            <a:endParaRPr sz="19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586740" marR="254635" lvl="1" indent="-228600">
              <a:spcBef>
                <a:spcPts val="400"/>
              </a:spcBef>
              <a:buClr>
                <a:srgbClr val="9B2C1F"/>
              </a:buClr>
              <a:buSzPct val="84210"/>
              <a:buFont typeface="UnDotum"/>
              <a:buChar char=""/>
              <a:tabLst>
                <a:tab pos="586740" algn="l"/>
              </a:tabLst>
            </a:pPr>
            <a:r>
              <a:rPr sz="1900" spc="-145" dirty="0">
                <a:solidFill>
                  <a:prstClr val="black"/>
                </a:solidFill>
                <a:latin typeface="Arial"/>
                <a:cs typeface="Arial"/>
              </a:rPr>
              <a:t>Coils </a:t>
            </a:r>
            <a:r>
              <a:rPr sz="1900" spc="-204" dirty="0">
                <a:solidFill>
                  <a:prstClr val="black"/>
                </a:solidFill>
                <a:latin typeface="Arial"/>
                <a:cs typeface="Arial"/>
              </a:rPr>
              <a:t>placed </a:t>
            </a:r>
            <a:r>
              <a:rPr sz="1900" spc="-140" dirty="0">
                <a:solidFill>
                  <a:prstClr val="black"/>
                </a:solidFill>
                <a:latin typeface="Arial"/>
                <a:cs typeface="Arial"/>
              </a:rPr>
              <a:t>parallel </a:t>
            </a:r>
            <a:r>
              <a:rPr sz="1900" spc="-8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900" spc="-265" dirty="0">
                <a:solidFill>
                  <a:prstClr val="black"/>
                </a:solidFill>
                <a:latin typeface="Arial"/>
                <a:cs typeface="Arial"/>
              </a:rPr>
              <a:t>each </a:t>
            </a:r>
            <a:r>
              <a:rPr sz="1900" spc="-135" dirty="0">
                <a:solidFill>
                  <a:prstClr val="black"/>
                </a:solidFill>
                <a:latin typeface="Arial"/>
                <a:cs typeface="Arial"/>
              </a:rPr>
              <a:t>other </a:t>
            </a:r>
            <a:r>
              <a:rPr sz="1900" spc="-8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900" spc="-135" dirty="0">
                <a:solidFill>
                  <a:prstClr val="black"/>
                </a:solidFill>
                <a:latin typeface="Arial"/>
                <a:cs typeface="Arial"/>
              </a:rPr>
              <a:t>allow </a:t>
            </a:r>
            <a:r>
              <a:rPr sz="1900" spc="-204" dirty="0">
                <a:solidFill>
                  <a:prstClr val="black"/>
                </a:solidFill>
                <a:latin typeface="Arial"/>
                <a:cs typeface="Arial"/>
              </a:rPr>
              <a:t>movement </a:t>
            </a:r>
            <a:r>
              <a:rPr sz="1900" spc="-114" dirty="0">
                <a:solidFill>
                  <a:prstClr val="black"/>
                </a:solidFill>
                <a:latin typeface="Arial"/>
                <a:cs typeface="Arial"/>
              </a:rPr>
              <a:t>of  </a:t>
            </a:r>
            <a:r>
              <a:rPr sz="1900" spc="-165" dirty="0">
                <a:solidFill>
                  <a:prstClr val="black"/>
                </a:solidFill>
                <a:latin typeface="Arial"/>
                <a:cs typeface="Arial"/>
              </a:rPr>
              <a:t>Moving </a:t>
            </a:r>
            <a:r>
              <a:rPr sz="1900" spc="-95" dirty="0">
                <a:solidFill>
                  <a:prstClr val="black"/>
                </a:solidFill>
                <a:latin typeface="Arial"/>
                <a:cs typeface="Arial"/>
              </a:rPr>
              <a:t>Coil </a:t>
            </a:r>
            <a:r>
              <a:rPr sz="1900" spc="-204" dirty="0">
                <a:solidFill>
                  <a:prstClr val="black"/>
                </a:solidFill>
                <a:latin typeface="Arial"/>
                <a:cs typeface="Arial"/>
              </a:rPr>
              <a:t>between </a:t>
            </a:r>
            <a:r>
              <a:rPr sz="1900" spc="-190" dirty="0">
                <a:solidFill>
                  <a:prstClr val="black"/>
                </a:solidFill>
                <a:latin typeface="Arial"/>
                <a:cs typeface="Arial"/>
              </a:rPr>
              <a:t>2 </a:t>
            </a:r>
            <a:r>
              <a:rPr sz="1900" spc="-235" dirty="0">
                <a:solidFill>
                  <a:prstClr val="black"/>
                </a:solidFill>
                <a:latin typeface="Arial"/>
                <a:cs typeface="Arial"/>
              </a:rPr>
              <a:t>halves </a:t>
            </a:r>
            <a:r>
              <a:rPr sz="1900" spc="-114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900" spc="-180" dirty="0">
                <a:solidFill>
                  <a:prstClr val="black"/>
                </a:solidFill>
                <a:latin typeface="Arial"/>
                <a:cs typeface="Arial"/>
              </a:rPr>
              <a:t>Fixed</a:t>
            </a:r>
            <a:r>
              <a:rPr sz="1900" spc="-20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prstClr val="black"/>
                </a:solidFill>
                <a:latin typeface="Arial"/>
                <a:cs typeface="Arial"/>
              </a:rPr>
              <a:t>coil</a:t>
            </a:r>
            <a:endParaRPr sz="19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586740" marR="504825" lvl="1" indent="-228600">
              <a:lnSpc>
                <a:spcPts val="2310"/>
              </a:lnSpc>
              <a:spcBef>
                <a:spcPts val="445"/>
              </a:spcBef>
              <a:buClr>
                <a:srgbClr val="9B2C1F"/>
              </a:buClr>
              <a:buSzPct val="84210"/>
              <a:buFont typeface="UnDotum"/>
              <a:buChar char=""/>
              <a:tabLst>
                <a:tab pos="586740" algn="l"/>
              </a:tabLst>
            </a:pPr>
            <a:r>
              <a:rPr sz="1900" spc="-135" dirty="0">
                <a:solidFill>
                  <a:prstClr val="black"/>
                </a:solidFill>
                <a:latin typeface="Arial"/>
                <a:cs typeface="Arial"/>
              </a:rPr>
              <a:t>Deflecting </a:t>
            </a:r>
            <a:r>
              <a:rPr sz="1900" spc="-145" dirty="0">
                <a:solidFill>
                  <a:prstClr val="black"/>
                </a:solidFill>
                <a:latin typeface="Arial"/>
                <a:cs typeface="Arial"/>
              </a:rPr>
              <a:t>torque </a:t>
            </a:r>
            <a:r>
              <a:rPr sz="1900" spc="-225" dirty="0">
                <a:solidFill>
                  <a:prstClr val="black"/>
                </a:solidFill>
                <a:latin typeface="Arial"/>
                <a:cs typeface="Arial"/>
              </a:rPr>
              <a:t>due </a:t>
            </a:r>
            <a:r>
              <a:rPr sz="1900" spc="-85" dirty="0">
                <a:solidFill>
                  <a:prstClr val="black"/>
                </a:solidFill>
                <a:latin typeface="Arial"/>
                <a:cs typeface="Arial"/>
              </a:rPr>
              <a:t>to </a:t>
            </a:r>
            <a:r>
              <a:rPr sz="1900" spc="-125" dirty="0">
                <a:solidFill>
                  <a:prstClr val="black"/>
                </a:solidFill>
                <a:latin typeface="Arial"/>
                <a:cs typeface="Arial"/>
              </a:rPr>
              <a:t>interaction </a:t>
            </a:r>
            <a:r>
              <a:rPr sz="1900" spc="-114" dirty="0">
                <a:solidFill>
                  <a:prstClr val="black"/>
                </a:solidFill>
                <a:latin typeface="Arial"/>
                <a:cs typeface="Arial"/>
              </a:rPr>
              <a:t>of </a:t>
            </a:r>
            <a:r>
              <a:rPr sz="1900" spc="-190" dirty="0">
                <a:solidFill>
                  <a:prstClr val="black"/>
                </a:solidFill>
                <a:latin typeface="Arial"/>
                <a:cs typeface="Arial"/>
              </a:rPr>
              <a:t>magnetic </a:t>
            </a:r>
            <a:r>
              <a:rPr sz="1900" spc="-140" dirty="0">
                <a:solidFill>
                  <a:prstClr val="black"/>
                </a:solidFill>
                <a:latin typeface="Arial"/>
                <a:cs typeface="Arial"/>
              </a:rPr>
              <a:t>fields </a:t>
            </a:r>
            <a:r>
              <a:rPr sz="2850" spc="-209" baseline="146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292" baseline="1461" dirty="0">
                <a:solidFill>
                  <a:prstClr val="black"/>
                </a:solidFill>
                <a:latin typeface="Arial"/>
                <a:cs typeface="Arial"/>
              </a:rPr>
              <a:t>created </a:t>
            </a:r>
            <a:r>
              <a:rPr sz="2850" spc="-307" baseline="1461" dirty="0">
                <a:solidFill>
                  <a:prstClr val="black"/>
                </a:solidFill>
                <a:latin typeface="Arial"/>
                <a:cs typeface="Arial"/>
              </a:rPr>
              <a:t>by </a:t>
            </a:r>
            <a:r>
              <a:rPr sz="3150" i="1" spc="44" baseline="264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i="1" spc="44" baseline="-20833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r>
              <a:rPr i="1" spc="540" baseline="-20833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850" spc="-135" baseline="1461" dirty="0">
                <a:solidFill>
                  <a:prstClr val="black"/>
                </a:solidFill>
                <a:latin typeface="Arial"/>
                <a:cs typeface="Arial"/>
              </a:rPr>
              <a:t>in </a:t>
            </a:r>
            <a:r>
              <a:rPr sz="2850" spc="-262" baseline="1461" dirty="0">
                <a:solidFill>
                  <a:prstClr val="black"/>
                </a:solidFill>
                <a:latin typeface="Arial"/>
                <a:cs typeface="Arial"/>
              </a:rPr>
              <a:t>Fixed </a:t>
            </a:r>
            <a:r>
              <a:rPr sz="2850" spc="-142" baseline="1461" dirty="0">
                <a:solidFill>
                  <a:prstClr val="black"/>
                </a:solidFill>
                <a:latin typeface="Arial"/>
                <a:cs typeface="Arial"/>
              </a:rPr>
              <a:t>Coil </a:t>
            </a:r>
            <a:r>
              <a:rPr sz="2850" spc="-382" baseline="1461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2100" i="1" spc="-10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i="1" spc="-150" baseline="-25462" dirty="0">
                <a:solidFill>
                  <a:prstClr val="black"/>
                </a:solidFill>
                <a:latin typeface="Times New Roman"/>
                <a:cs typeface="Times New Roman"/>
              </a:rPr>
              <a:t>m </a:t>
            </a:r>
            <a:r>
              <a:rPr sz="2850" spc="-247" baseline="1461" dirty="0">
                <a:solidFill>
                  <a:prstClr val="black"/>
                </a:solidFill>
                <a:latin typeface="Arial"/>
                <a:cs typeface="Arial"/>
              </a:rPr>
              <a:t>Moving</a:t>
            </a:r>
            <a:r>
              <a:rPr sz="2850" spc="135" baseline="146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142" baseline="1461" dirty="0">
                <a:solidFill>
                  <a:prstClr val="black"/>
                </a:solidFill>
                <a:latin typeface="Arial"/>
                <a:cs typeface="Arial"/>
              </a:rPr>
              <a:t>Coil</a:t>
            </a:r>
            <a:endParaRPr sz="2850" baseline="1461" dirty="0">
              <a:solidFill>
                <a:prstClr val="black"/>
              </a:solidFill>
              <a:latin typeface="Arial"/>
              <a:cs typeface="Arial"/>
            </a:endParaRPr>
          </a:p>
          <a:p>
            <a:pPr marL="312420" indent="-274320">
              <a:spcBef>
                <a:spcPts val="490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311785" algn="l"/>
                <a:tab pos="312420" algn="l"/>
              </a:tabLst>
            </a:pPr>
            <a:r>
              <a:rPr sz="1900" spc="-180" dirty="0">
                <a:solidFill>
                  <a:prstClr val="black"/>
                </a:solidFill>
                <a:latin typeface="Arial"/>
                <a:cs typeface="Arial"/>
              </a:rPr>
              <a:t>Spring </a:t>
            </a:r>
            <a:r>
              <a:rPr sz="1900" spc="-110" dirty="0">
                <a:solidFill>
                  <a:prstClr val="black"/>
                </a:solidFill>
                <a:latin typeface="Arial"/>
                <a:cs typeface="Arial"/>
              </a:rPr>
              <a:t>Control </a:t>
            </a:r>
            <a:r>
              <a:rPr sz="1900" spc="-254" dirty="0">
                <a:solidFill>
                  <a:prstClr val="black"/>
                </a:solidFill>
                <a:latin typeface="Arial"/>
                <a:cs typeface="Arial"/>
              </a:rPr>
              <a:t>and </a:t>
            </a:r>
            <a:r>
              <a:rPr sz="1900" spc="-60" dirty="0">
                <a:solidFill>
                  <a:prstClr val="black"/>
                </a:solidFill>
                <a:latin typeface="Arial"/>
                <a:cs typeface="Arial"/>
              </a:rPr>
              <a:t>Air-friction</a:t>
            </a:r>
            <a:r>
              <a:rPr sz="19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00" spc="-204" dirty="0">
                <a:solidFill>
                  <a:prstClr val="black"/>
                </a:solidFill>
                <a:latin typeface="Arial"/>
                <a:cs typeface="Arial"/>
              </a:rPr>
              <a:t>damping</a:t>
            </a:r>
            <a:endParaRPr sz="19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89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40400153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8037" y="482201"/>
            <a:ext cx="3731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90" dirty="0"/>
              <a:t>Extension </a:t>
            </a:r>
            <a:r>
              <a:rPr spc="-160" dirty="0"/>
              <a:t>of</a:t>
            </a:r>
            <a:r>
              <a:rPr spc="-340" dirty="0"/>
              <a:t> </a:t>
            </a:r>
            <a:r>
              <a:rPr spc="-5" dirty="0"/>
              <a:t>Range</a:t>
            </a:r>
          </a:p>
        </p:txBody>
      </p:sp>
      <p:sp>
        <p:nvSpPr>
          <p:cNvPr id="3" name="object 3"/>
          <p:cNvSpPr/>
          <p:nvPr/>
        </p:nvSpPr>
        <p:spPr>
          <a:xfrm>
            <a:off x="330070" y="61209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8571" y="1702669"/>
            <a:ext cx="10813143" cy="36529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89890" indent="-274320">
              <a:spcBef>
                <a:spcPts val="105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287020" algn="l"/>
              </a:tabLst>
            </a:pPr>
            <a:r>
              <a:rPr sz="2600" spc="-145" dirty="0">
                <a:solidFill>
                  <a:prstClr val="black"/>
                </a:solidFill>
                <a:latin typeface="Times New Roman"/>
                <a:cs typeface="Times New Roman"/>
              </a:rPr>
              <a:t>Increasing </a:t>
            </a:r>
            <a:r>
              <a:rPr sz="2600" spc="-75" dirty="0">
                <a:solidFill>
                  <a:prstClr val="black"/>
                </a:solidFill>
                <a:latin typeface="Times New Roman"/>
                <a:cs typeface="Times New Roman"/>
              </a:rPr>
              <a:t>instrument </a:t>
            </a:r>
            <a:r>
              <a:rPr sz="2600" spc="-125" dirty="0">
                <a:solidFill>
                  <a:prstClr val="black"/>
                </a:solidFill>
                <a:latin typeface="Times New Roman"/>
                <a:cs typeface="Times New Roman"/>
              </a:rPr>
              <a:t>range </a:t>
            </a:r>
            <a:r>
              <a:rPr sz="2600" spc="-95" dirty="0">
                <a:solidFill>
                  <a:prstClr val="black"/>
                </a:solidFill>
                <a:latin typeface="Times New Roman"/>
                <a:cs typeface="Times New Roman"/>
              </a:rPr>
              <a:t>for </a:t>
            </a:r>
            <a:r>
              <a:rPr sz="2600" spc="-130" dirty="0">
                <a:solidFill>
                  <a:prstClr val="black"/>
                </a:solidFill>
                <a:latin typeface="Times New Roman"/>
                <a:cs typeface="Times New Roman"/>
              </a:rPr>
              <a:t>measuring </a:t>
            </a:r>
            <a:r>
              <a:rPr sz="2600" spc="-120" dirty="0">
                <a:solidFill>
                  <a:prstClr val="black"/>
                </a:solidFill>
                <a:latin typeface="Times New Roman"/>
                <a:cs typeface="Times New Roman"/>
              </a:rPr>
              <a:t>large </a:t>
            </a:r>
            <a:r>
              <a:rPr sz="2600" spc="-55" dirty="0">
                <a:solidFill>
                  <a:prstClr val="black"/>
                </a:solidFill>
                <a:latin typeface="Times New Roman"/>
                <a:cs typeface="Times New Roman"/>
              </a:rPr>
              <a:t>currents,  </a:t>
            </a:r>
            <a:r>
              <a:rPr sz="2600" spc="-150" dirty="0">
                <a:solidFill>
                  <a:prstClr val="black"/>
                </a:solidFill>
                <a:latin typeface="Times New Roman"/>
                <a:cs typeface="Times New Roman"/>
              </a:rPr>
              <a:t>voltages </a:t>
            </a:r>
            <a:r>
              <a:rPr sz="2600" spc="-40" dirty="0">
                <a:solidFill>
                  <a:prstClr val="black"/>
                </a:solidFill>
                <a:latin typeface="Times New Roman"/>
                <a:cs typeface="Times New Roman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20" dirty="0">
                <a:solidFill>
                  <a:prstClr val="black"/>
                </a:solidFill>
                <a:latin typeface="Times New Roman"/>
                <a:cs typeface="Times New Roman"/>
              </a:rPr>
              <a:t>power</a:t>
            </a:r>
            <a:endParaRPr sz="2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spcBef>
                <a:spcPts val="600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287020" algn="l"/>
              </a:tabLst>
            </a:pPr>
            <a:r>
              <a:rPr sz="2600" spc="-145" dirty="0">
                <a:solidFill>
                  <a:prstClr val="black"/>
                </a:solidFill>
                <a:latin typeface="Times New Roman"/>
                <a:cs typeface="Times New Roman"/>
              </a:rPr>
              <a:t>Commonly </a:t>
            </a:r>
            <a:r>
              <a:rPr sz="2600" spc="-100" dirty="0">
                <a:solidFill>
                  <a:prstClr val="black"/>
                </a:solidFill>
                <a:latin typeface="Times New Roman"/>
                <a:cs typeface="Times New Roman"/>
              </a:rPr>
              <a:t>used: </a:t>
            </a:r>
            <a:r>
              <a:rPr sz="2600" spc="-114" dirty="0">
                <a:solidFill>
                  <a:prstClr val="black"/>
                </a:solidFill>
                <a:latin typeface="Times New Roman"/>
                <a:cs typeface="Times New Roman"/>
              </a:rPr>
              <a:t>Ammeter </a:t>
            </a:r>
            <a:r>
              <a:rPr sz="2600" spc="-155" dirty="0">
                <a:solidFill>
                  <a:prstClr val="black"/>
                </a:solidFill>
                <a:latin typeface="Times New Roman"/>
                <a:cs typeface="Times New Roman"/>
              </a:rPr>
              <a:t>Shunts </a:t>
            </a:r>
            <a:r>
              <a:rPr sz="2600" spc="-220" dirty="0">
                <a:solidFill>
                  <a:prstClr val="black"/>
                </a:solidFill>
                <a:latin typeface="Times New Roman"/>
                <a:cs typeface="Times New Roman"/>
              </a:rPr>
              <a:t>&amp;Voltage</a:t>
            </a:r>
            <a:r>
              <a:rPr sz="260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10" dirty="0">
                <a:solidFill>
                  <a:prstClr val="black"/>
                </a:solidFill>
                <a:latin typeface="Times New Roman"/>
                <a:cs typeface="Times New Roman"/>
              </a:rPr>
              <a:t>Multipliers</a:t>
            </a:r>
            <a:endParaRPr sz="2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spcBef>
                <a:spcPts val="600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287020" algn="l"/>
              </a:tabLst>
            </a:pPr>
            <a:r>
              <a:rPr sz="2600" spc="-114" dirty="0">
                <a:solidFill>
                  <a:prstClr val="black"/>
                </a:solidFill>
                <a:latin typeface="Times New Roman"/>
                <a:cs typeface="Times New Roman"/>
              </a:rPr>
              <a:t>Ammeter</a:t>
            </a:r>
            <a:r>
              <a:rPr sz="2600" spc="-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45" dirty="0">
                <a:solidFill>
                  <a:prstClr val="black"/>
                </a:solidFill>
                <a:latin typeface="Times New Roman"/>
                <a:cs typeface="Times New Roman"/>
              </a:rPr>
              <a:t>Shunt</a:t>
            </a:r>
            <a:endParaRPr sz="2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025" lvl="1" indent="-229235">
              <a:spcBef>
                <a:spcPts val="480"/>
              </a:spcBef>
              <a:buClr>
                <a:srgbClr val="E6B0AB"/>
              </a:buClr>
              <a:buSzPct val="85000"/>
              <a:buFont typeface="UnDotum"/>
              <a:buChar char=""/>
              <a:tabLst>
                <a:tab pos="835660" algn="l"/>
              </a:tabLst>
            </a:pPr>
            <a:r>
              <a:rPr sz="2000" spc="-254" dirty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low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resistance in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parallel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with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coil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circuit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of</a:t>
            </a:r>
            <a:r>
              <a:rPr sz="2000" spc="1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instrument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025" lvl="1" indent="-229235">
              <a:spcBef>
                <a:spcPts val="405"/>
              </a:spcBef>
              <a:buClr>
                <a:srgbClr val="E6B0AB"/>
              </a:buClr>
              <a:buSzPct val="85000"/>
              <a:buFont typeface="UnDotum"/>
              <a:buChar char=""/>
              <a:tabLst>
                <a:tab pos="835660" algn="l"/>
              </a:tabLst>
            </a:pP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Greater </a:t>
            </a:r>
            <a:r>
              <a:rPr sz="2000" spc="-35" dirty="0">
                <a:solidFill>
                  <a:prstClr val="black"/>
                </a:solidFill>
                <a:latin typeface="Times New Roman"/>
                <a:cs typeface="Times New Roman"/>
              </a:rPr>
              <a:t>part </a:t>
            </a:r>
            <a:r>
              <a:rPr sz="2000" spc="-125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000" spc="-70" dirty="0">
                <a:solidFill>
                  <a:prstClr val="black"/>
                </a:solidFill>
                <a:latin typeface="Times New Roman"/>
                <a:cs typeface="Times New Roman"/>
              </a:rPr>
              <a:t>circuit </a:t>
            </a:r>
            <a:r>
              <a:rPr sz="2000" spc="-45" dirty="0">
                <a:solidFill>
                  <a:prstClr val="black"/>
                </a:solidFill>
                <a:latin typeface="Times New Roman"/>
                <a:cs typeface="Times New Roman"/>
              </a:rPr>
              <a:t>current </a:t>
            </a:r>
            <a:r>
              <a:rPr sz="2000" spc="-135" dirty="0">
                <a:solidFill>
                  <a:prstClr val="black"/>
                </a:solidFill>
                <a:latin typeface="Times New Roman"/>
                <a:cs typeface="Times New Roman"/>
              </a:rPr>
              <a:t>passes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through</a:t>
            </a:r>
            <a:r>
              <a:rPr sz="2000" spc="1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shunt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025" lvl="1" indent="-229235">
              <a:spcBef>
                <a:spcPts val="400"/>
              </a:spcBef>
              <a:buClr>
                <a:srgbClr val="E6B0AB"/>
              </a:buClr>
              <a:buSzPct val="85000"/>
              <a:buFont typeface="UnDotum"/>
              <a:buChar char=""/>
              <a:tabLst>
                <a:tab pos="835660" algn="l"/>
              </a:tabLst>
            </a:pP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Shunt </a:t>
            </a:r>
            <a:r>
              <a:rPr sz="2000" spc="-145" dirty="0">
                <a:solidFill>
                  <a:prstClr val="black"/>
                </a:solidFill>
                <a:latin typeface="Times New Roman"/>
                <a:cs typeface="Times New Roman"/>
              </a:rPr>
              <a:t>has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2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types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terminals,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viz. </a:t>
            </a:r>
            <a:r>
              <a:rPr sz="2000" spc="-40" dirty="0">
                <a:solidFill>
                  <a:prstClr val="black"/>
                </a:solidFill>
                <a:latin typeface="Times New Roman"/>
                <a:cs typeface="Times New Roman"/>
              </a:rPr>
              <a:t>Current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and</a:t>
            </a:r>
            <a:r>
              <a:rPr sz="2000" spc="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Potential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87020" indent="-274320">
              <a:spcBef>
                <a:spcPts val="515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287020" algn="l"/>
              </a:tabLst>
            </a:pPr>
            <a:r>
              <a:rPr sz="2600" spc="-125" dirty="0">
                <a:solidFill>
                  <a:prstClr val="black"/>
                </a:solidFill>
                <a:latin typeface="Times New Roman"/>
                <a:cs typeface="Times New Roman"/>
              </a:rPr>
              <a:t>Voltmeter</a:t>
            </a:r>
            <a:r>
              <a:rPr sz="2600" spc="-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05" dirty="0">
                <a:solidFill>
                  <a:prstClr val="black"/>
                </a:solidFill>
                <a:latin typeface="Times New Roman"/>
                <a:cs typeface="Times New Roman"/>
              </a:rPr>
              <a:t>Multiplier</a:t>
            </a:r>
            <a:endParaRPr sz="2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025" lvl="1" indent="-229235">
              <a:spcBef>
                <a:spcPts val="480"/>
              </a:spcBef>
              <a:buClr>
                <a:srgbClr val="E6B0AB"/>
              </a:buClr>
              <a:buSzPct val="85000"/>
              <a:buFont typeface="UnDotum"/>
              <a:buChar char=""/>
              <a:tabLst>
                <a:tab pos="835660" algn="l"/>
              </a:tabLst>
            </a:pPr>
            <a:r>
              <a:rPr sz="2000" spc="-254" dirty="0">
                <a:solidFill>
                  <a:prstClr val="black"/>
                </a:solidFill>
                <a:latin typeface="Times New Roman"/>
                <a:cs typeface="Times New Roman"/>
              </a:rPr>
              <a:t>A </a:t>
            </a:r>
            <a:r>
              <a:rPr sz="2000" spc="-130" dirty="0">
                <a:solidFill>
                  <a:prstClr val="black"/>
                </a:solidFill>
                <a:latin typeface="Times New Roman"/>
                <a:cs typeface="Times New Roman"/>
              </a:rPr>
              <a:t>high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non-inductive resistance </a:t>
            </a:r>
            <a:r>
              <a:rPr sz="2000" spc="-114" dirty="0">
                <a:solidFill>
                  <a:prstClr val="black"/>
                </a:solidFill>
                <a:latin typeface="Times New Roman"/>
                <a:cs typeface="Times New Roman"/>
              </a:rPr>
              <a:t>(Manganin)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in </a:t>
            </a:r>
            <a:r>
              <a:rPr sz="2000" spc="-85" dirty="0">
                <a:solidFill>
                  <a:prstClr val="black"/>
                </a:solidFill>
                <a:latin typeface="Times New Roman"/>
                <a:cs typeface="Times New Roman"/>
              </a:rPr>
              <a:t>series </a:t>
            </a:r>
            <a:r>
              <a:rPr sz="2000" spc="-80" dirty="0">
                <a:solidFill>
                  <a:prstClr val="black"/>
                </a:solidFill>
                <a:latin typeface="Times New Roman"/>
                <a:cs typeface="Times New Roman"/>
              </a:rPr>
              <a:t>with </a:t>
            </a:r>
            <a:r>
              <a:rPr sz="2000" spc="-60" dirty="0">
                <a:solidFill>
                  <a:prstClr val="black"/>
                </a:solidFill>
                <a:latin typeface="Times New Roman"/>
                <a:cs typeface="Times New Roman"/>
              </a:rPr>
              <a:t>instrument</a:t>
            </a:r>
            <a:r>
              <a:rPr sz="2000" spc="2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95" dirty="0">
                <a:solidFill>
                  <a:prstClr val="black"/>
                </a:solidFill>
                <a:latin typeface="Times New Roman"/>
                <a:cs typeface="Times New Roman"/>
              </a:rPr>
              <a:t>coil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35025" lvl="1" indent="-229235">
              <a:spcBef>
                <a:spcPts val="409"/>
              </a:spcBef>
              <a:buClr>
                <a:srgbClr val="E6B0AB"/>
              </a:buClr>
              <a:buSzPct val="85000"/>
              <a:buFont typeface="UnDotum"/>
              <a:buChar char=""/>
              <a:tabLst>
                <a:tab pos="835660" algn="l"/>
              </a:tabLst>
            </a:pPr>
            <a:r>
              <a:rPr sz="2000" spc="-140" dirty="0">
                <a:solidFill>
                  <a:prstClr val="black"/>
                </a:solidFill>
                <a:latin typeface="Times New Roman"/>
                <a:cs typeface="Times New Roman"/>
              </a:rPr>
              <a:t>Allows </a:t>
            </a:r>
            <a:r>
              <a:rPr sz="2000" spc="-90" dirty="0">
                <a:solidFill>
                  <a:prstClr val="black"/>
                </a:solidFill>
                <a:latin typeface="Times New Roman"/>
                <a:cs typeface="Times New Roman"/>
              </a:rPr>
              <a:t>measurement </a:t>
            </a:r>
            <a:r>
              <a:rPr sz="2000" spc="-125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000" spc="-130" dirty="0">
                <a:solidFill>
                  <a:prstClr val="black"/>
                </a:solidFill>
                <a:latin typeface="Times New Roman"/>
                <a:cs typeface="Times New Roman"/>
              </a:rPr>
              <a:t>high</a:t>
            </a:r>
            <a:r>
              <a:rPr sz="2000" spc="1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00" spc="-110" dirty="0">
                <a:solidFill>
                  <a:prstClr val="black"/>
                </a:solidFill>
                <a:latin typeface="Times New Roman"/>
                <a:cs typeface="Times New Roman"/>
              </a:rPr>
              <a:t>voltage</a:t>
            </a:r>
            <a:endParaRPr sz="20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90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264911828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8778" y="544200"/>
            <a:ext cx="3029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60" dirty="0"/>
              <a:t>Ammeter</a:t>
            </a:r>
            <a:r>
              <a:rPr spc="-245" dirty="0"/>
              <a:t> </a:t>
            </a:r>
            <a:r>
              <a:rPr spc="-20" dirty="0"/>
              <a:t>Shunt</a:t>
            </a:r>
          </a:p>
        </p:txBody>
      </p:sp>
      <p:sp>
        <p:nvSpPr>
          <p:cNvPr id="3" name="object 3"/>
          <p:cNvSpPr/>
          <p:nvPr/>
        </p:nvSpPr>
        <p:spPr>
          <a:xfrm>
            <a:off x="270307" y="62735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5280" y="4567555"/>
            <a:ext cx="9290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110" dirty="0">
                <a:solidFill>
                  <a:prstClr val="black"/>
                </a:solidFill>
                <a:latin typeface="Times New Roman"/>
                <a:cs typeface="Times New Roman"/>
              </a:rPr>
              <a:t>,</a:t>
            </a:r>
            <a:r>
              <a:rPr sz="2600" spc="-2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00" dirty="0">
                <a:solidFill>
                  <a:prstClr val="black"/>
                </a:solidFill>
                <a:latin typeface="Times New Roman"/>
                <a:cs typeface="Times New Roman"/>
              </a:rPr>
              <a:t>where</a:t>
            </a:r>
            <a:endParaRPr sz="2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8360" y="4567555"/>
            <a:ext cx="341249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165" dirty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600" spc="-80" dirty="0">
                <a:solidFill>
                  <a:prstClr val="black"/>
                </a:solidFill>
                <a:latin typeface="Times New Roman"/>
                <a:cs typeface="Times New Roman"/>
              </a:rPr>
              <a:t>the </a:t>
            </a:r>
            <a:r>
              <a:rPr sz="2600" spc="-130" dirty="0">
                <a:solidFill>
                  <a:prstClr val="black"/>
                </a:solidFill>
                <a:latin typeface="Times New Roman"/>
                <a:cs typeface="Times New Roman"/>
              </a:rPr>
              <a:t>multiplying </a:t>
            </a:r>
            <a:r>
              <a:rPr sz="2600" spc="-110" dirty="0">
                <a:solidFill>
                  <a:prstClr val="black"/>
                </a:solidFill>
                <a:latin typeface="Times New Roman"/>
                <a:cs typeface="Times New Roman"/>
              </a:rPr>
              <a:t>factor,</a:t>
            </a:r>
            <a:r>
              <a:rPr sz="26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45" dirty="0">
                <a:solidFill>
                  <a:prstClr val="black"/>
                </a:solidFill>
                <a:latin typeface="Times New Roman"/>
                <a:cs typeface="Times New Roman"/>
              </a:rPr>
              <a:t>and</a:t>
            </a:r>
            <a:endParaRPr sz="2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4744" y="1785056"/>
            <a:ext cx="6468110" cy="17875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99085" indent="-274320">
              <a:spcBef>
                <a:spcPts val="565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299720" algn="l"/>
              </a:tabLst>
            </a:pPr>
            <a:r>
              <a:rPr sz="2600" spc="-150" dirty="0">
                <a:solidFill>
                  <a:prstClr val="black"/>
                </a:solidFill>
                <a:latin typeface="Times New Roman"/>
                <a:cs typeface="Times New Roman"/>
              </a:rPr>
              <a:t>Terminology</a:t>
            </a:r>
            <a:endParaRPr sz="2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81025" lvl="1" indent="-236854">
              <a:spcBef>
                <a:spcPts val="425"/>
              </a:spcBef>
              <a:buClr>
                <a:srgbClr val="9B2C1F"/>
              </a:buClr>
              <a:buSzPct val="91111"/>
              <a:buFont typeface="UnDotum"/>
              <a:buChar char=""/>
              <a:tabLst>
                <a:tab pos="581660" algn="l"/>
              </a:tabLst>
            </a:pPr>
            <a:r>
              <a:rPr sz="3375" i="1" spc="-30" baseline="7407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950" i="1" spc="-30" baseline="-12820" dirty="0">
                <a:solidFill>
                  <a:prstClr val="black"/>
                </a:solidFill>
                <a:latin typeface="Times New Roman"/>
                <a:cs typeface="Times New Roman"/>
              </a:rPr>
              <a:t>m </a:t>
            </a:r>
            <a:r>
              <a:rPr sz="2400" spc="30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400" spc="-80" dirty="0">
                <a:solidFill>
                  <a:prstClr val="black"/>
                </a:solidFill>
                <a:latin typeface="Times New Roman"/>
                <a:cs typeface="Times New Roman"/>
              </a:rPr>
              <a:t>Internal </a:t>
            </a:r>
            <a:r>
              <a:rPr sz="2400" spc="-110" dirty="0">
                <a:solidFill>
                  <a:prstClr val="black"/>
                </a:solidFill>
                <a:latin typeface="Times New Roman"/>
                <a:cs typeface="Times New Roman"/>
              </a:rPr>
              <a:t>resistance </a:t>
            </a:r>
            <a:r>
              <a:rPr sz="2400" spc="-140" dirty="0">
                <a:solidFill>
                  <a:prstClr val="black"/>
                </a:solidFill>
                <a:latin typeface="Times New Roman"/>
                <a:cs typeface="Times New Roman"/>
              </a:rPr>
              <a:t>of </a:t>
            </a:r>
            <a:r>
              <a:rPr sz="2400" spc="-70" dirty="0">
                <a:solidFill>
                  <a:prstClr val="black"/>
                </a:solidFill>
                <a:latin typeface="Times New Roman"/>
                <a:cs typeface="Times New Roman"/>
              </a:rPr>
              <a:t>coil, </a:t>
            </a:r>
            <a:r>
              <a:rPr sz="3225" i="1" spc="-22" baseline="10335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875" i="1" spc="-22" baseline="-6666" dirty="0">
                <a:solidFill>
                  <a:prstClr val="black"/>
                </a:solidFill>
                <a:latin typeface="Times New Roman"/>
                <a:cs typeface="Times New Roman"/>
              </a:rPr>
              <a:t>sh </a:t>
            </a:r>
            <a:r>
              <a:rPr sz="2400" spc="30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400" spc="-130" dirty="0">
                <a:solidFill>
                  <a:prstClr val="black"/>
                </a:solidFill>
                <a:latin typeface="Times New Roman"/>
                <a:cs typeface="Times New Roman"/>
              </a:rPr>
              <a:t>Shunt</a:t>
            </a:r>
            <a:r>
              <a:rPr sz="2400" spc="-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prstClr val="black"/>
                </a:solidFill>
                <a:latin typeface="Times New Roman"/>
                <a:cs typeface="Times New Roman"/>
              </a:rPr>
              <a:t>resistance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17855" lvl="1" indent="-273685">
              <a:spcBef>
                <a:spcPts val="400"/>
              </a:spcBef>
              <a:buClr>
                <a:srgbClr val="9B2C1F"/>
              </a:buClr>
              <a:buSzPct val="91111"/>
              <a:buFont typeface="UnDotum"/>
              <a:buChar char=""/>
              <a:tabLst>
                <a:tab pos="617220" algn="l"/>
                <a:tab pos="618490" algn="l"/>
                <a:tab pos="4391025" algn="l"/>
              </a:tabLst>
            </a:pPr>
            <a:r>
              <a:rPr sz="3375" i="1" spc="112" baseline="4938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950" i="1" spc="112" baseline="-17094" dirty="0">
                <a:solidFill>
                  <a:prstClr val="black"/>
                </a:solidFill>
                <a:latin typeface="Times New Roman"/>
                <a:cs typeface="Times New Roman"/>
              </a:rPr>
              <a:t>m </a:t>
            </a:r>
            <a:r>
              <a:rPr sz="2400" spc="30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400" spc="-130" dirty="0">
                <a:solidFill>
                  <a:prstClr val="black"/>
                </a:solidFill>
                <a:latin typeface="Times New Roman"/>
                <a:cs typeface="Times New Roman"/>
              </a:rPr>
              <a:t>Full-scale</a:t>
            </a:r>
            <a:r>
              <a:rPr sz="240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prstClr val="black"/>
                </a:solidFill>
                <a:latin typeface="Times New Roman"/>
                <a:cs typeface="Times New Roman"/>
              </a:rPr>
              <a:t>deflection</a:t>
            </a:r>
            <a:r>
              <a:rPr sz="2400" spc="-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prstClr val="black"/>
                </a:solidFill>
                <a:latin typeface="Times New Roman"/>
                <a:cs typeface="Times New Roman"/>
              </a:rPr>
              <a:t>current,	</a:t>
            </a:r>
            <a:r>
              <a:rPr sz="3375" i="1" spc="82" baseline="6172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950" i="1" spc="82" baseline="-14957" dirty="0">
                <a:solidFill>
                  <a:prstClr val="black"/>
                </a:solidFill>
                <a:latin typeface="Times New Roman"/>
                <a:cs typeface="Times New Roman"/>
              </a:rPr>
              <a:t>sh </a:t>
            </a:r>
            <a:r>
              <a:rPr sz="2400" spc="30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400" spc="-130" dirty="0">
                <a:solidFill>
                  <a:prstClr val="black"/>
                </a:solidFill>
                <a:latin typeface="Times New Roman"/>
                <a:cs typeface="Times New Roman"/>
              </a:rPr>
              <a:t>Shunt</a:t>
            </a:r>
            <a:r>
              <a:rPr sz="240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prstClr val="black"/>
                </a:solidFill>
                <a:latin typeface="Times New Roman"/>
                <a:cs typeface="Times New Roman"/>
              </a:rPr>
              <a:t>current</a:t>
            </a:r>
            <a:endParaRPr sz="2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32740" indent="-307975">
              <a:spcBef>
                <a:spcPts val="580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332740" algn="l"/>
                <a:tab pos="333375" algn="l"/>
              </a:tabLst>
            </a:pPr>
            <a:r>
              <a:rPr sz="2600" spc="-195" dirty="0">
                <a:solidFill>
                  <a:prstClr val="black"/>
                </a:solidFill>
                <a:latin typeface="Times New Roman"/>
                <a:cs typeface="Times New Roman"/>
              </a:rPr>
              <a:t>Voltages </a:t>
            </a:r>
            <a:r>
              <a:rPr sz="2600" spc="-145" dirty="0">
                <a:solidFill>
                  <a:prstClr val="black"/>
                </a:solidFill>
                <a:latin typeface="Times New Roman"/>
                <a:cs typeface="Times New Roman"/>
              </a:rPr>
              <a:t>across </a:t>
            </a:r>
            <a:r>
              <a:rPr sz="2600" spc="-110" dirty="0">
                <a:solidFill>
                  <a:prstClr val="black"/>
                </a:solidFill>
                <a:latin typeface="Times New Roman"/>
                <a:cs typeface="Times New Roman"/>
              </a:rPr>
              <a:t>shunt </a:t>
            </a:r>
            <a:r>
              <a:rPr sz="2600" spc="-145" dirty="0">
                <a:solidFill>
                  <a:prstClr val="black"/>
                </a:solidFill>
                <a:latin typeface="Times New Roman"/>
                <a:cs typeface="Times New Roman"/>
              </a:rPr>
              <a:t>and </a:t>
            </a:r>
            <a:r>
              <a:rPr sz="2600" spc="-125" dirty="0">
                <a:solidFill>
                  <a:prstClr val="black"/>
                </a:solidFill>
                <a:latin typeface="Times New Roman"/>
                <a:cs typeface="Times New Roman"/>
              </a:rPr>
              <a:t>coil </a:t>
            </a:r>
            <a:r>
              <a:rPr sz="2600" spc="-100" dirty="0">
                <a:solidFill>
                  <a:prstClr val="black"/>
                </a:solidFill>
                <a:latin typeface="Times New Roman"/>
                <a:cs typeface="Times New Roman"/>
              </a:rPr>
              <a:t>are </a:t>
            </a:r>
            <a:r>
              <a:rPr sz="2600" spc="-95" dirty="0">
                <a:solidFill>
                  <a:prstClr val="black"/>
                </a:solidFill>
                <a:latin typeface="Times New Roman"/>
                <a:cs typeface="Times New Roman"/>
              </a:rPr>
              <a:t>equal,</a:t>
            </a:r>
            <a:r>
              <a:rPr sz="2600" spc="2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5" dirty="0">
                <a:solidFill>
                  <a:prstClr val="black"/>
                </a:solidFill>
                <a:latin typeface="Times New Roman"/>
                <a:cs typeface="Times New Roman"/>
              </a:rPr>
              <a:t>i.e.</a:t>
            </a:r>
            <a:endParaRPr sz="26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95739" y="3277268"/>
            <a:ext cx="1467891" cy="256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0296" y="3490364"/>
            <a:ext cx="1355090" cy="102743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spcBef>
                <a:spcPts val="550"/>
              </a:spcBef>
            </a:pPr>
            <a:r>
              <a:rPr sz="3300" spc="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endParaRPr sz="3300">
              <a:solidFill>
                <a:prstClr val="black"/>
              </a:solidFill>
              <a:latin typeface="Symbol"/>
              <a:cs typeface="Symbol"/>
            </a:endParaRPr>
          </a:p>
          <a:p>
            <a:pPr marL="73025">
              <a:spcBef>
                <a:spcPts val="355"/>
              </a:spcBef>
            </a:pPr>
            <a:r>
              <a:rPr sz="2600" spc="-155" dirty="0">
                <a:solidFill>
                  <a:prstClr val="black"/>
                </a:solidFill>
                <a:latin typeface="Times New Roman"/>
                <a:cs typeface="Times New Roman"/>
              </a:rPr>
              <a:t>This</a:t>
            </a:r>
            <a:r>
              <a:rPr sz="2600" spc="-1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30" dirty="0">
                <a:solidFill>
                  <a:prstClr val="black"/>
                </a:solidFill>
                <a:latin typeface="Times New Roman"/>
                <a:cs typeface="Times New Roman"/>
              </a:rPr>
              <a:t>gives,</a:t>
            </a:r>
            <a:endParaRPr sz="2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38500" y="3605784"/>
            <a:ext cx="1571244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71930" y="3614929"/>
            <a:ext cx="1962897" cy="5432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4311" y="3545009"/>
            <a:ext cx="459105" cy="542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3400" spc="5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endParaRPr sz="340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99490" y="3767323"/>
            <a:ext cx="307021" cy="3048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020451" y="3758109"/>
            <a:ext cx="1200495" cy="2569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00400" y="4543044"/>
            <a:ext cx="1324356" cy="743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76377" y="4610833"/>
            <a:ext cx="781378" cy="6283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66873" y="5343873"/>
            <a:ext cx="1647825" cy="5426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54011" y="576055"/>
            <a:ext cx="2685288" cy="16855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91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16889739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96726" y="522875"/>
            <a:ext cx="3237705" cy="19304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6516" y="582595"/>
            <a:ext cx="37973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00" dirty="0"/>
              <a:t>Voltmeter</a:t>
            </a:r>
            <a:r>
              <a:rPr spc="-245" dirty="0"/>
              <a:t> </a:t>
            </a:r>
            <a:r>
              <a:rPr spc="-125" dirty="0"/>
              <a:t>Multiplier</a:t>
            </a:r>
          </a:p>
        </p:txBody>
      </p:sp>
      <p:sp>
        <p:nvSpPr>
          <p:cNvPr id="4" name="object 4"/>
          <p:cNvSpPr/>
          <p:nvPr/>
        </p:nvSpPr>
        <p:spPr>
          <a:xfrm>
            <a:off x="309677" y="62099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9031" y="3622295"/>
            <a:ext cx="37191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spc="-165" dirty="0">
                <a:solidFill>
                  <a:prstClr val="black"/>
                </a:solidFill>
                <a:latin typeface="Times New Roman"/>
                <a:cs typeface="Times New Roman"/>
              </a:rPr>
              <a:t>is </a:t>
            </a:r>
            <a:r>
              <a:rPr sz="2600" spc="-80" dirty="0">
                <a:solidFill>
                  <a:prstClr val="black"/>
                </a:solidFill>
                <a:latin typeface="Times New Roman"/>
                <a:cs typeface="Times New Roman"/>
              </a:rPr>
              <a:t>the </a:t>
            </a:r>
            <a:r>
              <a:rPr sz="2600" spc="-85" dirty="0">
                <a:solidFill>
                  <a:prstClr val="black"/>
                </a:solidFill>
                <a:latin typeface="Times New Roman"/>
                <a:cs typeface="Times New Roman"/>
              </a:rPr>
              <a:t>required </a:t>
            </a:r>
            <a:r>
              <a:rPr sz="2600" spc="-110" dirty="0">
                <a:solidFill>
                  <a:prstClr val="black"/>
                </a:solidFill>
                <a:latin typeface="Times New Roman"/>
                <a:cs typeface="Times New Roman"/>
              </a:rPr>
              <a:t>series</a:t>
            </a:r>
            <a:r>
              <a:rPr sz="260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14" dirty="0">
                <a:solidFill>
                  <a:prstClr val="black"/>
                </a:solidFill>
                <a:latin typeface="Times New Roman"/>
                <a:cs typeface="Times New Roman"/>
              </a:rPr>
              <a:t>resistance</a:t>
            </a:r>
            <a:endParaRPr sz="26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4745" y="1785056"/>
            <a:ext cx="5706745" cy="13176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99085" indent="-274320">
              <a:spcBef>
                <a:spcPts val="565"/>
              </a:spcBef>
              <a:buClr>
                <a:srgbClr val="D24717"/>
              </a:buClr>
              <a:buSzPct val="84615"/>
              <a:buFont typeface="UnDotum"/>
              <a:buChar char=""/>
              <a:tabLst>
                <a:tab pos="299720" algn="l"/>
              </a:tabLst>
            </a:pPr>
            <a:r>
              <a:rPr sz="2600" spc="-150" dirty="0">
                <a:solidFill>
                  <a:prstClr val="black"/>
                </a:solidFill>
                <a:latin typeface="Times New Roman"/>
                <a:cs typeface="Times New Roman"/>
              </a:rPr>
              <a:t>Terminology</a:t>
            </a:r>
            <a:endParaRPr sz="2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96265" lvl="1" indent="-252095">
              <a:spcBef>
                <a:spcPts val="425"/>
              </a:spcBef>
              <a:buClr>
                <a:srgbClr val="9B2C1F"/>
              </a:buClr>
              <a:buSzPct val="91111"/>
              <a:buFont typeface="UnDotum"/>
              <a:buChar char=""/>
              <a:tabLst>
                <a:tab pos="596900" algn="l"/>
                <a:tab pos="3507104" algn="l"/>
              </a:tabLst>
            </a:pPr>
            <a:r>
              <a:rPr sz="3375" i="1" spc="-52" baseline="7407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950" i="1" spc="-52" baseline="-12820" dirty="0">
                <a:solidFill>
                  <a:prstClr val="black"/>
                </a:solidFill>
                <a:latin typeface="Times New Roman"/>
                <a:cs typeface="Times New Roman"/>
              </a:rPr>
              <a:t>v </a:t>
            </a:r>
            <a:r>
              <a:rPr sz="1950" i="1" spc="135" baseline="-128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85" dirty="0">
                <a:solidFill>
                  <a:prstClr val="black"/>
                </a:solidFill>
                <a:latin typeface="Times New Roman"/>
                <a:cs typeface="Times New Roman"/>
              </a:rPr>
              <a:t>:Voltmeter</a:t>
            </a:r>
            <a:r>
              <a:rPr sz="2400" spc="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95" dirty="0">
                <a:solidFill>
                  <a:prstClr val="black"/>
                </a:solidFill>
                <a:latin typeface="Times New Roman"/>
                <a:cs typeface="Times New Roman"/>
              </a:rPr>
              <a:t>resistance,	</a:t>
            </a:r>
            <a:r>
              <a:rPr sz="3225" i="1" spc="15" baseline="1291" dirty="0">
                <a:solidFill>
                  <a:prstClr val="black"/>
                </a:solidFill>
                <a:latin typeface="Times New Roman"/>
                <a:cs typeface="Times New Roman"/>
              </a:rPr>
              <a:t>R </a:t>
            </a:r>
            <a:r>
              <a:rPr sz="2400" spc="30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400" spc="-125" dirty="0">
                <a:solidFill>
                  <a:prstClr val="black"/>
                </a:solidFill>
                <a:latin typeface="Times New Roman"/>
                <a:cs typeface="Times New Roman"/>
              </a:rPr>
              <a:t>Series</a:t>
            </a:r>
            <a:r>
              <a:rPr sz="2400" spc="-27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110" dirty="0">
                <a:solidFill>
                  <a:prstClr val="black"/>
                </a:solidFill>
                <a:latin typeface="Times New Roman"/>
                <a:cs typeface="Times New Roman"/>
              </a:rPr>
              <a:t>resistance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17855" lvl="1" indent="-273685">
              <a:spcBef>
                <a:spcPts val="400"/>
              </a:spcBef>
              <a:buClr>
                <a:srgbClr val="9B2C1F"/>
              </a:buClr>
              <a:buSzPct val="91111"/>
              <a:buFont typeface="UnDotum"/>
              <a:buChar char=""/>
              <a:tabLst>
                <a:tab pos="617220" algn="l"/>
                <a:tab pos="618490" algn="l"/>
              </a:tabLst>
            </a:pPr>
            <a:r>
              <a:rPr sz="3375" i="1" spc="112" baseline="4938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950" i="1" spc="112" baseline="-17094" dirty="0">
                <a:solidFill>
                  <a:prstClr val="black"/>
                </a:solidFill>
                <a:latin typeface="Times New Roman"/>
                <a:cs typeface="Times New Roman"/>
              </a:rPr>
              <a:t>m </a:t>
            </a:r>
            <a:r>
              <a:rPr sz="2400" spc="30" dirty="0">
                <a:solidFill>
                  <a:prstClr val="black"/>
                </a:solidFill>
                <a:latin typeface="Times New Roman"/>
                <a:cs typeface="Times New Roman"/>
              </a:rPr>
              <a:t>: </a:t>
            </a:r>
            <a:r>
              <a:rPr sz="2400" spc="-130" dirty="0">
                <a:solidFill>
                  <a:prstClr val="black"/>
                </a:solidFill>
                <a:latin typeface="Times New Roman"/>
                <a:cs typeface="Times New Roman"/>
              </a:rPr>
              <a:t>Full-scale </a:t>
            </a:r>
            <a:r>
              <a:rPr sz="2400" spc="-100" dirty="0">
                <a:solidFill>
                  <a:prstClr val="black"/>
                </a:solidFill>
                <a:latin typeface="Times New Roman"/>
                <a:cs typeface="Times New Roman"/>
              </a:rPr>
              <a:t>deflection</a:t>
            </a:r>
            <a:r>
              <a:rPr sz="2400" spc="-1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prstClr val="black"/>
                </a:solidFill>
                <a:latin typeface="Times New Roman"/>
                <a:cs typeface="Times New Roman"/>
              </a:rPr>
              <a:t>current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6152" y="3724555"/>
            <a:ext cx="45847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400" spc="50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endParaRPr sz="340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55166" y="4020603"/>
            <a:ext cx="320675" cy="0"/>
          </a:xfrm>
          <a:custGeom>
            <a:avLst/>
            <a:gdLst/>
            <a:ahLst/>
            <a:cxnLst/>
            <a:rect l="l" t="t" r="r" b="b"/>
            <a:pathLst>
              <a:path w="320675">
                <a:moveTo>
                  <a:pt x="0" y="0"/>
                </a:moveTo>
                <a:lnTo>
                  <a:pt x="320508" y="0"/>
                </a:lnTo>
              </a:path>
            </a:pathLst>
          </a:custGeom>
          <a:ln w="149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1417" y="3987188"/>
            <a:ext cx="102235" cy="2218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50" i="1" dirty="0">
                <a:solidFill>
                  <a:prstClr val="black"/>
                </a:solidFill>
                <a:latin typeface="Times New Roman"/>
                <a:cs typeface="Times New Roman"/>
              </a:rPr>
              <a:t>v</a:t>
            </a:r>
            <a:endParaRPr sz="13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4992" y="4018714"/>
            <a:ext cx="31877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</a:pPr>
            <a:r>
              <a:rPr sz="2350" i="1" spc="-16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700" spc="-247" baseline="1543" dirty="0">
                <a:solidFill>
                  <a:srgbClr val="CAACAB"/>
                </a:solidFill>
                <a:latin typeface="Arial"/>
                <a:cs typeface="Arial"/>
              </a:rPr>
              <a:t>•</a:t>
            </a:r>
            <a:r>
              <a:rPr sz="2025" i="1" spc="-247" baseline="-24691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endParaRPr sz="2025" baseline="-24691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92045" y="3149855"/>
            <a:ext cx="27273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  <a:tabLst>
                <a:tab pos="345440" algn="l"/>
                <a:tab pos="1620520" algn="l"/>
              </a:tabLst>
            </a:pPr>
            <a:r>
              <a:rPr sz="2200" spc="-980" dirty="0">
                <a:solidFill>
                  <a:srgbClr val="D24717"/>
                </a:solidFill>
                <a:latin typeface="UnDotum"/>
                <a:cs typeface="UnDotum"/>
              </a:rPr>
              <a:t>	</a:t>
            </a:r>
            <a:r>
              <a:rPr sz="2600" spc="-229" dirty="0">
                <a:solidFill>
                  <a:prstClr val="black"/>
                </a:solidFill>
                <a:latin typeface="Times New Roman"/>
                <a:cs typeface="Times New Roman"/>
              </a:rPr>
              <a:t>We</a:t>
            </a:r>
            <a:r>
              <a:rPr sz="2600" spc="-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600" spc="-150" dirty="0">
                <a:solidFill>
                  <a:prstClr val="black"/>
                </a:solidFill>
                <a:latin typeface="Times New Roman"/>
                <a:cs typeface="Times New Roman"/>
              </a:rPr>
              <a:t>have,	</a:t>
            </a:r>
            <a:r>
              <a:rPr sz="3525" i="1" baseline="8274" dirty="0">
                <a:solidFill>
                  <a:prstClr val="black"/>
                </a:solidFill>
                <a:latin typeface="Times New Roman"/>
                <a:cs typeface="Times New Roman"/>
              </a:rPr>
              <a:t>V </a:t>
            </a:r>
            <a:r>
              <a:rPr sz="3525" baseline="8274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3525" baseline="827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525" i="1" spc="104" baseline="827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25" i="1" spc="104" baseline="-10288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2025" i="1" spc="352" baseline="-10288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525" i="1" spc="-75" baseline="8274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2025" i="1" spc="-75" baseline="-10288" dirty="0">
                <a:solidFill>
                  <a:prstClr val="black"/>
                </a:solidFill>
                <a:latin typeface="Times New Roman"/>
                <a:cs typeface="Times New Roman"/>
              </a:rPr>
              <a:t>v</a:t>
            </a:r>
            <a:endParaRPr sz="2025" baseline="-10288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4864" y="3135936"/>
            <a:ext cx="76200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335" indent="-229870">
              <a:spcBef>
                <a:spcPts val="105"/>
              </a:spcBef>
              <a:buFont typeface="Symbol"/>
              <a:buChar char=""/>
              <a:tabLst>
                <a:tab pos="267970" algn="l"/>
              </a:tabLst>
            </a:pPr>
            <a:r>
              <a:rPr sz="2350" i="1" spc="7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25" i="1" spc="104" baseline="-24691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2025" i="1" spc="-209" baseline="-2469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350" i="1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2051" y="3783578"/>
            <a:ext cx="137223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  <a:tabLst>
                <a:tab pos="925830" algn="l"/>
              </a:tabLst>
            </a:pPr>
            <a:r>
              <a:rPr sz="2350" i="1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2350" i="1" spc="3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prstClr val="black"/>
                </a:solidFill>
                <a:latin typeface="Symbol"/>
                <a:cs typeface="Symbol"/>
              </a:rPr>
              <a:t></a:t>
            </a:r>
            <a:r>
              <a:rPr sz="2350" spc="32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3525" i="1" baseline="35460" dirty="0">
                <a:solidFill>
                  <a:prstClr val="black"/>
                </a:solidFill>
                <a:latin typeface="Times New Roman"/>
                <a:cs typeface="Times New Roman"/>
              </a:rPr>
              <a:t>V	</a:t>
            </a:r>
            <a:r>
              <a:rPr sz="2350" dirty="0">
                <a:solidFill>
                  <a:prstClr val="black"/>
                </a:solidFill>
                <a:latin typeface="Symbol"/>
                <a:cs typeface="Symbol"/>
              </a:rPr>
              <a:t></a:t>
            </a:r>
            <a:r>
              <a:rPr sz="2350" spc="-1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350" i="1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92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212132590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99513" y="1918857"/>
            <a:ext cx="3498515" cy="2649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3945" y="670566"/>
            <a:ext cx="5787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55" dirty="0"/>
              <a:t>Dynamometer-type</a:t>
            </a:r>
            <a:r>
              <a:rPr spc="-175" dirty="0"/>
              <a:t> </a:t>
            </a:r>
            <a:r>
              <a:rPr spc="-195" dirty="0"/>
              <a:t>Wattmeter</a:t>
            </a:r>
          </a:p>
        </p:txBody>
      </p:sp>
      <p:sp>
        <p:nvSpPr>
          <p:cNvPr id="4" name="object 4"/>
          <p:cNvSpPr/>
          <p:nvPr/>
        </p:nvSpPr>
        <p:spPr>
          <a:xfrm>
            <a:off x="309677" y="620993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938767" y="1873190"/>
            <a:ext cx="7575973" cy="297619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86385" marR="5080" indent="-274320">
              <a:lnSpc>
                <a:spcPct val="101400"/>
              </a:lnSpc>
              <a:spcBef>
                <a:spcPts val="65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1900" spc="-60" dirty="0"/>
              <a:t>Wattmeter: </a:t>
            </a:r>
            <a:r>
              <a:rPr sz="1900" spc="-95" dirty="0"/>
              <a:t>Combination </a:t>
            </a:r>
            <a:r>
              <a:rPr sz="1900" spc="-114" dirty="0"/>
              <a:t>of </a:t>
            </a:r>
            <a:r>
              <a:rPr spc="-65" dirty="0"/>
              <a:t>ammeter </a:t>
            </a:r>
            <a:r>
              <a:rPr spc="-30" dirty="0"/>
              <a:t>(Current </a:t>
            </a:r>
            <a:r>
              <a:rPr spc="-70" dirty="0"/>
              <a:t>Coil) </a:t>
            </a:r>
            <a:r>
              <a:rPr spc="-275" dirty="0"/>
              <a:t>&amp; </a:t>
            </a:r>
            <a:r>
              <a:rPr spc="-60" dirty="0"/>
              <a:t>voltmeter  </a:t>
            </a:r>
            <a:r>
              <a:rPr spc="-70" dirty="0"/>
              <a:t>(Pressure</a:t>
            </a:r>
            <a:r>
              <a:rPr spc="-50" dirty="0"/>
              <a:t> </a:t>
            </a:r>
            <a:r>
              <a:rPr spc="-75" dirty="0"/>
              <a:t>Coil)</a:t>
            </a:r>
            <a:endParaRPr sz="1900" dirty="0"/>
          </a:p>
          <a:p>
            <a:pPr marL="286385" marR="353695" indent="-274320">
              <a:spcBef>
                <a:spcPts val="565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1900" spc="-45" dirty="0"/>
              <a:t>Current </a:t>
            </a:r>
            <a:r>
              <a:rPr sz="1900" spc="-95" dirty="0"/>
              <a:t>Coil </a:t>
            </a:r>
            <a:r>
              <a:rPr sz="1900" spc="-120" dirty="0"/>
              <a:t>is </a:t>
            </a:r>
            <a:r>
              <a:rPr sz="1900" spc="-114" dirty="0"/>
              <a:t>Fixed </a:t>
            </a:r>
            <a:r>
              <a:rPr sz="1900" spc="-95" dirty="0"/>
              <a:t>Coil (divided </a:t>
            </a:r>
            <a:r>
              <a:rPr sz="1900" spc="-65" dirty="0"/>
              <a:t>into </a:t>
            </a:r>
            <a:r>
              <a:rPr sz="1900" spc="-85" dirty="0"/>
              <a:t>2 </a:t>
            </a:r>
            <a:r>
              <a:rPr sz="1900" spc="-55" dirty="0"/>
              <a:t>parts) </a:t>
            </a:r>
            <a:r>
              <a:rPr sz="1900" spc="-315" dirty="0"/>
              <a:t>&amp; </a:t>
            </a:r>
            <a:r>
              <a:rPr sz="1900" spc="-70" dirty="0"/>
              <a:t>carries  </a:t>
            </a:r>
            <a:r>
              <a:rPr sz="1900" spc="-45" dirty="0"/>
              <a:t>current </a:t>
            </a:r>
            <a:r>
              <a:rPr sz="1900" spc="-30" dirty="0"/>
              <a:t>to </a:t>
            </a:r>
            <a:r>
              <a:rPr sz="1900" spc="-85" dirty="0"/>
              <a:t>be</a:t>
            </a:r>
            <a:r>
              <a:rPr sz="1900" spc="-60" dirty="0"/>
              <a:t> </a:t>
            </a:r>
            <a:r>
              <a:rPr sz="1900" spc="-95" dirty="0"/>
              <a:t>measured</a:t>
            </a:r>
            <a:endParaRPr sz="1900" dirty="0"/>
          </a:p>
          <a:p>
            <a:pPr marL="286385" marR="866140" indent="-274320">
              <a:spcBef>
                <a:spcPts val="605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1900" spc="-85" dirty="0"/>
              <a:t>Pressure </a:t>
            </a:r>
            <a:r>
              <a:rPr sz="1900" spc="-95" dirty="0"/>
              <a:t>coil </a:t>
            </a:r>
            <a:r>
              <a:rPr sz="1900" spc="-120" dirty="0"/>
              <a:t>is </a:t>
            </a:r>
            <a:r>
              <a:rPr sz="1900" spc="-145" dirty="0"/>
              <a:t>Moving </a:t>
            </a:r>
            <a:r>
              <a:rPr sz="1900" spc="-60" dirty="0"/>
              <a:t>Coil, </a:t>
            </a:r>
            <a:r>
              <a:rPr sz="1900" spc="-90" dirty="0"/>
              <a:t>in </a:t>
            </a:r>
            <a:r>
              <a:rPr sz="1900" spc="-85" dirty="0"/>
              <a:t>parallel </a:t>
            </a:r>
            <a:r>
              <a:rPr sz="1900" spc="-80" dirty="0"/>
              <a:t>with </a:t>
            </a:r>
            <a:r>
              <a:rPr sz="1900" spc="-114" dirty="0"/>
              <a:t>supply,  </a:t>
            </a:r>
            <a:r>
              <a:rPr sz="1900" spc="-70" dirty="0"/>
              <a:t>carries </a:t>
            </a:r>
            <a:r>
              <a:rPr sz="1900" spc="-45" dirty="0"/>
              <a:t>current </a:t>
            </a:r>
            <a:r>
              <a:rPr sz="1900" spc="-60" dirty="0"/>
              <a:t>proportional </a:t>
            </a:r>
            <a:r>
              <a:rPr sz="1900" spc="-30" dirty="0"/>
              <a:t>to </a:t>
            </a:r>
            <a:r>
              <a:rPr sz="1900" spc="-114" dirty="0"/>
              <a:t>supply</a:t>
            </a:r>
            <a:r>
              <a:rPr sz="1900" spc="85" dirty="0"/>
              <a:t> </a:t>
            </a:r>
            <a:r>
              <a:rPr sz="1900" spc="-105" dirty="0"/>
              <a:t>voltage</a:t>
            </a:r>
            <a:endParaRPr sz="1900" dirty="0"/>
          </a:p>
          <a:p>
            <a:pPr marL="287020" indent="-274320">
              <a:spcBef>
                <a:spcPts val="600"/>
              </a:spcBef>
              <a:buClr>
                <a:srgbClr val="D24717"/>
              </a:buClr>
              <a:buSzPct val="84210"/>
              <a:buFont typeface="UnDotum"/>
              <a:buChar char=""/>
              <a:tabLst>
                <a:tab pos="286385" algn="l"/>
                <a:tab pos="287020" algn="l"/>
              </a:tabLst>
            </a:pPr>
            <a:r>
              <a:rPr sz="1900" spc="-55" dirty="0"/>
              <a:t>Operation:</a:t>
            </a:r>
            <a:endParaRPr sz="1900" dirty="0"/>
          </a:p>
          <a:p>
            <a:pPr marL="561340" marR="589915" lvl="1" indent="-228600">
              <a:spcBef>
                <a:spcPts val="395"/>
              </a:spcBef>
              <a:buClr>
                <a:srgbClr val="9B2C1F"/>
              </a:buClr>
              <a:buSzPct val="84210"/>
              <a:buFont typeface="UnDotum"/>
              <a:buChar char=""/>
              <a:tabLst>
                <a:tab pos="561340" algn="l"/>
              </a:tabLst>
            </a:pPr>
            <a:r>
              <a:rPr sz="1900" spc="-95" dirty="0">
                <a:latin typeface="Times New Roman"/>
                <a:cs typeface="Times New Roman"/>
              </a:rPr>
              <a:t>Deflecting </a:t>
            </a:r>
            <a:r>
              <a:rPr sz="1900" spc="-55" dirty="0">
                <a:latin typeface="Times New Roman"/>
                <a:cs typeface="Times New Roman"/>
              </a:rPr>
              <a:t>torque </a:t>
            </a:r>
            <a:r>
              <a:rPr sz="1900" spc="-85" dirty="0">
                <a:latin typeface="Times New Roman"/>
                <a:cs typeface="Times New Roman"/>
              </a:rPr>
              <a:t>due </a:t>
            </a:r>
            <a:r>
              <a:rPr sz="1900" spc="-30" dirty="0">
                <a:latin typeface="Times New Roman"/>
                <a:cs typeface="Times New Roman"/>
              </a:rPr>
              <a:t>to </a:t>
            </a:r>
            <a:r>
              <a:rPr sz="1900" spc="-70" dirty="0">
                <a:latin typeface="Times New Roman"/>
                <a:cs typeface="Times New Roman"/>
              </a:rPr>
              <a:t>interaction </a:t>
            </a:r>
            <a:r>
              <a:rPr sz="1900" spc="-114" dirty="0">
                <a:latin typeface="Times New Roman"/>
                <a:cs typeface="Times New Roman"/>
              </a:rPr>
              <a:t>of </a:t>
            </a:r>
            <a:r>
              <a:rPr sz="1900" spc="-100" dirty="0">
                <a:latin typeface="Times New Roman"/>
                <a:cs typeface="Times New Roman"/>
              </a:rPr>
              <a:t>magnetic  </a:t>
            </a:r>
            <a:r>
              <a:rPr sz="1900" spc="-105" dirty="0">
                <a:latin typeface="Times New Roman"/>
                <a:cs typeface="Times New Roman"/>
              </a:rPr>
              <a:t>fields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created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50" dirty="0">
                <a:latin typeface="Times New Roman"/>
                <a:cs typeface="Times New Roman"/>
              </a:rPr>
              <a:t>by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currents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90" dirty="0">
                <a:latin typeface="Times New Roman"/>
                <a:cs typeface="Times New Roman"/>
              </a:rPr>
              <a:t>in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14" dirty="0">
                <a:latin typeface="Times New Roman"/>
                <a:cs typeface="Times New Roman"/>
              </a:rPr>
              <a:t>Fixed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110" dirty="0">
                <a:latin typeface="Times New Roman"/>
                <a:cs typeface="Times New Roman"/>
              </a:rPr>
              <a:t>and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45" dirty="0">
                <a:latin typeface="Times New Roman"/>
                <a:cs typeface="Times New Roman"/>
              </a:rPr>
              <a:t>Moving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5" dirty="0">
                <a:latin typeface="Times New Roman"/>
                <a:cs typeface="Times New Roman"/>
              </a:rPr>
              <a:t>Coils</a:t>
            </a:r>
            <a:endParaRPr sz="1900" dirty="0">
              <a:latin typeface="Times New Roman"/>
              <a:cs typeface="Times New Roman"/>
            </a:endParaRPr>
          </a:p>
          <a:p>
            <a:pPr marL="561340" lvl="1" indent="-228600">
              <a:spcBef>
                <a:spcPts val="409"/>
              </a:spcBef>
              <a:buClr>
                <a:srgbClr val="9B2C1F"/>
              </a:buClr>
              <a:buSzPct val="84210"/>
              <a:buFont typeface="UnDotum"/>
              <a:buChar char=""/>
              <a:tabLst>
                <a:tab pos="561340" algn="l"/>
              </a:tabLst>
            </a:pPr>
            <a:r>
              <a:rPr sz="1900" spc="-70" dirty="0">
                <a:latin typeface="Times New Roman"/>
                <a:cs typeface="Times New Roman"/>
              </a:rPr>
              <a:t>Pointer </a:t>
            </a:r>
            <a:r>
              <a:rPr sz="1900" spc="-135" dirty="0">
                <a:latin typeface="Times New Roman"/>
                <a:cs typeface="Times New Roman"/>
              </a:rPr>
              <a:t>(Moving </a:t>
            </a:r>
            <a:r>
              <a:rPr sz="1900" spc="-85" dirty="0">
                <a:latin typeface="Times New Roman"/>
                <a:cs typeface="Times New Roman"/>
              </a:rPr>
              <a:t>Coil) </a:t>
            </a:r>
            <a:r>
              <a:rPr sz="1900" spc="-45" dirty="0">
                <a:latin typeface="Times New Roman"/>
                <a:cs typeface="Times New Roman"/>
              </a:rPr>
              <a:t>turns </a:t>
            </a:r>
            <a:r>
              <a:rPr sz="1900" spc="-85" dirty="0">
                <a:latin typeface="Times New Roman"/>
                <a:cs typeface="Times New Roman"/>
              </a:rPr>
              <a:t>about </a:t>
            </a:r>
            <a:r>
              <a:rPr sz="1900" spc="-75" dirty="0">
                <a:latin typeface="Times New Roman"/>
                <a:cs typeface="Times New Roman"/>
              </a:rPr>
              <a:t>its</a:t>
            </a:r>
            <a:r>
              <a:rPr sz="1900" spc="220" dirty="0">
                <a:latin typeface="Times New Roman"/>
                <a:cs typeface="Times New Roman"/>
              </a:rPr>
              <a:t> </a:t>
            </a:r>
            <a:r>
              <a:rPr sz="1900" spc="-120" dirty="0">
                <a:latin typeface="Times New Roman"/>
                <a:cs typeface="Times New Roman"/>
              </a:rPr>
              <a:t>axis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8642" y="5790082"/>
            <a:ext cx="15532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86385" algn="l"/>
              </a:tabLst>
            </a:pPr>
            <a:r>
              <a:rPr sz="1600" spc="-705" dirty="0">
                <a:solidFill>
                  <a:srgbClr val="D24717"/>
                </a:solidFill>
                <a:latin typeface="UnDotum"/>
                <a:cs typeface="UnDotum"/>
              </a:rPr>
              <a:t>	</a:t>
            </a:r>
            <a:r>
              <a:rPr sz="1900" spc="-85" dirty="0">
                <a:solidFill>
                  <a:prstClr val="black"/>
                </a:solidFill>
                <a:latin typeface="Times New Roman"/>
                <a:cs typeface="Times New Roman"/>
              </a:rPr>
              <a:t>Uniform</a:t>
            </a:r>
            <a:r>
              <a:rPr sz="1900" spc="-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-140" dirty="0">
                <a:solidFill>
                  <a:prstClr val="black"/>
                </a:solidFill>
                <a:latin typeface="Times New Roman"/>
                <a:cs typeface="Times New Roman"/>
              </a:rPr>
              <a:t>Scale</a:t>
            </a: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72492" y="5129181"/>
            <a:ext cx="78105" cy="245110"/>
          </a:xfrm>
          <a:custGeom>
            <a:avLst/>
            <a:gdLst/>
            <a:ahLst/>
            <a:cxnLst/>
            <a:rect l="l" t="t" r="r" b="b"/>
            <a:pathLst>
              <a:path w="78105" h="245110">
                <a:moveTo>
                  <a:pt x="78085" y="0"/>
                </a:moveTo>
                <a:lnTo>
                  <a:pt x="0" y="244562"/>
                </a:lnTo>
              </a:path>
            </a:pathLst>
          </a:custGeom>
          <a:ln w="122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5879" y="5225610"/>
            <a:ext cx="757555" cy="1840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  <a:tabLst>
                <a:tab pos="496570" algn="l"/>
              </a:tabLst>
            </a:pPr>
            <a:r>
              <a:rPr sz="1100" i="1" spc="5" dirty="0">
                <a:solidFill>
                  <a:prstClr val="black"/>
                </a:solidFill>
                <a:latin typeface="Times New Roman"/>
                <a:cs typeface="Times New Roman"/>
              </a:rPr>
              <a:t>d	</a:t>
            </a:r>
            <a:r>
              <a:rPr sz="1100" i="1" dirty="0">
                <a:solidFill>
                  <a:prstClr val="black"/>
                </a:solidFill>
                <a:latin typeface="Times New Roman"/>
                <a:cs typeface="Times New Roman"/>
              </a:rPr>
              <a:t>f</a:t>
            </a:r>
            <a:r>
              <a:rPr sz="1100" i="1" spc="1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10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endParaRPr sz="11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99809" y="5251725"/>
            <a:ext cx="295910" cy="0"/>
          </a:xfrm>
          <a:custGeom>
            <a:avLst/>
            <a:gdLst/>
            <a:ahLst/>
            <a:cxnLst/>
            <a:rect l="l" t="t" r="r" b="b"/>
            <a:pathLst>
              <a:path w="295910">
                <a:moveTo>
                  <a:pt x="0" y="0"/>
                </a:moveTo>
                <a:lnTo>
                  <a:pt x="295850" y="0"/>
                </a:lnTo>
              </a:path>
            </a:pathLst>
          </a:custGeom>
          <a:ln w="117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0929" y="5222623"/>
            <a:ext cx="257810" cy="177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05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050" spc="-5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sz="1050" spc="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endParaRPr sz="10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7975" y="5222623"/>
            <a:ext cx="257810" cy="177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05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050" spc="-5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sz="1050" spc="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endParaRPr sz="10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3184" y="5415845"/>
            <a:ext cx="93980" cy="1776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050" spc="10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endParaRPr sz="10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4329" y="5225655"/>
            <a:ext cx="1424305" cy="1840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  <a:tabLst>
                <a:tab pos="1282700" algn="l"/>
              </a:tabLst>
            </a:pPr>
            <a:r>
              <a:rPr sz="1100" spc="5" dirty="0">
                <a:solidFill>
                  <a:prstClr val="black"/>
                </a:solidFill>
                <a:latin typeface="Times New Roman"/>
                <a:cs typeface="Times New Roman"/>
              </a:rPr>
              <a:t>inst	</a:t>
            </a:r>
            <a:r>
              <a:rPr sz="1575" i="1" spc="7" baseline="2645" dirty="0">
                <a:solidFill>
                  <a:prstClr val="black"/>
                </a:solidFill>
                <a:latin typeface="Times New Roman"/>
                <a:cs typeface="Times New Roman"/>
              </a:rPr>
              <a:t>av</a:t>
            </a:r>
            <a:endParaRPr sz="1575" baseline="2645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88643" y="5058805"/>
            <a:ext cx="359473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  <a:tabLst>
                <a:tab pos="528955" algn="l"/>
                <a:tab pos="1176020" algn="l"/>
                <a:tab pos="2592705" algn="l"/>
                <a:tab pos="3449320" algn="l"/>
              </a:tabLst>
            </a:pPr>
            <a:r>
              <a:rPr sz="2400" spc="-1057" baseline="1736" dirty="0">
                <a:solidFill>
                  <a:srgbClr val="D24717"/>
                </a:solidFill>
                <a:latin typeface="UnDotum"/>
                <a:cs typeface="UnDotum"/>
              </a:rPr>
              <a:t> </a:t>
            </a:r>
            <a:r>
              <a:rPr sz="2400" spc="-142" baseline="1736" dirty="0">
                <a:solidFill>
                  <a:srgbClr val="D24717"/>
                </a:solidFill>
                <a:latin typeface="UnDotum"/>
                <a:cs typeface="UnDotum"/>
              </a:rPr>
              <a:t> </a:t>
            </a:r>
            <a:r>
              <a:rPr sz="1900" i="1" spc="15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900" i="1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1900" spc="20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1900" spc="-7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900" i="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-1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900" i="1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1900" spc="20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1900" spc="-7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iv</a:t>
            </a:r>
            <a:r>
              <a:rPr sz="1900" i="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-8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15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900" i="1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30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r>
              <a:rPr sz="1900" spc="-16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15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900" i="1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1900" spc="20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1900" spc="-7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iv</a:t>
            </a:r>
            <a:r>
              <a:rPr sz="1900" i="1" spc="-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00" spc="2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r>
              <a:rPr sz="19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775" i="1" spc="7" baseline="1501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endParaRPr sz="2775" baseline="1501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5855" y="4884056"/>
            <a:ext cx="216535" cy="18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050" spc="-40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z="1100" i="1" spc="-40" dirty="0">
                <a:solidFill>
                  <a:prstClr val="black"/>
                </a:solidFill>
                <a:latin typeface="Symbol"/>
                <a:cs typeface="Symbol"/>
              </a:rPr>
              <a:t></a:t>
            </a:r>
            <a:endParaRPr sz="110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1703" y="4911289"/>
            <a:ext cx="51371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10"/>
              </a:spcBef>
              <a:tabLst>
                <a:tab pos="356235" algn="l"/>
              </a:tabLst>
            </a:pPr>
            <a:r>
              <a:rPr sz="2775" spc="15" baseline="-36036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2775" spc="15" baseline="-36036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1850" spc="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3194" y="5048854"/>
            <a:ext cx="263715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441325" algn="l"/>
                <a:tab pos="1358265" algn="l"/>
              </a:tabLst>
            </a:pPr>
            <a:r>
              <a:rPr sz="185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V	</a:t>
            </a:r>
            <a:r>
              <a:rPr sz="1850" spc="-5" dirty="0">
                <a:solidFill>
                  <a:prstClr val="black"/>
                </a:solidFill>
                <a:latin typeface="Times New Roman"/>
                <a:cs typeface="Times New Roman"/>
              </a:rPr>
              <a:t>sin</a:t>
            </a:r>
            <a:r>
              <a:rPr sz="1950" i="1" spc="-5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r>
              <a:rPr sz="1950" i="1" spc="-22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850" i="1" spc="5" dirty="0">
                <a:solidFill>
                  <a:prstClr val="black"/>
                </a:solidFill>
                <a:latin typeface="Times New Roman"/>
                <a:cs typeface="Times New Roman"/>
              </a:rPr>
              <a:t>I	</a:t>
            </a:r>
            <a:r>
              <a:rPr sz="1850" spc="-105" dirty="0">
                <a:solidFill>
                  <a:prstClr val="black"/>
                </a:solidFill>
                <a:latin typeface="Times New Roman"/>
                <a:cs typeface="Times New Roman"/>
              </a:rPr>
              <a:t>sin(</a:t>
            </a:r>
            <a:r>
              <a:rPr sz="1950" i="1" spc="-105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r>
              <a:rPr sz="1850" spc="-105" dirty="0">
                <a:solidFill>
                  <a:prstClr val="black"/>
                </a:solidFill>
                <a:latin typeface="Symbol"/>
                <a:cs typeface="Symbol"/>
              </a:rPr>
              <a:t></a:t>
            </a:r>
            <a:r>
              <a:rPr sz="1950" i="1" spc="-105" dirty="0">
                <a:solidFill>
                  <a:prstClr val="black"/>
                </a:solidFill>
                <a:latin typeface="Symbol"/>
                <a:cs typeface="Symbol"/>
              </a:rPr>
              <a:t></a:t>
            </a:r>
            <a:r>
              <a:rPr sz="1850" spc="-105" dirty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sz="1850" spc="-2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850" i="1" spc="-80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950" i="1" spc="-80" dirty="0">
                <a:solidFill>
                  <a:prstClr val="black"/>
                </a:solidFill>
                <a:latin typeface="Symbol"/>
                <a:cs typeface="Symbol"/>
              </a:rPr>
              <a:t></a:t>
            </a:r>
            <a:endParaRPr sz="195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76507" y="5129429"/>
            <a:ext cx="531495" cy="450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1850" spc="-135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z="1950" i="1" spc="-135" dirty="0">
                <a:solidFill>
                  <a:prstClr val="black"/>
                </a:solidFill>
                <a:latin typeface="Symbol"/>
                <a:cs typeface="Symbol"/>
              </a:rPr>
              <a:t></a:t>
            </a:r>
            <a:r>
              <a:rPr sz="1950" i="1" spc="-1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4200" baseline="15873" dirty="0">
                <a:solidFill>
                  <a:prstClr val="black"/>
                </a:solidFill>
                <a:latin typeface="Symbol"/>
                <a:cs typeface="Symbol"/>
              </a:rPr>
              <a:t></a:t>
            </a:r>
            <a:endParaRPr sz="4200" baseline="15873">
              <a:solidFill>
                <a:prstClr val="black"/>
              </a:solidFill>
              <a:latin typeface="Symbol"/>
              <a:cs typeface="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74877" y="5636576"/>
            <a:ext cx="261620" cy="233045"/>
            <a:chOff x="1750877" y="5636575"/>
            <a:chExt cx="261620" cy="233045"/>
          </a:xfrm>
        </p:grpSpPr>
        <p:sp>
          <p:nvSpPr>
            <p:cNvPr id="20" name="object 20"/>
            <p:cNvSpPr/>
            <p:nvPr/>
          </p:nvSpPr>
          <p:spPr>
            <a:xfrm>
              <a:off x="1752584" y="5642371"/>
              <a:ext cx="259715" cy="227329"/>
            </a:xfrm>
            <a:custGeom>
              <a:avLst/>
              <a:gdLst/>
              <a:ahLst/>
              <a:cxnLst/>
              <a:rect l="l" t="t" r="r" b="b"/>
              <a:pathLst>
                <a:path w="259714" h="227329">
                  <a:moveTo>
                    <a:pt x="0" y="153055"/>
                  </a:moveTo>
                  <a:lnTo>
                    <a:pt x="21906" y="140763"/>
                  </a:lnTo>
                </a:path>
                <a:path w="259714" h="227329">
                  <a:moveTo>
                    <a:pt x="22591" y="140763"/>
                  </a:moveTo>
                  <a:lnTo>
                    <a:pt x="75976" y="226173"/>
                  </a:lnTo>
                </a:path>
                <a:path w="259714" h="227329">
                  <a:moveTo>
                    <a:pt x="75976" y="226854"/>
                  </a:moveTo>
                  <a:lnTo>
                    <a:pt x="133475" y="700"/>
                  </a:lnTo>
                </a:path>
                <a:path w="259714" h="227329">
                  <a:moveTo>
                    <a:pt x="133475" y="0"/>
                  </a:moveTo>
                  <a:lnTo>
                    <a:pt x="2594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750877" y="5636575"/>
              <a:ext cx="261620" cy="232410"/>
            </a:xfrm>
            <a:custGeom>
              <a:avLst/>
              <a:gdLst/>
              <a:ahLst/>
              <a:cxnLst/>
              <a:rect l="l" t="t" r="r" b="b"/>
              <a:pathLst>
                <a:path w="261619" h="232410">
                  <a:moveTo>
                    <a:pt x="261468" y="0"/>
                  </a:moveTo>
                  <a:lnTo>
                    <a:pt x="131413" y="0"/>
                  </a:lnTo>
                  <a:lnTo>
                    <a:pt x="77344" y="210451"/>
                  </a:lnTo>
                  <a:lnTo>
                    <a:pt x="30109" y="139380"/>
                  </a:lnTo>
                  <a:lnTo>
                    <a:pt x="0" y="155784"/>
                  </a:lnTo>
                  <a:lnTo>
                    <a:pt x="3421" y="161935"/>
                  </a:lnTo>
                  <a:lnTo>
                    <a:pt x="18476" y="153055"/>
                  </a:lnTo>
                  <a:lnTo>
                    <a:pt x="71870" y="232310"/>
                  </a:lnTo>
                  <a:lnTo>
                    <a:pt x="82819" y="232310"/>
                  </a:lnTo>
                  <a:lnTo>
                    <a:pt x="138941" y="10927"/>
                  </a:lnTo>
                  <a:lnTo>
                    <a:pt x="261468" y="10927"/>
                  </a:lnTo>
                  <a:lnTo>
                    <a:pt x="261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685560" y="5636576"/>
            <a:ext cx="261620" cy="233045"/>
            <a:chOff x="2161560" y="5636575"/>
            <a:chExt cx="261620" cy="233045"/>
          </a:xfrm>
        </p:grpSpPr>
        <p:sp>
          <p:nvSpPr>
            <p:cNvPr id="23" name="object 23"/>
            <p:cNvSpPr/>
            <p:nvPr/>
          </p:nvSpPr>
          <p:spPr>
            <a:xfrm>
              <a:off x="2163267" y="5642371"/>
              <a:ext cx="259715" cy="227329"/>
            </a:xfrm>
            <a:custGeom>
              <a:avLst/>
              <a:gdLst/>
              <a:ahLst/>
              <a:cxnLst/>
              <a:rect l="l" t="t" r="r" b="b"/>
              <a:pathLst>
                <a:path w="259714" h="227329">
                  <a:moveTo>
                    <a:pt x="0" y="153055"/>
                  </a:moveTo>
                  <a:lnTo>
                    <a:pt x="21906" y="140763"/>
                  </a:lnTo>
                </a:path>
                <a:path w="259714" h="227329">
                  <a:moveTo>
                    <a:pt x="22591" y="140763"/>
                  </a:moveTo>
                  <a:lnTo>
                    <a:pt x="75976" y="226173"/>
                  </a:lnTo>
                </a:path>
                <a:path w="259714" h="227329">
                  <a:moveTo>
                    <a:pt x="75976" y="226854"/>
                  </a:moveTo>
                  <a:lnTo>
                    <a:pt x="133475" y="700"/>
                  </a:lnTo>
                </a:path>
                <a:path w="259714" h="227329">
                  <a:moveTo>
                    <a:pt x="133475" y="0"/>
                  </a:moveTo>
                  <a:lnTo>
                    <a:pt x="25941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161560" y="5636575"/>
              <a:ext cx="261620" cy="232410"/>
            </a:xfrm>
            <a:custGeom>
              <a:avLst/>
              <a:gdLst/>
              <a:ahLst/>
              <a:cxnLst/>
              <a:rect l="l" t="t" r="r" b="b"/>
              <a:pathLst>
                <a:path w="261619" h="232410">
                  <a:moveTo>
                    <a:pt x="261468" y="0"/>
                  </a:moveTo>
                  <a:lnTo>
                    <a:pt x="131413" y="0"/>
                  </a:lnTo>
                  <a:lnTo>
                    <a:pt x="77344" y="210451"/>
                  </a:lnTo>
                  <a:lnTo>
                    <a:pt x="30109" y="139380"/>
                  </a:lnTo>
                  <a:lnTo>
                    <a:pt x="0" y="155784"/>
                  </a:lnTo>
                  <a:lnTo>
                    <a:pt x="3421" y="161935"/>
                  </a:lnTo>
                  <a:lnTo>
                    <a:pt x="18476" y="153055"/>
                  </a:lnTo>
                  <a:lnTo>
                    <a:pt x="71870" y="232310"/>
                  </a:lnTo>
                  <a:lnTo>
                    <a:pt x="82819" y="232310"/>
                  </a:lnTo>
                  <a:lnTo>
                    <a:pt x="138941" y="10927"/>
                  </a:lnTo>
                  <a:lnTo>
                    <a:pt x="261468" y="10927"/>
                  </a:lnTo>
                  <a:lnTo>
                    <a:pt x="261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07286" y="5620198"/>
            <a:ext cx="54610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  <a:tabLst>
                <a:tab pos="422909" algn="l"/>
              </a:tabLst>
            </a:pPr>
            <a:r>
              <a:rPr sz="1700" spc="10" dirty="0">
                <a:solidFill>
                  <a:prstClr val="black"/>
                </a:solidFill>
                <a:latin typeface="Times New Roman"/>
                <a:cs typeface="Times New Roman"/>
              </a:rPr>
              <a:t>2	2</a:t>
            </a:r>
            <a:endParaRPr sz="17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40518" y="5575890"/>
            <a:ext cx="889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000" i="1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endParaRPr sz="10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97835" y="5281299"/>
            <a:ext cx="543560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  <a:tabLst>
                <a:tab pos="457200" algn="l"/>
              </a:tabLst>
            </a:pPr>
            <a:r>
              <a:rPr sz="1700" i="1" spc="15" dirty="0">
                <a:solidFill>
                  <a:prstClr val="black"/>
                </a:solidFill>
                <a:latin typeface="Times New Roman"/>
                <a:cs typeface="Times New Roman"/>
              </a:rPr>
              <a:t>V	</a:t>
            </a:r>
            <a:r>
              <a:rPr sz="1700" i="1" spc="5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17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47555" y="5414926"/>
            <a:ext cx="3044190" cy="3028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spcBef>
                <a:spcPts val="114"/>
              </a:spcBef>
              <a:tabLst>
                <a:tab pos="556260" algn="l"/>
                <a:tab pos="1293495" algn="l"/>
              </a:tabLst>
            </a:pPr>
            <a:r>
              <a:rPr sz="1700" spc="25" dirty="0">
                <a:solidFill>
                  <a:prstClr val="black"/>
                </a:solidFill>
                <a:latin typeface="Symbol"/>
                <a:cs typeface="Symbol"/>
              </a:rPr>
              <a:t></a:t>
            </a:r>
            <a:r>
              <a:rPr sz="1700" spc="-10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i="1" spc="15" dirty="0">
                <a:solidFill>
                  <a:prstClr val="black"/>
                </a:solidFill>
                <a:latin typeface="Times New Roman"/>
                <a:cs typeface="Times New Roman"/>
              </a:rPr>
              <a:t>T	</a:t>
            </a:r>
            <a:r>
              <a:rPr sz="1700" spc="20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2550" u="sng" spc="30" baseline="2287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550" u="sng" spc="120" baseline="22875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sng" spc="-22" baseline="3888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max	max</a:t>
            </a:r>
            <a:r>
              <a:rPr sz="1500" spc="-22" baseline="38888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prstClr val="black"/>
                </a:solidFill>
                <a:latin typeface="Times New Roman"/>
                <a:cs typeface="Times New Roman"/>
              </a:rPr>
              <a:t>cos</a:t>
            </a:r>
            <a:r>
              <a:rPr i="1" spc="-20" dirty="0">
                <a:solidFill>
                  <a:prstClr val="black"/>
                </a:solidFill>
                <a:latin typeface="Symbol"/>
                <a:cs typeface="Symbol"/>
              </a:rPr>
              <a:t></a:t>
            </a:r>
            <a:r>
              <a:rPr sz="1700" spc="-20" dirty="0">
                <a:solidFill>
                  <a:prstClr val="black"/>
                </a:solidFill>
                <a:latin typeface="Symbol"/>
                <a:cs typeface="Symbol"/>
              </a:rPr>
              <a:t></a:t>
            </a:r>
            <a:r>
              <a:rPr sz="1700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i="1" spc="10" dirty="0">
                <a:solidFill>
                  <a:prstClr val="black"/>
                </a:solidFill>
                <a:latin typeface="Times New Roman"/>
                <a:cs typeface="Times New Roman"/>
              </a:rPr>
              <a:t>VI</a:t>
            </a:r>
            <a:r>
              <a:rPr sz="1700" i="1" spc="-10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prstClr val="black"/>
                </a:solidFill>
                <a:latin typeface="Times New Roman"/>
                <a:cs typeface="Times New Roman"/>
              </a:rPr>
              <a:t>cos</a:t>
            </a:r>
            <a:r>
              <a:rPr i="1" spc="-10" dirty="0">
                <a:solidFill>
                  <a:prstClr val="black"/>
                </a:solidFill>
                <a:latin typeface="Symbol"/>
                <a:cs typeface="Symbol"/>
              </a:rPr>
              <a:t></a:t>
            </a:r>
            <a:endParaRPr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lang="en-IN" spc="85" smtClean="0"/>
              <a:pPr marL="38100">
                <a:lnSpc>
                  <a:spcPts val="1664"/>
                </a:lnSpc>
              </a:pPr>
              <a:t>93</a:t>
            </a:fld>
            <a:endParaRPr lang="en-IN" spc="85" dirty="0"/>
          </a:p>
        </p:txBody>
      </p:sp>
    </p:spTree>
    <p:extLst>
      <p:ext uri="{BB962C8B-B14F-4D97-AF65-F5344CB8AC3E}">
        <p14:creationId xmlns:p14="http://schemas.microsoft.com/office/powerpoint/2010/main" val="28554913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9951</TotalTime>
  <Words>1203</Words>
  <Application>Microsoft Office PowerPoint</Application>
  <PresentationFormat>Widescreen</PresentationFormat>
  <Paragraphs>264</Paragraphs>
  <Slides>93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93</vt:i4>
      </vt:variant>
    </vt:vector>
  </HeadingPairs>
  <TitlesOfParts>
    <vt:vector size="105" baseType="lpstr">
      <vt:lpstr>Arial</vt:lpstr>
      <vt:lpstr>Calibri</vt:lpstr>
      <vt:lpstr>Carlito</vt:lpstr>
      <vt:lpstr>Franklin Gothic Book</vt:lpstr>
      <vt:lpstr>Perpetua</vt:lpstr>
      <vt:lpstr>Symbol</vt:lpstr>
      <vt:lpstr>Times New Roman</vt:lpstr>
      <vt:lpstr>Trebuchet MS</vt:lpstr>
      <vt:lpstr>UnDotum</vt:lpstr>
      <vt:lpstr>Wingdings 2</vt:lpstr>
      <vt:lpstr>2_Office Theme</vt:lpstr>
      <vt:lpstr>Equity</vt:lpstr>
      <vt:lpstr>   UNIT- 4 TRANSFORMER   </vt:lpstr>
      <vt:lpstr>TRANSFORMER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of Transformer</vt:lpstr>
      <vt:lpstr>Three Phase Transformer</vt:lpstr>
      <vt:lpstr>PowerPoint Presentation</vt:lpstr>
      <vt:lpstr>PowerPoint Presentation</vt:lpstr>
      <vt:lpstr>PowerPoint Presentation</vt:lpstr>
      <vt:lpstr>Numerical: Three Phase Transformer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Measuring Instruments</vt:lpstr>
      <vt:lpstr>Measuring Instruments: Types of Torques</vt:lpstr>
      <vt:lpstr>Moving Iron Instrument: Attraction type</vt:lpstr>
      <vt:lpstr>Moving Iron Instrument: Repulsion type</vt:lpstr>
      <vt:lpstr>Moving Coil Instruments: Permanent Magnet</vt:lpstr>
      <vt:lpstr>Moving Coil Instruments: Dynamometer-type</vt:lpstr>
      <vt:lpstr>Extension of Range</vt:lpstr>
      <vt:lpstr>Ammeter Shunt</vt:lpstr>
      <vt:lpstr>Voltmeter Multiplier</vt:lpstr>
      <vt:lpstr>Dynamometer-type Wattmeter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Ashima</dc:creator>
  <cp:lastModifiedBy>Ashima</cp:lastModifiedBy>
  <cp:revision>29</cp:revision>
  <dcterms:created xsi:type="dcterms:W3CDTF">2022-12-02T01:10:08Z</dcterms:created>
  <dcterms:modified xsi:type="dcterms:W3CDTF">2023-06-20T04:02:08Z</dcterms:modified>
</cp:coreProperties>
</file>