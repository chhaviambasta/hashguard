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0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0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10.png" ContentType="image/png"/>
  <Override PartName="/ppt/media/image3.png" ContentType="image/png"/>
  <Override PartName="/ppt/media/image5.png" ContentType="image/png"/>
  <Override PartName="/ppt/media/image9.png" ContentType="image/png"/>
  <Override PartName="/ppt/media/image4.png" ContentType="image/png"/>
  <Override PartName="/ppt/media/image11.jpeg" ContentType="image/jpeg"/>
  <Override PartName="/ppt/media/image6.jpeg" ContentType="image/jpeg"/>
  <Override PartName="/ppt/media/image7.jpeg" ContentType="image/jpeg"/>
  <Override PartName="/ppt/media/image2.jpeg" ContentType="image/jpe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0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2077200"/>
            <a:ext cx="3905640" cy="180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438880" y="539280"/>
            <a:ext cx="3705120" cy="407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2198400">
            <a:off x="412920" y="639000"/>
            <a:ext cx="2030400" cy="1086840"/>
          </a:xfrm>
          <a:prstGeom prst="ellipse">
            <a:avLst/>
          </a:prstGeom>
          <a:solidFill>
            <a:schemeClr val="lt1"/>
          </a:solidFill>
          <a:ln w="9525">
            <a:solidFill>
              <a:srgbClr val="294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92040" y="3143520"/>
            <a:ext cx="4338720" cy="96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292040" y="0"/>
            <a:ext cx="6559560" cy="292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Google Shape;61;p11"/>
          <p:cNvCxnSpPr/>
          <p:nvPr/>
        </p:nvCxnSpPr>
        <p:spPr>
          <a:xfrm flipH="1">
            <a:off x="8556840" y="1031760"/>
            <a:ext cx="726120" cy="4868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713160" y="183996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713160" y="335448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782240" y="183996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782240" y="335448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Google Shape;77;p13"/>
          <p:cNvCxnSpPr/>
          <p:nvPr/>
        </p:nvCxnSpPr>
        <p:spPr>
          <a:xfrm flipH="1">
            <a:off x="8219160" y="2570400"/>
            <a:ext cx="619560" cy="406728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144680" y="2211840"/>
            <a:ext cx="4286160" cy="5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0" y="539280"/>
            <a:ext cx="3544560" cy="406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0" y="2168640"/>
            <a:ext cx="3851640" cy="120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1317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86;p15"/>
          <p:cNvSpPr/>
          <p:nvPr/>
        </p:nvSpPr>
        <p:spPr>
          <a:xfrm flipH="1" rot="19401600">
            <a:off x="6799680" y="70344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body"/>
          </p:nvPr>
        </p:nvSpPr>
        <p:spPr>
          <a:xfrm>
            <a:off x="720000" y="2138760"/>
            <a:ext cx="7461000" cy="229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720000" y="774000"/>
            <a:ext cx="74610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Google Shape;90;p16"/>
          <p:cNvCxnSpPr/>
          <p:nvPr/>
        </p:nvCxnSpPr>
        <p:spPr>
          <a:xfrm flipH="1">
            <a:off x="5344200" y="259920"/>
            <a:ext cx="380016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22" name="Google Shape;91;p16"/>
          <p:cNvCxnSpPr/>
          <p:nvPr/>
        </p:nvCxnSpPr>
        <p:spPr>
          <a:xfrm flipV="1">
            <a:off x="-475200" y="-1540080"/>
            <a:ext cx="1256040" cy="46868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23" name="Google Shape;92;p16"/>
          <p:cNvCxnSpPr/>
          <p:nvPr/>
        </p:nvCxnSpPr>
        <p:spPr>
          <a:xfrm flipV="1">
            <a:off x="7965360" y="2616480"/>
            <a:ext cx="1256040" cy="46875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" name="Google Shape;99;p17"/>
          <p:cNvGrpSpPr/>
          <p:nvPr/>
        </p:nvGrpSpPr>
        <p:grpSpPr>
          <a:xfrm>
            <a:off x="-990360" y="-1919160"/>
            <a:ext cx="10580760" cy="7183800"/>
            <a:chOff x="-990360" y="-1919160"/>
            <a:chExt cx="10580760" cy="7183800"/>
          </a:xfrm>
        </p:grpSpPr>
        <p:cxnSp>
          <p:nvCxnSpPr>
            <p:cNvPr id="26" name="Google Shape;100;p17"/>
            <p:cNvCxnSpPr/>
            <p:nvPr/>
          </p:nvCxnSpPr>
          <p:spPr>
            <a:xfrm flipV="1">
              <a:off x="8334720" y="-1919160"/>
              <a:ext cx="1256040" cy="468684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sp>
          <p:nvSpPr>
            <p:cNvPr id="27" name="Google Shape;101;p17"/>
            <p:cNvSpPr/>
            <p:nvPr/>
          </p:nvSpPr>
          <p:spPr>
            <a:xfrm flipH="1" rot="19401600">
              <a:off x="-867240" y="367920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5707080" y="539280"/>
            <a:ext cx="3436560" cy="406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Google Shape;106;p18"/>
          <p:cNvCxnSpPr/>
          <p:nvPr/>
        </p:nvCxnSpPr>
        <p:spPr>
          <a:xfrm flipV="1">
            <a:off x="-475200" y="-1540080"/>
            <a:ext cx="1256040" cy="46868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720000" y="640080"/>
            <a:ext cx="4332960" cy="66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2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13160" y="1112040"/>
            <a:ext cx="3858480" cy="34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0" y="1112040"/>
            <a:ext cx="3858480" cy="34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oogle Shape;112;p19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35" name="Google Shape;113;p19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36" name="Google Shape;114;p19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" name="Google Shape;123;p20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39" name="Google Shape;124;p20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40" name="Google Shape;125;p20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623480" y="2446200"/>
            <a:ext cx="380700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4623480" y="1121400"/>
            <a:ext cx="1368720" cy="117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0" y="539280"/>
            <a:ext cx="3807000" cy="406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8;p3"/>
          <p:cNvSpPr/>
          <p:nvPr/>
        </p:nvSpPr>
        <p:spPr>
          <a:xfrm rot="2198400">
            <a:off x="6703560" y="70812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Google Shape;136;p21"/>
          <p:cNvCxnSpPr/>
          <p:nvPr/>
        </p:nvCxnSpPr>
        <p:spPr>
          <a:xfrm>
            <a:off x="-20880" y="4869000"/>
            <a:ext cx="459324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Google Shape;151;p22"/>
          <p:cNvGrpSpPr/>
          <p:nvPr/>
        </p:nvGrpSpPr>
        <p:grpSpPr>
          <a:xfrm>
            <a:off x="-475200" y="-1540080"/>
            <a:ext cx="10957680" cy="4735800"/>
            <a:chOff x="-475200" y="-1540080"/>
            <a:chExt cx="10957680" cy="4735800"/>
          </a:xfrm>
        </p:grpSpPr>
        <p:cxnSp>
          <p:nvCxnSpPr>
            <p:cNvPr id="49" name="Google Shape;152;p22"/>
            <p:cNvCxnSpPr/>
            <p:nvPr/>
          </p:nvCxnSpPr>
          <p:spPr>
            <a:xfrm flipV="1">
              <a:off x="-475200" y="-1540080"/>
              <a:ext cx="1256040" cy="468684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sp>
          <p:nvSpPr>
            <p:cNvPr id="50" name="Google Shape;153;p22"/>
            <p:cNvSpPr/>
            <p:nvPr/>
          </p:nvSpPr>
          <p:spPr>
            <a:xfrm rot="2198400">
              <a:off x="8327880" y="161028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155;p23"/>
          <p:cNvCxnSpPr/>
          <p:nvPr/>
        </p:nvCxnSpPr>
        <p:spPr>
          <a:xfrm flipH="1">
            <a:off x="-185400" y="-574200"/>
            <a:ext cx="726120" cy="486828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389736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713160" y="1970280"/>
            <a:ext cx="389736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title"/>
          </p:nvPr>
        </p:nvSpPr>
        <p:spPr>
          <a:xfrm>
            <a:off x="713160" y="3401280"/>
            <a:ext cx="389736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401440" y="539280"/>
            <a:ext cx="3742560" cy="406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Google Shape;165;p24"/>
          <p:cNvGrpSpPr/>
          <p:nvPr/>
        </p:nvGrpSpPr>
        <p:grpSpPr>
          <a:xfrm>
            <a:off x="0" y="273960"/>
            <a:ext cx="9144000" cy="4595040"/>
            <a:chOff x="0" y="273960"/>
            <a:chExt cx="9144000" cy="4595040"/>
          </a:xfrm>
        </p:grpSpPr>
        <p:cxnSp>
          <p:nvCxnSpPr>
            <p:cNvPr id="58" name="Google Shape;166;p24"/>
            <p:cNvCxnSpPr/>
            <p:nvPr/>
          </p:nvCxnSpPr>
          <p:spPr>
            <a:xfrm>
              <a:off x="0" y="273960"/>
              <a:ext cx="7486920" cy="36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59" name="Google Shape;167;p24"/>
            <p:cNvCxnSpPr/>
            <p:nvPr/>
          </p:nvCxnSpPr>
          <p:spPr>
            <a:xfrm>
              <a:off x="4550760" y="4869000"/>
              <a:ext cx="4593600" cy="36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Google Shape;170;p25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62" name="Google Shape;171;p25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63" name="Google Shape;172;p25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Google Shape;175;p26"/>
          <p:cNvGrpSpPr/>
          <p:nvPr/>
        </p:nvGrpSpPr>
        <p:grpSpPr>
          <a:xfrm>
            <a:off x="-1519920" y="1112040"/>
            <a:ext cx="12154680" cy="3077280"/>
            <a:chOff x="-1519920" y="1112040"/>
            <a:chExt cx="12154680" cy="3077280"/>
          </a:xfrm>
        </p:grpSpPr>
        <p:sp>
          <p:nvSpPr>
            <p:cNvPr id="66" name="Google Shape;176;p26"/>
            <p:cNvSpPr/>
            <p:nvPr/>
          </p:nvSpPr>
          <p:spPr>
            <a:xfrm rot="2198400">
              <a:off x="8480160" y="161028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177;p26"/>
            <p:cNvSpPr/>
            <p:nvPr/>
          </p:nvSpPr>
          <p:spPr>
            <a:xfrm rot="2198400">
              <a:off x="-1396080" y="260388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514600" y="539280"/>
            <a:ext cx="4114440" cy="87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81;p27"/>
          <p:cNvSpPr/>
          <p:nvPr/>
        </p:nvSpPr>
        <p:spPr>
          <a:xfrm>
            <a:off x="2908080" y="3573720"/>
            <a:ext cx="332784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CREDITS: This presentation template was created by </a:t>
            </a:r>
            <a:r>
              <a:rPr b="1" lang="en" sz="1000" strike="noStrike" u="sng">
                <a:solidFill>
                  <a:schemeClr val="lt1"/>
                </a:solidFill>
                <a:effectLst/>
                <a:uFillTx/>
                <a:latin typeface="Cabin"/>
                <a:ea typeface="Cabin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, including icons, infographics &amp; images by </a:t>
            </a:r>
            <a:r>
              <a:rPr b="1" lang="en" sz="1000" strike="noStrike" u="sng">
                <a:solidFill>
                  <a:schemeClr val="lt1"/>
                </a:solidFill>
                <a:effectLst/>
                <a:uFillTx/>
                <a:latin typeface="Cabin"/>
                <a:ea typeface="Cabin"/>
                <a:hlinkClick r:id="rId3"/>
              </a:rPr>
              <a:t>Freepik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82;p27"/>
          <p:cNvSpPr/>
          <p:nvPr/>
        </p:nvSpPr>
        <p:spPr>
          <a:xfrm rot="2198400">
            <a:off x="6344640" y="-37152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83;p27"/>
          <p:cNvSpPr/>
          <p:nvPr/>
        </p:nvSpPr>
        <p:spPr>
          <a:xfrm rot="2198400">
            <a:off x="294840" y="420264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85;p28"/>
          <p:cNvGrpSpPr/>
          <p:nvPr/>
        </p:nvGrpSpPr>
        <p:grpSpPr>
          <a:xfrm>
            <a:off x="241560" y="-2410920"/>
            <a:ext cx="10240920" cy="7146000"/>
            <a:chOff x="241560" y="-2410920"/>
            <a:chExt cx="10240920" cy="7146000"/>
          </a:xfrm>
        </p:grpSpPr>
        <p:cxnSp>
          <p:nvCxnSpPr>
            <p:cNvPr id="73" name="Google Shape;186;p28"/>
            <p:cNvCxnSpPr/>
            <p:nvPr/>
          </p:nvCxnSpPr>
          <p:spPr>
            <a:xfrm flipV="1">
              <a:off x="241560" y="-2410920"/>
              <a:ext cx="1256040" cy="468684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sp>
          <p:nvSpPr>
            <p:cNvPr id="74" name="Google Shape;187;p28"/>
            <p:cNvSpPr/>
            <p:nvPr/>
          </p:nvSpPr>
          <p:spPr>
            <a:xfrm rot="2198400">
              <a:off x="8327880" y="314964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189;p29"/>
          <p:cNvGrpSpPr/>
          <p:nvPr/>
        </p:nvGrpSpPr>
        <p:grpSpPr>
          <a:xfrm>
            <a:off x="0" y="273960"/>
            <a:ext cx="9144000" cy="4595040"/>
            <a:chOff x="0" y="273960"/>
            <a:chExt cx="9144000" cy="4595040"/>
          </a:xfrm>
        </p:grpSpPr>
        <p:cxnSp>
          <p:nvCxnSpPr>
            <p:cNvPr id="76" name="Google Shape;190;p29"/>
            <p:cNvCxnSpPr/>
            <p:nvPr/>
          </p:nvCxnSpPr>
          <p:spPr>
            <a:xfrm>
              <a:off x="0" y="4869000"/>
              <a:ext cx="7486920" cy="360"/>
            </a:xfrm>
            <a:prstGeom prst="straightConnector1">
              <a:avLst/>
            </a:prstGeom>
            <a:ln w="9525">
              <a:solidFill>
                <a:srgbClr val="f0ebe1"/>
              </a:solidFill>
              <a:round/>
            </a:ln>
          </p:spPr>
        </p:cxnSp>
        <p:cxnSp>
          <p:nvCxnSpPr>
            <p:cNvPr id="77" name="Google Shape;191;p29"/>
            <p:cNvCxnSpPr/>
            <p:nvPr/>
          </p:nvCxnSpPr>
          <p:spPr>
            <a:xfrm>
              <a:off x="4550760" y="273960"/>
              <a:ext cx="4593600" cy="360"/>
            </a:xfrm>
            <a:prstGeom prst="straightConnector1">
              <a:avLst/>
            </a:prstGeom>
            <a:ln w="9525">
              <a:solidFill>
                <a:srgbClr val="f0ebe1"/>
              </a:solidFill>
              <a:round/>
            </a:ln>
          </p:spPr>
        </p:cxn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193;p30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79" name="Google Shape;194;p30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80" name="Google Shape;195;p30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20000" y="1112040"/>
            <a:ext cx="7703640" cy="34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oogle Shape;22;p4"/>
          <p:cNvGrpSpPr/>
          <p:nvPr/>
        </p:nvGrpSpPr>
        <p:grpSpPr>
          <a:xfrm>
            <a:off x="-289080" y="-1208160"/>
            <a:ext cx="9081720" cy="7677720"/>
            <a:chOff x="-289080" y="-1208160"/>
            <a:chExt cx="9081720" cy="7677720"/>
          </a:xfrm>
        </p:grpSpPr>
        <p:cxnSp>
          <p:nvCxnSpPr>
            <p:cNvPr id="84" name="Google Shape;23;p4"/>
            <p:cNvCxnSpPr/>
            <p:nvPr/>
          </p:nvCxnSpPr>
          <p:spPr>
            <a:xfrm flipV="1">
              <a:off x="87926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85" name="Google Shape;24;p4"/>
            <p:cNvCxnSpPr/>
            <p:nvPr/>
          </p:nvCxnSpPr>
          <p:spPr>
            <a:xfrm flipV="1">
              <a:off x="-289080" y="-1208160"/>
              <a:ext cx="1255680" cy="46872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31;p5"/>
          <p:cNvSpPr/>
          <p:nvPr/>
        </p:nvSpPr>
        <p:spPr>
          <a:xfrm rot="2198400">
            <a:off x="8276400" y="392760"/>
            <a:ext cx="2030400" cy="1086840"/>
          </a:xfrm>
          <a:prstGeom prst="ellipse">
            <a:avLst/>
          </a:prstGeom>
          <a:noFill/>
          <a:ln w="9525">
            <a:solidFill>
              <a:srgbClr val="294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oogle Shape;34;p6"/>
          <p:cNvGrpSpPr/>
          <p:nvPr/>
        </p:nvGrpSpPr>
        <p:grpSpPr>
          <a:xfrm>
            <a:off x="-289080" y="-1208160"/>
            <a:ext cx="9081720" cy="7677720"/>
            <a:chOff x="-289080" y="-1208160"/>
            <a:chExt cx="9081720" cy="7677720"/>
          </a:xfrm>
        </p:grpSpPr>
        <p:cxnSp>
          <p:nvCxnSpPr>
            <p:cNvPr id="90" name="Google Shape;35;p6"/>
            <p:cNvCxnSpPr/>
            <p:nvPr/>
          </p:nvCxnSpPr>
          <p:spPr>
            <a:xfrm flipV="1">
              <a:off x="87926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91" name="Google Shape;36;p6"/>
            <p:cNvCxnSpPr/>
            <p:nvPr/>
          </p:nvCxnSpPr>
          <p:spPr>
            <a:xfrm flipV="1">
              <a:off x="-289080" y="-1208160"/>
              <a:ext cx="1255680" cy="46872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849920" y="1919160"/>
            <a:ext cx="34099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Google Shape;40;p7"/>
          <p:cNvGrpSpPr/>
          <p:nvPr/>
        </p:nvGrpSpPr>
        <p:grpSpPr>
          <a:xfrm>
            <a:off x="-289080" y="-1208160"/>
            <a:ext cx="9081720" cy="7677720"/>
            <a:chOff x="-289080" y="-1208160"/>
            <a:chExt cx="9081720" cy="7677720"/>
          </a:xfrm>
        </p:grpSpPr>
        <p:cxnSp>
          <p:nvCxnSpPr>
            <p:cNvPr id="95" name="Google Shape;41;p7"/>
            <p:cNvCxnSpPr/>
            <p:nvPr/>
          </p:nvCxnSpPr>
          <p:spPr>
            <a:xfrm flipV="1">
              <a:off x="87926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96" name="Google Shape;42;p7"/>
            <p:cNvCxnSpPr/>
            <p:nvPr/>
          </p:nvCxnSpPr>
          <p:spPr>
            <a:xfrm flipV="1">
              <a:off x="-289080" y="-1208160"/>
              <a:ext cx="1255680" cy="46872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44;p8"/>
          <p:cNvCxnSpPr/>
          <p:nvPr/>
        </p:nvCxnSpPr>
        <p:spPr>
          <a:xfrm flipV="1">
            <a:off x="7967520" y="-228960"/>
            <a:ext cx="1463400" cy="54608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0" y="541800"/>
            <a:ext cx="2317680" cy="40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825960" y="541800"/>
            <a:ext cx="2317680" cy="40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body"/>
          </p:nvPr>
        </p:nvSpPr>
        <p:spPr>
          <a:xfrm>
            <a:off x="720000" y="1452600"/>
            <a:ext cx="4332960" cy="31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720000" y="640080"/>
            <a:ext cx="4332960" cy="66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Google Shape;51;p9"/>
          <p:cNvCxnSpPr/>
          <p:nvPr/>
        </p:nvCxnSpPr>
        <p:spPr>
          <a:xfrm flipH="1">
            <a:off x="5344200" y="259920"/>
            <a:ext cx="380016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104" name="Google Shape;52;p9"/>
          <p:cNvCxnSpPr/>
          <p:nvPr/>
        </p:nvCxnSpPr>
        <p:spPr>
          <a:xfrm flipV="1">
            <a:off x="-475200" y="-1540080"/>
            <a:ext cx="1256040" cy="46868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105" name="Google Shape;53;p9"/>
          <p:cNvCxnSpPr/>
          <p:nvPr/>
        </p:nvCxnSpPr>
        <p:spPr>
          <a:xfrm flipV="1">
            <a:off x="7965360" y="2616480"/>
            <a:ext cx="1256040" cy="46875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713160" y="539280"/>
            <a:ext cx="4183560" cy="535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2"/>
    <p:sldLayoutId id="214748368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14240" y="2076480"/>
            <a:ext cx="3904920" cy="18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00" strike="noStrike" u="non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Team Formation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ubTitle"/>
          </p:nvPr>
        </p:nvSpPr>
        <p:spPr>
          <a:xfrm>
            <a:off x="714240" y="4124160"/>
            <a:ext cx="362880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Tuckmans four-stage model to guide team development and leadership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11" name="Google Shape;208;p34" descr=""/>
          <p:cNvPicPr/>
          <p:nvPr/>
        </p:nvPicPr>
        <p:blipFill>
          <a:blip r:embed="rId1"/>
          <a:srcRect l="25819" t="14288" r="28588" b="10471"/>
          <a:stretch/>
        </p:blipFill>
        <p:spPr>
          <a:xfrm>
            <a:off x="5438880" y="539280"/>
            <a:ext cx="3705120" cy="4075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2" name="Google Shape;209;p34"/>
          <p:cNvCxnSpPr/>
          <p:nvPr/>
        </p:nvCxnSpPr>
        <p:spPr>
          <a:xfrm>
            <a:off x="789120" y="4055040"/>
            <a:ext cx="338940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113" name="Google Shape;210;p34"/>
          <p:cNvCxnSpPr/>
          <p:nvPr/>
        </p:nvCxnSpPr>
        <p:spPr>
          <a:xfrm flipH="1">
            <a:off x="4618800" y="539280"/>
            <a:ext cx="619560" cy="40766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723960" y="1457280"/>
            <a:ext cx="4333680" cy="31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The \u{200B}*Tuckman Model*\u{200B} outlines predictable phases teams pass through as they form, confront conflict, establish norms, and achieve performance.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This presentation explains the model, leader roles, a diagrammatic view, and practical applications for accelerating team effectiveness.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723960" y="638280"/>
            <a:ext cx="4333680" cy="66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Google Shape;254;p38"/>
          <p:cNvCxnSpPr/>
          <p:nvPr/>
        </p:nvCxnSpPr>
        <p:spPr>
          <a:xfrm flipV="1">
            <a:off x="5371560" y="-197280"/>
            <a:ext cx="360" cy="480168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pic>
        <p:nvPicPr>
          <p:cNvPr id="117" name="Google Shape;255;p38" descr=""/>
          <p:cNvPicPr/>
          <p:nvPr/>
        </p:nvPicPr>
        <p:blipFill>
          <a:blip r:embed="rId1"/>
          <a:srcRect l="228" t="0" r="219" b="0"/>
          <a:stretch/>
        </p:blipFill>
        <p:spPr>
          <a:xfrm>
            <a:off x="5707080" y="539280"/>
            <a:ext cx="3436560" cy="406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Introduction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0" name="image69c29d5d2cfdd" descr="image69c29d5d2cfe2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What &amp; Purpose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The model defines four stages—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Forming, Storming, Norming, Performing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—to describe team evolution.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Purpose: provide a simple diagnostic framework for leaders to anticipate dynamics and apply targeted interventions.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3" name="image69c29d5d3f8ec" descr="image69c29d5d3f8f1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Scope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Applicable to new and reorganized teams across industries and project types.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Use as a high-level guide; combine with context-specific practices for best results.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/>
          </p:nvPr>
        </p:nvSpPr>
        <p:spPr>
          <a:xfrm>
            <a:off x="723960" y="2143080"/>
            <a:ext cx="7457760" cy="22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Leaders diagnose the current stage and apply stage-appropriate actions: clarify goals in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Forming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, facilitate conflict in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Storming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, reinforce norms in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Norming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, and delegate in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Performing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Effective leadership accelerates progression and reduces disruption.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723960" y="771480"/>
            <a:ext cx="745776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Role of Leader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Model 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0" name="image69c29d5d52c1d" descr="image69c29d5d52c23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Definition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The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Tuckman Model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 captures team development in four sequential stages, highlighting shifts in behavior, cohesion, and productivity.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It functions as a pragmatic tool for planning team interventions and setting expectations.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723960" y="2143080"/>
            <a:ext cx="7457760" cy="22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Visualize as four connected nodes: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Forming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→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Storming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→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Norming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→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Performing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Use color-coding and short annotations for behaviors and recommended leader actions; arrows indicate possible regressions and iterations.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723960" y="771480"/>
            <a:ext cx="745776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Diagram Concept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355;p45"/>
          <p:cNvCxnSpPr/>
          <p:nvPr/>
        </p:nvCxnSpPr>
        <p:spPr>
          <a:xfrm flipH="1">
            <a:off x="3746160" y="539280"/>
            <a:ext cx="619560" cy="4076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0" y="2171880"/>
            <a:ext cx="3847680" cy="119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Key Concepts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4572000" y="3676680"/>
            <a:ext cx="384768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The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Tuckman Model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 describes team evolution across four stages: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Forming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Storming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Norming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Performing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Use it as a diagnostic framework to identify behaviors, anticipate challenges, and select targeted leadership actions.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38" name="Google Shape;358;p45" descr=""/>
          <p:cNvPicPr/>
          <p:nvPr/>
        </p:nvPicPr>
        <p:blipFill>
          <a:blip r:embed="rId1"/>
          <a:srcRect l="0" t="209" r="0" b="209"/>
          <a:stretch/>
        </p:blipFill>
        <p:spPr>
          <a:xfrm>
            <a:off x="0" y="0"/>
            <a:ext cx="413172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9" name="Google Shape;359;p45"/>
          <p:cNvCxnSpPr/>
          <p:nvPr/>
        </p:nvCxnSpPr>
        <p:spPr>
          <a:xfrm>
            <a:off x="4647960" y="3471480"/>
            <a:ext cx="3705840" cy="36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242;p37"/>
          <p:cNvCxnSpPr/>
          <p:nvPr/>
        </p:nvCxnSpPr>
        <p:spPr>
          <a:xfrm flipV="1">
            <a:off x="3396240" y="-228960"/>
            <a:ext cx="1463400" cy="54608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619520" y="2448000"/>
            <a:ext cx="380952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Stages Details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title"/>
          </p:nvPr>
        </p:nvSpPr>
        <p:spPr>
          <a:xfrm>
            <a:off x="4619520" y="-1125360"/>
            <a:ext cx="1371240" cy="566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bin"/>
                <a:ea typeface="EB Garamond"/>
              </a:rPr>
              <a:t>03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ubTitle"/>
          </p:nvPr>
        </p:nvSpPr>
        <p:spPr>
          <a:xfrm>
            <a:off x="4619520" y="3571920"/>
            <a:ext cx="3809520" cy="4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buNone/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bin"/>
              <a:ea typeface="Cabin"/>
            </a:endParaRPr>
          </a:p>
        </p:txBody>
      </p:sp>
      <p:pic>
        <p:nvPicPr>
          <p:cNvPr id="144" name="Google Shape;246;p37" descr=""/>
          <p:cNvPicPr/>
          <p:nvPr/>
        </p:nvPicPr>
        <p:blipFill>
          <a:blip r:embed="rId1"/>
          <a:srcRect l="0" t="25477" r="0" b="3278"/>
          <a:stretch/>
        </p:blipFill>
        <p:spPr>
          <a:xfrm>
            <a:off x="0" y="539280"/>
            <a:ext cx="3807000" cy="4064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5" name="Google Shape;247;p37"/>
          <p:cNvCxnSpPr/>
          <p:nvPr/>
        </p:nvCxnSpPr>
        <p:spPr>
          <a:xfrm>
            <a:off x="4722840" y="3430080"/>
            <a:ext cx="3672360" cy="36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Forming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Team members orient, learn roles, and seek clear goals.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Leaders should provide structure, set expectations, and establish initial communication norms to reduce uncertainty.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/>
          </p:nvPr>
        </p:nvSpPr>
        <p:spPr>
          <a:xfrm>
            <a:off x="723960" y="2143080"/>
            <a:ext cx="7457760" cy="22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Conflicts and competing priorities emerge; roles and authority may be contested.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Facilitate open dialogue, mediate disputes, and reinforce shared objectives to move toward stability.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title"/>
          </p:nvPr>
        </p:nvSpPr>
        <p:spPr>
          <a:xfrm>
            <a:off x="723960" y="771480"/>
            <a:ext cx="745776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Storming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Norming &amp; Performing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Norming: Agreements, trust, and processes solidify. Performing: team operates autonomously and delivers results.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Shift leadership from directive to coaching and delegation to sustain high performance.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2" name="image69c29d5d6df6b" descr="image69c29d5d6df6f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04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Practical Application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5" name="image69c29d5d810c2" descr="image69c29d5d810c6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Real-Life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A cross-functional product team forms, debates priorities (Storming), agrees on workflows (Norming), and executes a successful launch (Performing).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Targeted interventions—clear goals, facilitated conflict resolution, and role clarification—accelerated progress.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723960" y="2143080"/>
            <a:ext cx="7457760" cy="22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The model enables quicker diagnosis of team health and more predictable interventions.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Applying stage-appropriate leadership reduces disruption and improves time-to-performance.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title"/>
          </p:nvPr>
        </p:nvSpPr>
        <p:spPr>
          <a:xfrm>
            <a:off x="723960" y="771480"/>
            <a:ext cx="745776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Importance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EB Garamond"/>
              </a:rPr>
              <a:t>Advantages &amp; Limitations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1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Advantages: simple, memorable, and actionable for leaders.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Provides a common language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 for team development.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Limitations: may oversimplify nonlinear progress and omit cultural/contextual nuances; supplement with situational judgement.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2" name="image69c29d5d94906" descr="image69c29d5d94909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355;p45"/>
          <p:cNvCxnSpPr/>
          <p:nvPr/>
        </p:nvCxnSpPr>
        <p:spPr>
          <a:xfrm flipH="1">
            <a:off x="3746160" y="539280"/>
            <a:ext cx="619560" cy="4076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0" y="2171880"/>
            <a:ext cx="3847680" cy="119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Conclusions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4572000" y="3676680"/>
            <a:ext cx="384768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The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Tuckman Model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 is a practical tool to understand team dynamics and guide leadership actions.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Use it as a starting point—combine with context-specific strategies to manage conflict, clarify roles, and sustain performance.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66" name="Google Shape;358;p45" descr=""/>
          <p:cNvPicPr/>
          <p:nvPr/>
        </p:nvPicPr>
        <p:blipFill>
          <a:blip r:embed="rId1"/>
          <a:srcRect l="0" t="209" r="0" b="209"/>
          <a:stretch/>
        </p:blipFill>
        <p:spPr>
          <a:xfrm>
            <a:off x="0" y="0"/>
            <a:ext cx="413172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7" name="Google Shape;359;p45"/>
          <p:cNvCxnSpPr/>
          <p:nvPr/>
        </p:nvCxnSpPr>
        <p:spPr>
          <a:xfrm>
            <a:off x="4647960" y="3471480"/>
            <a:ext cx="3705840" cy="36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774;p63"/>
          <p:cNvSpPr/>
          <p:nvPr/>
        </p:nvSpPr>
        <p:spPr>
          <a:xfrm rot="2220000">
            <a:off x="3400200" y="2809800"/>
            <a:ext cx="8856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37960" bIns="23796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775;p63"/>
          <p:cNvSpPr/>
          <p:nvPr/>
        </p:nvSpPr>
        <p:spPr>
          <a:xfrm rot="2220000">
            <a:off x="4133880" y="2809800"/>
            <a:ext cx="8856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37960" bIns="23796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776;p63"/>
          <p:cNvSpPr/>
          <p:nvPr/>
        </p:nvSpPr>
        <p:spPr>
          <a:xfrm rot="2220000">
            <a:off x="4857840" y="2809800"/>
            <a:ext cx="8856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37960" bIns="23796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514600" y="-288720"/>
            <a:ext cx="411444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trike="noStrike" u="non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Thanks!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2514600" y="1257480"/>
            <a:ext cx="4114440" cy="133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youremail@freepik.com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+91  620 421 838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yourcompany.com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779;p63"/>
          <p:cNvSpPr/>
          <p:nvPr/>
        </p:nvSpPr>
        <p:spPr>
          <a:xfrm>
            <a:off x="3076560" y="4172040"/>
            <a:ext cx="2999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893320" bIns="-2893320" anchor="t">
            <a:spAutoFit/>
          </a:bodyPr>
          <a:p>
            <a:pPr algn="ctr"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780;p63"/>
          <p:cNvSpPr/>
          <p:nvPr/>
        </p:nvSpPr>
        <p:spPr>
          <a:xfrm>
            <a:off x="3666600" y="2871720"/>
            <a:ext cx="345240" cy="345600"/>
          </a:xfrm>
          <a:custGeom>
            <a:avLst/>
            <a:gdLst>
              <a:gd name="textAreaLeft" fmla="*/ 0 w 345240"/>
              <a:gd name="textAreaRight" fmla="*/ 345600 w 3452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5" name="Google Shape;781;p63"/>
          <p:cNvGrpSpPr/>
          <p:nvPr/>
        </p:nvGrpSpPr>
        <p:grpSpPr>
          <a:xfrm>
            <a:off x="4398840" y="2871720"/>
            <a:ext cx="345600" cy="345240"/>
            <a:chOff x="4398840" y="2871720"/>
            <a:chExt cx="345600" cy="345240"/>
          </a:xfrm>
        </p:grpSpPr>
        <p:sp>
          <p:nvSpPr>
            <p:cNvPr id="176" name="Google Shape;782;p63"/>
            <p:cNvSpPr/>
            <p:nvPr/>
          </p:nvSpPr>
          <p:spPr>
            <a:xfrm>
              <a:off x="4398840" y="28717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783;p63"/>
            <p:cNvSpPr/>
            <p:nvPr/>
          </p:nvSpPr>
          <p:spPr>
            <a:xfrm>
              <a:off x="4463640" y="293688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784;p63"/>
            <p:cNvSpPr/>
            <p:nvPr/>
          </p:nvSpPr>
          <p:spPr>
            <a:xfrm>
              <a:off x="4513680" y="298800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785;p63"/>
            <p:cNvSpPr/>
            <p:nvPr/>
          </p:nvSpPr>
          <p:spPr>
            <a:xfrm>
              <a:off x="4614840" y="296460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0" name="Google Shape;786;p63"/>
          <p:cNvGrpSpPr/>
          <p:nvPr/>
        </p:nvGrpSpPr>
        <p:grpSpPr>
          <a:xfrm>
            <a:off x="5137200" y="2871720"/>
            <a:ext cx="345600" cy="345240"/>
            <a:chOff x="5137200" y="2871720"/>
            <a:chExt cx="345600" cy="345240"/>
          </a:xfrm>
        </p:grpSpPr>
        <p:sp>
          <p:nvSpPr>
            <p:cNvPr id="181" name="Google Shape;787;p63"/>
            <p:cNvSpPr/>
            <p:nvPr/>
          </p:nvSpPr>
          <p:spPr>
            <a:xfrm>
              <a:off x="5137200" y="28717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788;p63"/>
            <p:cNvSpPr/>
            <p:nvPr/>
          </p:nvSpPr>
          <p:spPr>
            <a:xfrm>
              <a:off x="5216760" y="301032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789;p63"/>
            <p:cNvSpPr/>
            <p:nvPr/>
          </p:nvSpPr>
          <p:spPr>
            <a:xfrm>
              <a:off x="5209560" y="29444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790;p63"/>
            <p:cNvSpPr/>
            <p:nvPr/>
          </p:nvSpPr>
          <p:spPr>
            <a:xfrm>
              <a:off x="5289480" y="301032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85" name="Google Shape;791;p63"/>
          <p:cNvCxnSpPr/>
          <p:nvPr/>
        </p:nvCxnSpPr>
        <p:spPr>
          <a:xfrm flipH="1">
            <a:off x="-185400" y="-574200"/>
            <a:ext cx="726120" cy="486828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cxnSp>
        <p:nvCxnSpPr>
          <p:cNvPr id="186" name="Google Shape;792;p63"/>
          <p:cNvCxnSpPr/>
          <p:nvPr/>
        </p:nvCxnSpPr>
        <p:spPr>
          <a:xfrm flipH="1">
            <a:off x="8433360" y="275040"/>
            <a:ext cx="726480" cy="4868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mmunication and Announce Layoffs Workshop by Slidesgo">
  <a:themeElements>
    <a:clrScheme name="Simple Light">
      <a:dk1>
        <a:srgbClr val="232121"/>
      </a:dk1>
      <a:lt1>
        <a:srgbClr val="f0ebe1"/>
      </a:lt1>
      <a:dk2>
        <a:srgbClr val="919996"/>
      </a:dk2>
      <a:lt2>
        <a:srgbClr val="294e4e"/>
      </a:lt2>
      <a:accent1>
        <a:srgbClr val="578c8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0ebe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2026-03-24T14:18:55Z</dcterms:created>
  <dc:creator>Unknown Creator</dc:creator>
  <dc:description/>
  <dc:language>en-US</dc:language>
  <cp:lastModifiedBy>Unknown Creator</cp:lastModifiedBy>
  <dcterms:modified xsi:type="dcterms:W3CDTF">2026-03-24T14:18:55Z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